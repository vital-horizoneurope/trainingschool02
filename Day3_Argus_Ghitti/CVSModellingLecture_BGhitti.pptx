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321" r:id="rId5"/>
    <p:sldId id="320" r:id="rId6"/>
    <p:sldId id="325" r:id="rId7"/>
    <p:sldId id="416" r:id="rId8"/>
    <p:sldId id="411" r:id="rId9"/>
    <p:sldId id="417" r:id="rId10"/>
    <p:sldId id="419" r:id="rId11"/>
    <p:sldId id="432" r:id="rId12"/>
    <p:sldId id="421" r:id="rId13"/>
    <p:sldId id="424" r:id="rId14"/>
    <p:sldId id="431" r:id="rId15"/>
    <p:sldId id="330" r:id="rId16"/>
    <p:sldId id="423" r:id="rId17"/>
    <p:sldId id="425" r:id="rId18"/>
    <p:sldId id="347" r:id="rId19"/>
    <p:sldId id="426" r:id="rId20"/>
    <p:sldId id="377" r:id="rId21"/>
    <p:sldId id="379" r:id="rId22"/>
    <p:sldId id="391" r:id="rId23"/>
    <p:sldId id="407" r:id="rId24"/>
    <p:sldId id="396" r:id="rId25"/>
    <p:sldId id="397" r:id="rId26"/>
    <p:sldId id="401" r:id="rId27"/>
    <p:sldId id="402" r:id="rId28"/>
    <p:sldId id="400" r:id="rId29"/>
    <p:sldId id="367" r:id="rId30"/>
    <p:sldId id="428" r:id="rId31"/>
    <p:sldId id="429" r:id="rId32"/>
    <p:sldId id="427" r:id="rId33"/>
    <p:sldId id="404" r:id="rId34"/>
    <p:sldId id="390" r:id="rId35"/>
    <p:sldId id="406" r:id="rId36"/>
    <p:sldId id="405" r:id="rId37"/>
    <p:sldId id="329" r:id="rId38"/>
    <p:sldId id="408" r:id="rId39"/>
    <p:sldId id="262" r:id="rId40"/>
    <p:sldId id="413" r:id="rId41"/>
    <p:sldId id="327" r:id="rId42"/>
    <p:sldId id="414" r:id="rId43"/>
    <p:sldId id="326" r:id="rId44"/>
    <p:sldId id="415" r:id="rId45"/>
    <p:sldId id="422" r:id="rId46"/>
    <p:sldId id="328" r:id="rId47"/>
    <p:sldId id="409" r:id="rId48"/>
    <p:sldId id="256" r:id="rId49"/>
    <p:sldId id="350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D6D6"/>
    <a:srgbClr val="FFFF00"/>
    <a:srgbClr val="FF40FF"/>
    <a:srgbClr val="ED7D31"/>
    <a:srgbClr val="FFD966"/>
    <a:srgbClr val="A9D18E"/>
    <a:srgbClr val="7A81FF"/>
    <a:srgbClr val="82D6FF"/>
    <a:srgbClr val="76D6FF"/>
    <a:srgbClr val="00D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614"/>
    <p:restoredTop sz="94244"/>
  </p:normalViewPr>
  <p:slideViewPr>
    <p:cSldViewPr snapToGrid="0">
      <p:cViewPr varScale="1">
        <p:scale>
          <a:sx n="108" d="100"/>
          <a:sy n="108" d="100"/>
        </p:scale>
        <p:origin x="224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433EA2D-91B2-43D5-2E02-CC36E5AB58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0B6B2-058A-DB31-FA49-C0E3804B2C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329B35-CA2B-7444-B7E1-4A69B008513F}" type="datetimeFigureOut">
              <a:rPr lang="en-IT" smtClean="0"/>
              <a:t>02/03/26</a:t>
            </a:fld>
            <a:endParaRPr lang="en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3A2C73-9990-1B4A-CED3-237F45A947C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18081-D8E4-FC72-D071-E1325A92A5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7D1241-F948-A14C-8E41-49A540BED3F3}" type="slidenum">
              <a:rPr lang="en-IT" smtClean="0"/>
              <a:t>‹#›</a:t>
            </a:fld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63504729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B64293-C644-4965-B14A-561F41A1D90E}" type="datetimeFigureOut">
              <a:rPr lang="nl-BE" smtClean="0"/>
              <a:t>2/03/2026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5EB27E-DEA3-4CF9-9E54-4587F6DA5B6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041878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EC56C16B-F210-F1E1-9F73-2CFFA4749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D36CA0B6-E32A-BB4B-D611-B054E06D102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AF407BDF-43B0-AB7E-2966-5CAE9ADC26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A29BF6C9-EF20-33F4-12DF-D252F5B275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T" dirty="0">
                <a:solidFill>
                  <a:srgbClr val="FF0000"/>
                </a:solidFill>
              </a:rPr>
              <a:t>Navier-Stokes eqs: balance of momentum = inertial forces + pressure forces + viscous forces</a:t>
            </a:r>
          </a:p>
          <a:p>
            <a:r>
              <a:rPr lang="en-IT" dirty="0">
                <a:solidFill>
                  <a:srgbClr val="FF0000"/>
                </a:solidFill>
              </a:rPr>
              <a:t>Conservation of mass / continuity eq (</a:t>
            </a:r>
            <a:r>
              <a:rPr lang="en-IT" dirty="0">
                <a:solidFill>
                  <a:srgbClr val="FF0000"/>
                </a:solidFill>
                <a:sym typeface="Wingdings" pitchFamily="2" charset="2"/>
              </a:rPr>
              <a:t>under incompressibility assumption)</a:t>
            </a:r>
            <a:endParaRPr lang="en-NZ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629789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517F2C72-7BF2-FE53-2806-CBB24FA2E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4E86B427-7F6E-18D1-E71B-654FDA5176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2B91A333-C0BE-CBF8-9E65-C63C6913DA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C4BD54C0-2342-883E-A035-2223D1953A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T" dirty="0">
                <a:solidFill>
                  <a:srgbClr val="FF0000"/>
                </a:solidFill>
              </a:rPr>
              <a:t>Navier-Stokes eqs: balance of momentum = inertial forces + pressure forces + viscous forces</a:t>
            </a:r>
          </a:p>
          <a:p>
            <a:r>
              <a:rPr lang="en-IT" dirty="0">
                <a:solidFill>
                  <a:srgbClr val="FF0000"/>
                </a:solidFill>
              </a:rPr>
              <a:t>Conservation of mass / continuity eq (</a:t>
            </a:r>
            <a:r>
              <a:rPr lang="en-IT" dirty="0">
                <a:solidFill>
                  <a:srgbClr val="FF0000"/>
                </a:solidFill>
                <a:sym typeface="Wingdings" pitchFamily="2" charset="2"/>
              </a:rPr>
              <a:t>under incompressibility assumption)</a:t>
            </a:r>
            <a:endParaRPr lang="en-NZ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16005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3280ABE-E8B8-7B7C-5B83-6B67E7508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34979501-2949-4433-4590-D0F95E6B21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EF2AEABC-2B18-832B-D4A4-62CF8F3EB9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19F2FC5A-677F-ABEC-2905-68122CE733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40426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EFB615EF-9850-26FC-2938-E53DB4ED4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4B2E3455-5FFC-B6E2-FBFD-E8F97A9742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1E08589B-A2C9-092A-FFAD-45893976E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42AE620D-7081-CDF4-3E7D-F7436B8B00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T" dirty="0">
                <a:solidFill>
                  <a:srgbClr val="FF0000"/>
                </a:solidFill>
              </a:rPr>
              <a:t>Balance of momentum eq = </a:t>
            </a:r>
            <a:r>
              <a:rPr lang="en-GB" dirty="0">
                <a:solidFill>
                  <a:schemeClr val="accent6"/>
                </a:solidFill>
              </a:rPr>
              <a:t>convective</a:t>
            </a:r>
            <a:r>
              <a:rPr lang="en-IT" dirty="0">
                <a:solidFill>
                  <a:schemeClr val="accent6"/>
                </a:solidFill>
              </a:rPr>
              <a:t> term</a:t>
            </a:r>
            <a:r>
              <a:rPr lang="en-NZ" dirty="0">
                <a:solidFill>
                  <a:schemeClr val="accent6"/>
                </a:solidFill>
                <a:cs typeface="Calibri" panose="020F0502020204030204"/>
              </a:rPr>
              <a:t> + </a:t>
            </a:r>
            <a:r>
              <a:rPr lang="en-GB" dirty="0">
                <a:solidFill>
                  <a:schemeClr val="accent5"/>
                </a:solidFill>
              </a:rPr>
              <a:t>p</a:t>
            </a:r>
            <a:r>
              <a:rPr lang="en-IT" dirty="0">
                <a:solidFill>
                  <a:schemeClr val="accent5"/>
                </a:solidFill>
              </a:rPr>
              <a:t>ressure gradient + </a:t>
            </a:r>
            <a:r>
              <a:rPr lang="en-US" dirty="0">
                <a:solidFill>
                  <a:srgbClr val="7030A0"/>
                </a:solidFill>
              </a:rPr>
              <a:t>friction force per unit length</a:t>
            </a:r>
            <a:endParaRPr lang="en-IT" dirty="0">
              <a:solidFill>
                <a:srgbClr val="7030A0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T" dirty="0">
                <a:solidFill>
                  <a:schemeClr val="accent5"/>
                </a:solidFill>
              </a:rPr>
              <a:t>Mass conservation eq / continuity eq</a:t>
            </a:r>
          </a:p>
        </p:txBody>
      </p:sp>
    </p:spTree>
    <p:extLst>
      <p:ext uri="{BB962C8B-B14F-4D97-AF65-F5344CB8AC3E}">
        <p14:creationId xmlns:p14="http://schemas.microsoft.com/office/powerpoint/2010/main" val="1260481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E04E3ED8-EEF4-CBAC-C363-C56E9479D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6359EBE7-D703-B972-309A-552304E9EB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E3BF5409-3337-B1A5-B5FB-F358E59E0B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0FA27E7A-9DF1-5E19-23CD-A040E97083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86773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C54C6879-EF84-FFF9-D984-C37D68CA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F7B2BC9D-1012-0B2B-4ED5-76E8F15386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6B4AD990-F397-941D-0C20-7B12A27265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58ED723B-ED9C-C06D-AA34-FB03383A79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92524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E61DDFE-DA69-63C1-2398-A2929B76B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A5E1382B-B140-A73C-68ED-58C4F00036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DD1D285B-D4CD-2798-A953-310BDC529C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7B689148-4457-CE24-4714-0FDE37FF6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86414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E7B61B41-8618-7880-5F18-22190ED5C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37A7C595-7500-DB82-B4F5-0CFBEBAAEF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491E145B-B2D3-D852-903A-3B7014ACC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5C90E721-973C-9924-BB31-B1EFCA31E2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6239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0643CDFE-AD6B-8344-9BDB-C0EE558A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3140D15B-5DF1-7479-50A0-254CBF542F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287B8765-A73A-C869-FE5F-2F8CAE58CF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371F207E-893A-55DF-9DA1-8F9C190405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080765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8F98627E-FF08-73D3-D7F4-FA0A9392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48527337-F285-69F3-C7A3-37F372828C6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DA61D2E2-8D74-10C4-406C-6EA4026385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218C322A-9425-9C17-4EF2-DFFF28684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48636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B9C70745-9257-03A8-027F-1F061B3DD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1D7A7557-E591-E6F0-03AF-2FB30A655E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99E118CF-D731-95F1-A424-7FA68250E5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A7BDD2EA-1AA7-F16F-5EE6-7B8AC8EA5E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29048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237D5C4-1654-0E36-071D-E22189D7A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0A76699F-7B50-F721-9FC4-A9DDBD73B9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5BCC503F-0BA4-1734-6A0C-F7815F6F7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0D72E558-D253-051B-8703-7E777089A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8638355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DEB142A0-2438-62A2-EE2B-D90C1B787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757F8181-C937-1FF7-0854-B36DB1882FC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A6E3E1EC-E9B6-55D0-236F-D0523DE146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1A0EFAE3-4B44-C13E-41A5-9E3D381861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353554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9816350-C381-665B-A502-7809112BA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E5D2E897-E0D7-E93D-7A57-6EBB4F7EF7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29D864E8-2C30-BA44-3902-117E591E24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A7AE2298-74EA-0F7F-8C99-7D421DC48D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42887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749126E8-CFA3-F580-1300-01D00F032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8210FDBC-DCDA-6266-44A1-AE06DA0D071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C6A8E798-CD10-E9A6-EBB3-170D3A03FB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A9E8BBA0-0BA0-AE6B-EBD4-8F695C927E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0299892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AD08EBAB-A31E-D174-9793-EF28DDB77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65F14979-56C5-940C-3C1A-D1D1C9F3FE2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07C92B7A-C538-2163-846A-D8FE48591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9E1AC9C6-05E9-D7BE-0CD5-028B9B15E0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369064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Control mechanisms to maintain BP, flow and tissue perfusion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EB27E-DEA3-4CF9-9E54-4587F6DA5B69}" type="slidenum">
              <a:rPr lang="nl-BE" smtClean="0"/>
              <a:t>32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1296897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Z" dirty="0"/>
              <a:t>*To a reasonable level of precision. Notice that highly noisy measurements will define a family of plausible parameters for the model, such that all predictions are within the bounds of the noise around the ground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EB27E-DEA3-4CF9-9E54-4587F6DA5B69}" type="slidenum">
              <a:rPr lang="nl-BE" smtClean="0"/>
              <a:t>40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4798050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3D69F-C0B9-8F05-59A9-B09ECF075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2E7D12-3870-882A-D1A0-59EEFB7C5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0BD921F-5041-DCB5-8A7F-5411FB7957D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NZ" dirty="0"/>
                  <a:t>*To a reasonable level of precision. Notice that highly noisy measurements will define a family of plausible </a:t>
                </a:r>
                <a:r>
                  <a:rPr lang="en-NZ" dirty="0" err="1"/>
                  <a:t>parmeters</a:t>
                </a:r>
                <a:r>
                  <a:rPr lang="en-NZ" dirty="0"/>
                  <a:t> for the model, such that all predictions are within the bounds of the noise around the ground truth.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NZ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NZ" sz="1200" b="1" dirty="0"/>
                  <a:t>Practical identifiability</a:t>
                </a:r>
                <a:r>
                  <a:rPr lang="en-NZ" sz="1200" dirty="0"/>
                  <a:t>: analysis of the impact of the </a:t>
                </a:r>
                <a:r>
                  <a:rPr lang="en-NZ" sz="1200" b="1" dirty="0"/>
                  <a:t>practical constraints related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1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r>
                  <a:rPr lang="en-NZ" sz="1200" dirty="0"/>
                  <a:t> (noise/uncertainty) and their impact on the uncertainty of the estimated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NZ" sz="1200" dirty="0"/>
                  <a:t> – the effect of the noise (uncertainty) in the measurements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1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r>
                  <a:rPr lang="en-NZ" sz="1200" dirty="0"/>
                  <a:t> for the estimates of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NZ" sz="1200" dirty="0"/>
                  <a:t>.</a:t>
                </a:r>
                <a:endParaRPr lang="en-NZ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NZ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50BD921F-5041-DCB5-8A7F-5411FB7957D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NZ" dirty="0"/>
                  <a:t>*To a reasonable level of precision. Notice that highly noisy measurements will define a family of plausible </a:t>
                </a:r>
                <a:r>
                  <a:rPr lang="en-NZ" dirty="0" err="1"/>
                  <a:t>parmeters</a:t>
                </a:r>
                <a:r>
                  <a:rPr lang="en-NZ" dirty="0"/>
                  <a:t> for the model, such that all predictions are within the bounds of the noise around the ground truth.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NZ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NZ" sz="1200" b="1" dirty="0"/>
                  <a:t>Practical identifiability</a:t>
                </a:r>
                <a:r>
                  <a:rPr lang="en-NZ" sz="1200" dirty="0"/>
                  <a:t>: analysis of the impact of the </a:t>
                </a:r>
                <a:r>
                  <a:rPr lang="en-NZ" sz="1200" b="1" dirty="0"/>
                  <a:t>practical constraints related to </a:t>
                </a:r>
                <a:r>
                  <a:rPr lang="en-US" sz="1200" b="1" i="0">
                    <a:latin typeface="Cambria Math" panose="02040503050406030204" pitchFamily="18" charset="0"/>
                  </a:rPr>
                  <a:t>𝐳</a:t>
                </a:r>
                <a:r>
                  <a:rPr lang="en-GB" sz="1200" b="1" i="0">
                    <a:latin typeface="Cambria Math" panose="02040503050406030204" pitchFamily="18" charset="0"/>
                  </a:rPr>
                  <a:t> ̂</a:t>
                </a:r>
                <a:r>
                  <a:rPr lang="en-NZ" sz="1200" dirty="0"/>
                  <a:t> (noise/uncertainty) and their impact on the uncertainty of the estimated </a:t>
                </a:r>
                <a:r>
                  <a:rPr lang="en-GB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𝜽</a:t>
                </a:r>
                <a:r>
                  <a:rPr lang="en-NZ" sz="1200" dirty="0"/>
                  <a:t> – the effect of the noise (uncertainty) in the measurements </a:t>
                </a:r>
                <a:r>
                  <a:rPr lang="en-US" sz="1200" b="1" i="0">
                    <a:latin typeface="Cambria Math" panose="02040503050406030204" pitchFamily="18" charset="0"/>
                  </a:rPr>
                  <a:t>𝐳</a:t>
                </a:r>
                <a:r>
                  <a:rPr lang="en-GB" sz="1200" b="1" i="0">
                    <a:latin typeface="Cambria Math" panose="02040503050406030204" pitchFamily="18" charset="0"/>
                  </a:rPr>
                  <a:t> ̂</a:t>
                </a:r>
                <a:r>
                  <a:rPr lang="en-NZ" sz="1200" dirty="0"/>
                  <a:t> for the estimates of </a:t>
                </a:r>
                <a:r>
                  <a:rPr lang="en-GB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𝜽</a:t>
                </a:r>
                <a:r>
                  <a:rPr lang="en-NZ" sz="1200" dirty="0"/>
                  <a:t>.</a:t>
                </a:r>
                <a:endParaRPr lang="en-NZ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NZ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950F8-AE0D-3585-A7BF-4E84326EB0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EB27E-DEA3-4CF9-9E54-4587F6DA5B69}" type="slidenum">
              <a:rPr lang="nl-BE" smtClean="0"/>
              <a:t>41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2100654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81588-0CE8-565C-B712-324D76F21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3FEE83-6CE8-C553-AA89-8ED858080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318D995-F55E-4B1E-8584-00E57EFEAE1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NZ" dirty="0"/>
                  <a:t>*To a reasonable level of precision. Notice that highly noisy measurements will define a family of plausible </a:t>
                </a:r>
                <a:r>
                  <a:rPr lang="en-NZ" dirty="0" err="1"/>
                  <a:t>parmeters</a:t>
                </a:r>
                <a:r>
                  <a:rPr lang="en-NZ" dirty="0"/>
                  <a:t> for the model, such that all predictions are within the bounds of the noise around the ground truth.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NZ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NZ" sz="1200" b="1" dirty="0"/>
                  <a:t>Practical identifiability</a:t>
                </a:r>
                <a:r>
                  <a:rPr lang="en-NZ" sz="1200" dirty="0"/>
                  <a:t>: analysis of the impact of the </a:t>
                </a:r>
                <a:r>
                  <a:rPr lang="en-NZ" sz="1200" b="1" dirty="0"/>
                  <a:t>practical constraints related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1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r>
                  <a:rPr lang="en-NZ" sz="1200" dirty="0"/>
                  <a:t> (noise/uncertainty) and their impact on the uncertainty of the estimated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NZ" sz="1200" dirty="0"/>
                  <a:t> – the effect of the noise (uncertainty) in the measurements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1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r>
                  <a:rPr lang="en-NZ" sz="1200" dirty="0"/>
                  <a:t> for the estimates of </a:t>
                </a:r>
                <a14:m>
                  <m:oMath xmlns:m="http://schemas.openxmlformats.org/officeDocument/2006/math">
                    <m:r>
                      <a:rPr lang="en-GB" sz="1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NZ" sz="1200" dirty="0"/>
                  <a:t>.</a:t>
                </a:r>
                <a:endParaRPr lang="en-NZ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NZ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A318D995-F55E-4B1E-8584-00E57EFEAE1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NZ" dirty="0"/>
                  <a:t>*To a reasonable level of precision. Notice that highly noisy measurements will define a family of plausible </a:t>
                </a:r>
                <a:r>
                  <a:rPr lang="en-NZ" dirty="0" err="1"/>
                  <a:t>parmeters</a:t>
                </a:r>
                <a:r>
                  <a:rPr lang="en-NZ" dirty="0"/>
                  <a:t> for the model, such that all predictions are within the bounds of the noise around the ground truth.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NZ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NZ" sz="1200" b="1" dirty="0"/>
                  <a:t>Practical identifiability</a:t>
                </a:r>
                <a:r>
                  <a:rPr lang="en-NZ" sz="1200" dirty="0"/>
                  <a:t>: analysis of the impact of the </a:t>
                </a:r>
                <a:r>
                  <a:rPr lang="en-NZ" sz="1200" b="1" dirty="0"/>
                  <a:t>practical constraints related to </a:t>
                </a:r>
                <a:r>
                  <a:rPr lang="en-US" sz="1200" b="1" i="0">
                    <a:latin typeface="Cambria Math" panose="02040503050406030204" pitchFamily="18" charset="0"/>
                  </a:rPr>
                  <a:t>𝐳</a:t>
                </a:r>
                <a:r>
                  <a:rPr lang="en-GB" sz="1200" b="1" i="0">
                    <a:latin typeface="Cambria Math" panose="02040503050406030204" pitchFamily="18" charset="0"/>
                  </a:rPr>
                  <a:t> ̂</a:t>
                </a:r>
                <a:r>
                  <a:rPr lang="en-NZ" sz="1200" dirty="0"/>
                  <a:t> (noise/uncertainty) and their impact on the uncertainty of the estimated </a:t>
                </a:r>
                <a:r>
                  <a:rPr lang="en-GB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𝜽</a:t>
                </a:r>
                <a:r>
                  <a:rPr lang="en-NZ" sz="1200" dirty="0"/>
                  <a:t> – the effect of the noise (uncertainty) in the measurements </a:t>
                </a:r>
                <a:r>
                  <a:rPr lang="en-US" sz="1200" b="1" i="0">
                    <a:latin typeface="Cambria Math" panose="02040503050406030204" pitchFamily="18" charset="0"/>
                  </a:rPr>
                  <a:t>𝐳</a:t>
                </a:r>
                <a:r>
                  <a:rPr lang="en-GB" sz="1200" b="1" i="0">
                    <a:latin typeface="Cambria Math" panose="02040503050406030204" pitchFamily="18" charset="0"/>
                  </a:rPr>
                  <a:t> ̂</a:t>
                </a:r>
                <a:r>
                  <a:rPr lang="en-NZ" sz="1200" dirty="0"/>
                  <a:t> for the estimates of </a:t>
                </a:r>
                <a:r>
                  <a:rPr lang="en-GB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𝜽</a:t>
                </a:r>
                <a:r>
                  <a:rPr lang="en-NZ" sz="1200" dirty="0"/>
                  <a:t>.</a:t>
                </a:r>
                <a:endParaRPr lang="en-NZ" dirty="0"/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lang="en-NZ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10212B-F943-7B27-43F5-FCEF67D7F3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5EB27E-DEA3-4CF9-9E54-4587F6DA5B69}" type="slidenum">
              <a:rPr lang="nl-BE" smtClean="0"/>
              <a:t>42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8344843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>
          <a:extLst>
            <a:ext uri="{FF2B5EF4-FFF2-40B4-BE49-F238E27FC236}">
              <a16:creationId xmlns:a16="http://schemas.microsoft.com/office/drawing/2014/main" id="{F077B610-0577-D52A-5709-4DF574C75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>
            <a:extLst>
              <a:ext uri="{FF2B5EF4-FFF2-40B4-BE49-F238E27FC236}">
                <a16:creationId xmlns:a16="http://schemas.microsoft.com/office/drawing/2014/main" id="{88AF50DA-F8C9-D10B-7254-281FB38A907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:notes">
            <a:extLst>
              <a:ext uri="{FF2B5EF4-FFF2-40B4-BE49-F238E27FC236}">
                <a16:creationId xmlns:a16="http://schemas.microsoft.com/office/drawing/2014/main" id="{7A990D43-B92A-BEA5-195D-0F3C3D0974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2:notes">
            <a:extLst>
              <a:ext uri="{FF2B5EF4-FFF2-40B4-BE49-F238E27FC236}">
                <a16:creationId xmlns:a16="http://schemas.microsoft.com/office/drawing/2014/main" id="{2462AEF5-3052-E8FF-92B7-41174BBEA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endParaRPr lang="en-NZ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653491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6E1B2-098E-23B7-76BF-8A21168336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173A5-44E0-2B03-A200-8509D96B77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A0009-DCC3-A2D7-F380-75F974A08B5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83B5A79F-E72F-1546-AE31-37AFA8A299A0}" type="datetime1">
              <a:rPr lang="it-IT" smtClean="0"/>
              <a:t>02/03/26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C5BE58-D4A9-74A1-F04F-6A15FD13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187EB-8494-A825-2211-FB08ACC6D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245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A081F-0F90-D3F7-F24E-202658E16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155576"/>
            <a:ext cx="11430000" cy="863600"/>
          </a:xfrm>
        </p:spPr>
        <p:txBody>
          <a:bodyPr anchor="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DADE3-34A6-E7FE-EFB3-9C7E8DA01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9" y="1294609"/>
            <a:ext cx="11429999" cy="46268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EE70F-A230-BB27-E382-43E14D13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59BADCC0-1329-1B43-94A2-33D18B730DF3}" type="datetime1">
              <a:rPr lang="it-IT" smtClean="0"/>
              <a:t>02/03/26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AC9DF-63F0-4F27-787D-506E00305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1773CB-05B7-01F5-83CB-B831CE46F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153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BC029-6F68-E9D5-955E-520DFC1CA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8B714A-12A0-834A-84CF-E711A5A17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43FB6-AFBE-461B-3BF4-5155409D0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E9E96-D063-2B9D-70F8-A9110EBDE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210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B979C-FA9A-3962-30B5-768F4885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F0B1C-6C98-0DF8-B655-C05BCBA83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1A6178-C551-39D2-1C87-9F849FB4D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4910E-6A75-7DF4-B3B7-0BF35B758E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D96CD98F-A018-EE43-BFC5-94C0BF1CC139}" type="datetime1">
              <a:rPr lang="it-IT" smtClean="0"/>
              <a:t>02/03/26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1F360-70DD-38B3-9052-5A8D0273F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F9261-27F8-A0C4-FC04-47584ACCB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368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EFA09-C666-5A78-DDEB-54A20CE2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C1ADEB-A81B-361A-6E43-26E9EB2BD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EBCCB8-2EDD-3877-B38C-875258CB1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250CB6-2863-D56C-1701-6366A26250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F7FD93-1CCD-B888-66E8-C35CA3F0B7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609ACA-BA57-4835-A01D-5B6D61FEA6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65B318C1-8769-2D40-A0F8-99807844D361}" type="datetime1">
              <a:rPr lang="it-IT" smtClean="0"/>
              <a:t>02/03/26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487ECB-CDFC-D460-E63A-404D1A546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97FBD3-0316-579B-501F-5858C8612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950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6AFF7-0741-A12C-7A24-344F0EE0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F97165-6F5D-D967-9611-66C4C94B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96B1BE89-3FD7-0744-A974-72E70F04C380}" type="datetime1">
              <a:rPr lang="it-IT" smtClean="0"/>
              <a:t>02/03/26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885465-DEA1-1107-1B21-0E16A793B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DB798-18B0-258D-3BFA-B16D3465D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55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3C1661-780A-F60A-7B20-F15F490C3A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EAB37639-2AD7-6149-B70C-9C4B75F052BB}" type="datetime1">
              <a:rPr lang="it-IT" smtClean="0"/>
              <a:t>02/03/26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A14B8-C2B9-0E09-A5ED-07039AE36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AFDDF-05E2-72EC-3888-762B20332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334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B335-1AC2-E612-7051-BD3EA184E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74B4A-E2EF-A722-89A0-B4AD170A0D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150927-9082-806F-73CF-CF5743D50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F7D98C-3F7E-656A-10C4-B7DF525FEC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B1E13BAE-2147-6B45-9BD9-B575B988C94A}" type="datetime1">
              <a:rPr lang="it-IT" smtClean="0"/>
              <a:t>02/03/26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44DEF-8647-AD61-B7CB-7ED7A3340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2A7D8-D083-49A1-2C16-94806D44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976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B77F7-5733-44EE-8253-4332E5BC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30362E-99BA-5786-FB07-E2B876A98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B4239-D571-F61C-DF13-1392CE8E8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15D5F-1478-50A0-68B4-E3E527709F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A3E9B2B8-1B69-DA4C-B0B4-0D5654161EE2}" type="datetime1">
              <a:rPr lang="it-IT" smtClean="0"/>
              <a:t>02/03/26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1671A2-2E4C-4341-A7BD-8F2B50D1B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CB070E-8CE4-940E-B3C4-5F31DA8B9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236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1E3A8-813F-8295-377D-62496A352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6D720-CC4C-4B84-4AB1-764C4FBBC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A3013-4F30-3A7A-77A5-8B6177952C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3C0D6849-B69B-4B41-BDF6-22461F0C09D9}" type="datetime1">
              <a:rPr lang="it-IT" smtClean="0"/>
              <a:t>02/03/26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8EB788-852E-7EFF-4A80-DACCF7E0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07CCA-9005-558A-B934-DCF4ECE26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85444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A8498E-BBC8-2EEC-3ACA-3955F3170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16D093-3465-8FB4-4F6A-131AB5D520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C6937-9FAA-08E0-E0AB-A12BA1A5B8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5198266"/>
            <a:ext cx="2743200" cy="365125"/>
          </a:xfrm>
          <a:prstGeom prst="rect">
            <a:avLst/>
          </a:prstGeom>
        </p:spPr>
        <p:txBody>
          <a:bodyPr/>
          <a:lstStyle/>
          <a:p>
            <a:fld id="{BA151E5E-28EE-4247-9F9C-5823B1FB86AA}" type="datetime1">
              <a:rPr lang="it-IT" smtClean="0"/>
              <a:t>02/03/26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D3B948-569A-4771-D16A-D9BC55BFC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72C17F-6996-D87E-D581-B27A2E140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649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66FE56-9D41-79B6-37D5-28625FE4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81031-DE4B-0378-33E6-C5A566621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C64F5-DD18-2093-F7C8-13C2F2AC0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23548" y="627950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E62FE-9C83-412A-6ED7-F20F89FEC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86675" y="62795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EEC29A-313B-4A40-BDAC-9E1C3FC1BB2C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blue logo with a black background&#10;&#10;Description automatically generated">
            <a:extLst>
              <a:ext uri="{FF2B5EF4-FFF2-40B4-BE49-F238E27FC236}">
                <a16:creationId xmlns:a16="http://schemas.microsoft.com/office/drawing/2014/main" id="{012488FD-2D32-4CDF-7B20-0AF75D63C89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5150" y="5783204"/>
            <a:ext cx="992604" cy="99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16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ons.wikimedia.org/wiki/File:Human_brain_icon.svg" TargetMode="External"/><Relationship Id="rId5" Type="http://schemas.openxmlformats.org/officeDocument/2006/relationships/hyperlink" Target="https://commons.wikimedia.org/wiki/File:Human_circulatory_system.svg" TargetMode="Externa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ons.wikimedia.org/wiki/File:Human_brain_icon.svg" TargetMode="External"/><Relationship Id="rId5" Type="http://schemas.openxmlformats.org/officeDocument/2006/relationships/hyperlink" Target="https://commons.wikimedia.org/wiki/File:Human_circulatory_system.svg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hyperlink" Target="https://doi.org/10.3389/fphys.2022.1018134" TargetMode="External"/><Relationship Id="rId4" Type="http://schemas.openxmlformats.org/officeDocument/2006/relationships/hyperlink" Target="https://doi.org/10.3389/fphys.2023.1162391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978-88-470-1152-6" TargetMode="External"/><Relationship Id="rId5" Type="http://schemas.openxmlformats.org/officeDocument/2006/relationships/image" Target="../media/image100.png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98/rsif.2018.0546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hyperlink" Target="https://doi.org/10.1007/978-88-470-1152-6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88-470-1152-6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4" Type="http://schemas.openxmlformats.org/officeDocument/2006/relationships/image" Target="../media/image22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14.png"/><Relationship Id="rId4" Type="http://schemas.openxmlformats.org/officeDocument/2006/relationships/image" Target="../media/image220.png"/><Relationship Id="rId9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0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14.png"/><Relationship Id="rId10" Type="http://schemas.openxmlformats.org/officeDocument/2006/relationships/image" Target="../media/image22.png"/><Relationship Id="rId4" Type="http://schemas.openxmlformats.org/officeDocument/2006/relationships/image" Target="../media/image220.png"/><Relationship Id="rId9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26.png"/><Relationship Id="rId5" Type="http://schemas.openxmlformats.org/officeDocument/2006/relationships/image" Target="../media/image14.png"/><Relationship Id="rId4" Type="http://schemas.openxmlformats.org/officeDocument/2006/relationships/image" Target="../media/image24.png"/><Relationship Id="rId9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2/cnm.1466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3.png"/><Relationship Id="rId7" Type="http://schemas.openxmlformats.org/officeDocument/2006/relationships/image" Target="../media/image49.png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hyperlink" Target="https://doi.org/10.1016/j.medengphy.2012.07.011" TargetMode="External"/><Relationship Id="rId4" Type="http://schemas.openxmlformats.org/officeDocument/2006/relationships/image" Target="../media/image46.png"/><Relationship Id="rId9" Type="http://schemas.openxmlformats.org/officeDocument/2006/relationships/hyperlink" Target="https://doi.org/10.1007/978-88-470-1152-6" TargetMode="Externa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sv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coisb.2021.03.005" TargetMode="External"/><Relationship Id="rId4" Type="http://schemas.openxmlformats.org/officeDocument/2006/relationships/image" Target="../media/image6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coisb.2021.03.005" TargetMode="Externa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978-88-470-1152-6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1007/s10237-024-01908-5" TargetMode="External"/><Relationship Id="rId5" Type="http://schemas.openxmlformats.org/officeDocument/2006/relationships/hyperlink" Target="https://doi.org/10.1051/m2an/2022052" TargetMode="External"/><Relationship Id="rId4" Type="http://schemas.openxmlformats.org/officeDocument/2006/relationships/hyperlink" Target="https://doi.org/10.1002/cnm.7002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glowing line in a blue background&#10;&#10;AI-generated content may be incorrect.">
            <a:extLst>
              <a:ext uri="{FF2B5EF4-FFF2-40B4-BE49-F238E27FC236}">
                <a16:creationId xmlns:a16="http://schemas.microsoft.com/office/drawing/2014/main" id="{1537AF33-AE54-8281-1E55-8E7441A686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390" y="5746557"/>
            <a:ext cx="1764000" cy="100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E969E4-D7C8-22C3-5EA2-5109186EEA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610" y="6034557"/>
            <a:ext cx="4120921" cy="720000"/>
          </a:xfrm>
          <a:prstGeom prst="rect">
            <a:avLst/>
          </a:prstGeom>
        </p:spPr>
      </p:pic>
      <p:sp>
        <p:nvSpPr>
          <p:cNvPr id="6" name="Titel 10">
            <a:extLst>
              <a:ext uri="{FF2B5EF4-FFF2-40B4-BE49-F238E27FC236}">
                <a16:creationId xmlns:a16="http://schemas.microsoft.com/office/drawing/2014/main" id="{2A437BE4-0FC0-5334-1757-78BC80555110}"/>
              </a:ext>
            </a:extLst>
          </p:cNvPr>
          <p:cNvSpPr txBox="1">
            <a:spLocks/>
          </p:cNvSpPr>
          <p:nvPr/>
        </p:nvSpPr>
        <p:spPr>
          <a:xfrm>
            <a:off x="1654432" y="567380"/>
            <a:ext cx="9842244" cy="65858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877824">
              <a:spcAft>
                <a:spcPts val="600"/>
              </a:spcAft>
            </a:pPr>
            <a:r>
              <a:rPr lang="en-US" sz="3600" b="1" dirty="0" err="1">
                <a:solidFill>
                  <a:srgbClr val="0070C0"/>
                </a:solidFill>
                <a:effectLst/>
              </a:rPr>
              <a:t>VIrtual</a:t>
            </a:r>
            <a:r>
              <a:rPr lang="en-US" sz="3600" b="1" spc="-30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/>
              </a:rPr>
              <a:t>Twins</a:t>
            </a:r>
            <a:r>
              <a:rPr lang="en-US" sz="3600" b="1" spc="-30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/>
              </a:rPr>
              <a:t>as</a:t>
            </a:r>
            <a:r>
              <a:rPr lang="en-US" sz="3600" b="1" spc="-30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/>
              </a:rPr>
              <a:t>tools</a:t>
            </a:r>
            <a:r>
              <a:rPr lang="en-US" sz="3600" b="1" spc="-30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/>
              </a:rPr>
              <a:t>for</a:t>
            </a:r>
            <a:r>
              <a:rPr lang="en-US" sz="3600" b="1" spc="-25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effectLst/>
              </a:rPr>
              <a:t>personalised</a:t>
            </a:r>
            <a:r>
              <a:rPr lang="en-US" sz="3600" b="1" spc="-30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dirty="0" err="1">
                <a:solidFill>
                  <a:srgbClr val="0070C0"/>
                </a:solidFill>
                <a:effectLst/>
              </a:rPr>
              <a:t>clinicAL</a:t>
            </a:r>
            <a:r>
              <a:rPr lang="en-US" sz="3600" b="1" spc="-25" dirty="0">
                <a:solidFill>
                  <a:srgbClr val="0070C0"/>
                </a:solidFill>
                <a:effectLst/>
              </a:rPr>
              <a:t> </a:t>
            </a:r>
            <a:r>
              <a:rPr lang="en-US" sz="3600" b="1" spc="-20" dirty="0">
                <a:solidFill>
                  <a:srgbClr val="0070C0"/>
                </a:solidFill>
                <a:effectLst/>
              </a:rPr>
              <a:t>care</a:t>
            </a:r>
            <a:endParaRPr lang="en-GB" sz="3600" b="1" dirty="0">
              <a:solidFill>
                <a:srgbClr val="0070C0"/>
              </a:solidFill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Untertitel 11">
            <a:extLst>
              <a:ext uri="{FF2B5EF4-FFF2-40B4-BE49-F238E27FC236}">
                <a16:creationId xmlns:a16="http://schemas.microsoft.com/office/drawing/2014/main" id="{2A809078-2A6D-E58A-F124-C4DD51255726}"/>
              </a:ext>
            </a:extLst>
          </p:cNvPr>
          <p:cNvSpPr txBox="1">
            <a:spLocks/>
          </p:cNvSpPr>
          <p:nvPr/>
        </p:nvSpPr>
        <p:spPr>
          <a:xfrm>
            <a:off x="2032070" y="4715139"/>
            <a:ext cx="8371113" cy="9593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dirty="0">
                <a:solidFill>
                  <a:srgbClr val="0070C0"/>
                </a:solidFill>
                <a:ea typeface="+mj-ea"/>
                <a:cs typeface="+mj-cs"/>
              </a:rPr>
              <a:t>Postgraduate Training School #2</a:t>
            </a:r>
          </a:p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University of Auckland, Feb </a:t>
            </a:r>
            <a:r>
              <a:rPr lang="en-GB" altLang="de-DE" sz="2400" dirty="0"/>
              <a:t>9-12, </a:t>
            </a:r>
            <a:r>
              <a:rPr lang="en-GB" altLang="de-DE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</a:t>
            </a:r>
            <a:endParaRPr lang="en-GB" altLang="de-DE" sz="2688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8" name="Picture 7" descr="A blue logo with a black background&#10;&#10;Description automatically generated">
            <a:extLst>
              <a:ext uri="{FF2B5EF4-FFF2-40B4-BE49-F238E27FC236}">
                <a16:creationId xmlns:a16="http://schemas.microsoft.com/office/drawing/2014/main" id="{025832C0-D256-C0D5-760D-84EE1F97A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32" y="140672"/>
            <a:ext cx="1512000" cy="1512000"/>
          </a:xfrm>
          <a:prstGeom prst="rect">
            <a:avLst/>
          </a:prstGeom>
        </p:spPr>
      </p:pic>
      <p:sp>
        <p:nvSpPr>
          <p:cNvPr id="9" name="Untertitel 11">
            <a:extLst>
              <a:ext uri="{FF2B5EF4-FFF2-40B4-BE49-F238E27FC236}">
                <a16:creationId xmlns:a16="http://schemas.microsoft.com/office/drawing/2014/main" id="{D511A1D1-525D-7F9C-01E0-691EA212862C}"/>
              </a:ext>
            </a:extLst>
          </p:cNvPr>
          <p:cNvSpPr txBox="1">
            <a:spLocks/>
          </p:cNvSpPr>
          <p:nvPr/>
        </p:nvSpPr>
        <p:spPr>
          <a:xfrm>
            <a:off x="951594" y="1766800"/>
            <a:ext cx="10288812" cy="28762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sz="4800" dirty="0"/>
              <a:t>Cardiovascular System Modelling </a:t>
            </a:r>
          </a:p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sz="4800" dirty="0"/>
              <a:t>&amp; Context of Use: </a:t>
            </a:r>
          </a:p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sz="4800" dirty="0"/>
              <a:t>When, Why, and How Complex? </a:t>
            </a:r>
          </a:p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dirty="0"/>
              <a:t>Dr Beatrice </a:t>
            </a:r>
            <a:r>
              <a:rPr lang="en-GB" altLang="de-DE" dirty="0" err="1"/>
              <a:t>Ghitti</a:t>
            </a:r>
            <a:r>
              <a:rPr lang="en-GB" altLang="de-DE" dirty="0"/>
              <a:t> [</a:t>
            </a:r>
            <a:r>
              <a:rPr lang="en-GB" altLang="de-DE" dirty="0" err="1"/>
              <a:t>beatrice.ghitti@auckland.ac.nz</a:t>
            </a:r>
            <a:r>
              <a:rPr lang="en-GB" altLang="de-DE" dirty="0"/>
              <a:t>]</a:t>
            </a:r>
          </a:p>
          <a:p>
            <a:pPr marL="219456" indent="-219456" algn="ctr" defTabSz="877824">
              <a:spcBef>
                <a:spcPts val="960"/>
              </a:spcBef>
              <a:buNone/>
            </a:pPr>
            <a:r>
              <a:rPr lang="en-GB" altLang="de-DE" dirty="0"/>
              <a:t>Dr </a:t>
            </a:r>
            <a:r>
              <a:rPr lang="en-GB" altLang="de-DE" dirty="0" err="1"/>
              <a:t>Finbar</a:t>
            </a:r>
            <a:r>
              <a:rPr lang="en-GB" altLang="de-DE" dirty="0"/>
              <a:t> Argus [</a:t>
            </a:r>
            <a:r>
              <a:rPr lang="en-GB" altLang="de-DE" dirty="0" err="1"/>
              <a:t>finbar.argus@auckland.ac.nz</a:t>
            </a:r>
            <a:r>
              <a:rPr lang="en-GB" altLang="de-DE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117339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60BD2-6DAC-AF05-B9D6-083322E04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7EFCF5-8321-5D11-7003-89ECFB7F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Outline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206635E-26F9-3370-1E3A-63E0F51AF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19176"/>
            <a:ext cx="5836831" cy="529241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GB" sz="2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PART I: CVS modelling &amp; Context of use</a:t>
            </a:r>
          </a:p>
          <a:p>
            <a:r>
              <a:rPr lang="en-GB" sz="2000" dirty="0"/>
              <a:t>Why do we need modelling “simplifications”?</a:t>
            </a:r>
          </a:p>
          <a:p>
            <a:r>
              <a:rPr lang="en-GB" sz="2000" dirty="0"/>
              <a:t>Context of use</a:t>
            </a:r>
          </a:p>
          <a:p>
            <a:pPr marL="0" indent="0">
              <a:buNone/>
            </a:pPr>
            <a:r>
              <a:rPr lang="en-GB" sz="2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PART II: What options do we have?</a:t>
            </a:r>
          </a:p>
          <a:p>
            <a:r>
              <a:rPr lang="en-GB" sz="2000" dirty="0"/>
              <a:t>From 3D to 1D models</a:t>
            </a:r>
          </a:p>
          <a:p>
            <a:r>
              <a:rPr lang="en-GB" sz="2000" dirty="0"/>
              <a:t>Hetero-dimensional models &amp; Geometric multiscale</a:t>
            </a:r>
          </a:p>
          <a:p>
            <a:pPr marL="0" indent="0">
              <a:buNone/>
            </a:pPr>
            <a:r>
              <a:rPr lang="en-GB" sz="2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PART III: </a:t>
            </a:r>
            <a:r>
              <a:rPr lang="en-IT" sz="2600" b="1" dirty="0">
                <a:solidFill>
                  <a:srgbClr val="0070C0"/>
                </a:solidFill>
                <a:latin typeface="+mj-lt"/>
                <a:ea typeface="+mj-ea"/>
                <a:cs typeface="+mj-cs"/>
              </a:rPr>
              <a:t>Does one size fit all?</a:t>
            </a:r>
            <a:endParaRPr lang="en-GB" sz="2600" b="1" dirty="0">
              <a:solidFill>
                <a:srgbClr val="0070C0"/>
              </a:solidFill>
              <a:latin typeface="+mj-lt"/>
              <a:ea typeface="+mj-ea"/>
              <a:cs typeface="+mj-cs"/>
            </a:endParaRPr>
          </a:p>
          <a:p>
            <a:r>
              <a:rPr lang="en-GB" sz="2000" dirty="0"/>
              <a:t>Sensitivity analysis</a:t>
            </a:r>
          </a:p>
          <a:p>
            <a:r>
              <a:rPr lang="en-GB" sz="2000" dirty="0"/>
              <a:t>Identifiability analysis</a:t>
            </a:r>
          </a:p>
          <a:p>
            <a:r>
              <a:rPr lang="en-GB" sz="2000" dirty="0"/>
              <a:t>&amp; Model calibration in a nutshell</a:t>
            </a:r>
          </a:p>
        </p:txBody>
      </p:sp>
      <p:sp>
        <p:nvSpPr>
          <p:cNvPr id="4" name="Tijdelijke aanduiding voor inhoud 2">
            <a:extLst>
              <a:ext uri="{FF2B5EF4-FFF2-40B4-BE49-F238E27FC236}">
                <a16:creationId xmlns:a16="http://schemas.microsoft.com/office/drawing/2014/main" id="{B38145DF-4CC3-3CB4-9664-4A73F80D23E7}"/>
              </a:ext>
            </a:extLst>
          </p:cNvPr>
          <p:cNvSpPr txBox="1">
            <a:spLocks/>
          </p:cNvSpPr>
          <p:nvPr/>
        </p:nvSpPr>
        <p:spPr>
          <a:xfrm>
            <a:off x="6898935" y="3665382"/>
            <a:ext cx="5928004" cy="1962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E680A-D7B3-905E-D849-064200204C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0969571">
            <a:off x="7496714" y="2169000"/>
            <a:ext cx="3756226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3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AB4D2-117B-019B-F848-CB28053D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C3FE63-AE05-7555-921C-1D4F4BFC9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PART I: CVS modelling &amp; Context of use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181B7-E816-9C66-16ED-26B897225E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49" y="1019176"/>
            <a:ext cx="9312362" cy="3507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i="1" dirty="0"/>
              <a:t>“From experimental and clinical data acquisition to the personalisation of physiological models, […] to build a complete workflow for constructing cardiovascular digital twins, with applications to in-silico clinical trials, hypotheses testing, biomarker discovery, and more.”</a:t>
            </a:r>
            <a:br>
              <a:rPr lang="en-GB" sz="2400" dirty="0"/>
            </a:br>
            <a:endParaRPr lang="en-IT" sz="2400" b="1" dirty="0"/>
          </a:p>
          <a:p>
            <a:pPr marL="0" indent="0">
              <a:buNone/>
            </a:pPr>
            <a:endParaRPr lang="en-IT" sz="2400" b="1" dirty="0"/>
          </a:p>
        </p:txBody>
      </p:sp>
      <p:pic>
        <p:nvPicPr>
          <p:cNvPr id="3" name="Picture 2" descr="A diagram of a human body&#10;&#10;AI-generated content may be incorrect.">
            <a:extLst>
              <a:ext uri="{FF2B5EF4-FFF2-40B4-BE49-F238E27FC236}">
                <a16:creationId xmlns:a16="http://schemas.microsoft.com/office/drawing/2014/main" id="{96783936-6691-8C76-51D7-9562430F58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7" y="2841309"/>
            <a:ext cx="2738905" cy="36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2F9350-1FD2-6DF3-4FE7-538F071F35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30923" y="72627"/>
            <a:ext cx="2608437" cy="576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3D06E5-E40C-BE09-9A8A-A52E72AAF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0969571">
            <a:off x="6286639" y="3983392"/>
            <a:ext cx="3756226" cy="2520000"/>
          </a:xfrm>
          <a:prstGeom prst="rect">
            <a:avLst/>
          </a:prstGeom>
        </p:spPr>
      </p:pic>
      <p:sp>
        <p:nvSpPr>
          <p:cNvPr id="8" name="Footer Placeholder 42">
            <a:extLst>
              <a:ext uri="{FF2B5EF4-FFF2-40B4-BE49-F238E27FC236}">
                <a16:creationId xmlns:a16="http://schemas.microsoft.com/office/drawing/2014/main" id="{586A24E1-825D-4023-8B7B-BC87EC415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5" y="6349130"/>
            <a:ext cx="6592241" cy="519615"/>
          </a:xfrm>
        </p:spPr>
        <p:txBody>
          <a:bodyPr/>
          <a:lstStyle/>
          <a:p>
            <a:pPr algn="l"/>
            <a:r>
              <a:rPr lang="en-GB" baseline="30000" dirty="0"/>
              <a:t>3</a:t>
            </a:r>
            <a:r>
              <a:rPr lang="en-GB" dirty="0"/>
              <a:t> taken and modified from </a:t>
            </a:r>
            <a:r>
              <a:rPr lang="en-GB" dirty="0">
                <a:hlinkClick r:id="rId5"/>
              </a:rPr>
              <a:t>https://commons.wikimedia.org/wiki/File:Human_circulatory_system.svg</a:t>
            </a:r>
            <a:r>
              <a:rPr lang="en-GB" dirty="0"/>
              <a:t> &amp; </a:t>
            </a:r>
            <a:r>
              <a:rPr lang="en-GB" dirty="0">
                <a:hlinkClick r:id="rId6"/>
              </a:rPr>
              <a:t>https://commons.wikimedia.org/wiki/File:Human_brain_icon.svg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5FCD46-2A3D-F114-3F7A-A825C324A191}"/>
              </a:ext>
            </a:extLst>
          </p:cNvPr>
          <p:cNvSpPr/>
          <p:nvPr/>
        </p:nvSpPr>
        <p:spPr>
          <a:xfrm>
            <a:off x="2089253" y="1940812"/>
            <a:ext cx="6736025" cy="1815642"/>
          </a:xfrm>
          <a:prstGeom prst="rect">
            <a:avLst/>
          </a:prstGeom>
          <a:solidFill>
            <a:srgbClr val="EDB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200" dirty="0">
                <a:solidFill>
                  <a:schemeClr val="tx1"/>
                </a:solidFill>
              </a:rPr>
              <a:t>What are the challenges of constructing and personalising complex and comprehensive physiological and computational models, and of using them, for instance, in clinical settings?</a:t>
            </a:r>
          </a:p>
          <a:p>
            <a:pPr algn="ctr"/>
            <a:r>
              <a:rPr lang="en-IT" sz="3000" b="1" dirty="0">
                <a:solidFill>
                  <a:schemeClr val="tx1"/>
                </a:solidFill>
              </a:rPr>
              <a:t>WHY</a:t>
            </a:r>
            <a:r>
              <a:rPr lang="en-IT" sz="2200" dirty="0">
                <a:solidFill>
                  <a:schemeClr val="tx1"/>
                </a:solidFill>
              </a:rPr>
              <a:t> do we need “simplifications”?</a:t>
            </a: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1630C7B4-071B-2861-E639-924373C23552}"/>
              </a:ext>
            </a:extLst>
          </p:cNvPr>
          <p:cNvSpPr/>
          <p:nvPr/>
        </p:nvSpPr>
        <p:spPr>
          <a:xfrm>
            <a:off x="3103505" y="3770703"/>
            <a:ext cx="3422822" cy="1815642"/>
          </a:xfrm>
          <a:custGeom>
            <a:avLst/>
            <a:gdLst>
              <a:gd name="csX0" fmla="*/ 3422822 w 3422822"/>
              <a:gd name="csY0" fmla="*/ 1627369 h 1815642"/>
              <a:gd name="csX1" fmla="*/ 2594919 w 3422822"/>
              <a:gd name="csY1" fmla="*/ 1785585 h 1815642"/>
              <a:gd name="csX2" fmla="*/ 1532238 w 3422822"/>
              <a:gd name="csY2" fmla="*/ 1096213 h 1815642"/>
              <a:gd name="csX3" fmla="*/ 2125362 w 3422822"/>
              <a:gd name="csY3" fmla="*/ 791082 h 1815642"/>
              <a:gd name="csX4" fmla="*/ 1816443 w 3422822"/>
              <a:gd name="csY4" fmla="*/ 1503055 h 1815642"/>
              <a:gd name="csX5" fmla="*/ 926757 w 3422822"/>
              <a:gd name="csY5" fmla="*/ 1356140 h 1815642"/>
              <a:gd name="csX6" fmla="*/ 605481 w 3422822"/>
              <a:gd name="csY6" fmla="*/ 508552 h 1815642"/>
              <a:gd name="csX7" fmla="*/ 1359243 w 3422822"/>
              <a:gd name="csY7" fmla="*/ 361637 h 1815642"/>
              <a:gd name="csX8" fmla="*/ 457200 w 3422822"/>
              <a:gd name="csY8" fmla="*/ 847587 h 1815642"/>
              <a:gd name="csX9" fmla="*/ 0 w 3422822"/>
              <a:gd name="csY9" fmla="*/ 0 h 18156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3422822" h="1815642" extrusionOk="0">
                <a:moveTo>
                  <a:pt x="3422822" y="1627369"/>
                </a:moveTo>
                <a:cubicBezTo>
                  <a:pt x="3131931" y="1729467"/>
                  <a:pt x="2891989" y="1880877"/>
                  <a:pt x="2594919" y="1785585"/>
                </a:cubicBezTo>
                <a:cubicBezTo>
                  <a:pt x="2314422" y="1704343"/>
                  <a:pt x="1587260" y="1262702"/>
                  <a:pt x="1532238" y="1096213"/>
                </a:cubicBezTo>
                <a:cubicBezTo>
                  <a:pt x="1448462" y="935851"/>
                  <a:pt x="2075303" y="738152"/>
                  <a:pt x="2125362" y="791082"/>
                </a:cubicBezTo>
                <a:cubicBezTo>
                  <a:pt x="2168679" y="856672"/>
                  <a:pt x="2046463" y="1423334"/>
                  <a:pt x="1816443" y="1503055"/>
                </a:cubicBezTo>
                <a:cubicBezTo>
                  <a:pt x="1665281" y="1602998"/>
                  <a:pt x="1142513" y="1493224"/>
                  <a:pt x="926757" y="1356140"/>
                </a:cubicBezTo>
                <a:cubicBezTo>
                  <a:pt x="720915" y="1189775"/>
                  <a:pt x="522875" y="684212"/>
                  <a:pt x="605481" y="508552"/>
                </a:cubicBezTo>
                <a:cubicBezTo>
                  <a:pt x="677431" y="341548"/>
                  <a:pt x="1381388" y="308700"/>
                  <a:pt x="1359243" y="361637"/>
                </a:cubicBezTo>
                <a:cubicBezTo>
                  <a:pt x="1343555" y="423196"/>
                  <a:pt x="710007" y="914176"/>
                  <a:pt x="457200" y="847587"/>
                </a:cubicBezTo>
                <a:cubicBezTo>
                  <a:pt x="185510" y="780011"/>
                  <a:pt x="134607" y="409421"/>
                  <a:pt x="0" y="0"/>
                </a:cubicBezTo>
              </a:path>
            </a:pathLst>
          </a:custGeom>
          <a:noFill/>
          <a:ln w="38100">
            <a:solidFill>
              <a:srgbClr val="EDB4D9"/>
            </a:solidFill>
            <a:headEnd type="non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sX0" fmla="*/ 3422822 w 3422822"/>
                      <a:gd name="csY0" fmla="*/ 1779373 h 1985231"/>
                      <a:gd name="csX1" fmla="*/ 2594919 w 3422822"/>
                      <a:gd name="csY1" fmla="*/ 1952367 h 1985231"/>
                      <a:gd name="csX2" fmla="*/ 1532238 w 3422822"/>
                      <a:gd name="csY2" fmla="*/ 1198605 h 1985231"/>
                      <a:gd name="csX3" fmla="*/ 2125362 w 3422822"/>
                      <a:gd name="csY3" fmla="*/ 864973 h 1985231"/>
                      <a:gd name="csX4" fmla="*/ 1816443 w 3422822"/>
                      <a:gd name="csY4" fmla="*/ 1643448 h 1985231"/>
                      <a:gd name="csX5" fmla="*/ 926757 w 3422822"/>
                      <a:gd name="csY5" fmla="*/ 1482810 h 1985231"/>
                      <a:gd name="csX6" fmla="*/ 605481 w 3422822"/>
                      <a:gd name="csY6" fmla="*/ 556054 h 1985231"/>
                      <a:gd name="csX7" fmla="*/ 1359243 w 3422822"/>
                      <a:gd name="csY7" fmla="*/ 395416 h 1985231"/>
                      <a:gd name="csX8" fmla="*/ 457200 w 3422822"/>
                      <a:gd name="csY8" fmla="*/ 926756 h 1985231"/>
                      <a:gd name="csX9" fmla="*/ 0 w 3422822"/>
                      <a:gd name="csY9" fmla="*/ 0 h 1985231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  <a:cxn ang="0">
                        <a:pos x="csX6" y="csY6"/>
                      </a:cxn>
                      <a:cxn ang="0">
                        <a:pos x="csX7" y="csY7"/>
                      </a:cxn>
                      <a:cxn ang="0">
                        <a:pos x="csX8" y="csY8"/>
                      </a:cxn>
                      <a:cxn ang="0">
                        <a:pos x="csX9" y="csY9"/>
                      </a:cxn>
                    </a:cxnLst>
                    <a:rect l="l" t="t" r="r" b="b"/>
                    <a:pathLst>
                      <a:path w="3422822" h="1985231">
                        <a:moveTo>
                          <a:pt x="3422822" y="1779373"/>
                        </a:moveTo>
                        <a:cubicBezTo>
                          <a:pt x="3166419" y="1914267"/>
                          <a:pt x="2910016" y="2049162"/>
                          <a:pt x="2594919" y="1952367"/>
                        </a:cubicBezTo>
                        <a:cubicBezTo>
                          <a:pt x="2279822" y="1855572"/>
                          <a:pt x="1610497" y="1379837"/>
                          <a:pt x="1532238" y="1198605"/>
                        </a:cubicBezTo>
                        <a:cubicBezTo>
                          <a:pt x="1453979" y="1017373"/>
                          <a:pt x="2077995" y="790833"/>
                          <a:pt x="2125362" y="864973"/>
                        </a:cubicBezTo>
                        <a:cubicBezTo>
                          <a:pt x="2172729" y="939113"/>
                          <a:pt x="2016210" y="1540475"/>
                          <a:pt x="1816443" y="1643448"/>
                        </a:cubicBezTo>
                        <a:cubicBezTo>
                          <a:pt x="1616675" y="1746421"/>
                          <a:pt x="1128584" y="1664042"/>
                          <a:pt x="926757" y="1482810"/>
                        </a:cubicBezTo>
                        <a:cubicBezTo>
                          <a:pt x="724930" y="1301578"/>
                          <a:pt x="533400" y="737286"/>
                          <a:pt x="605481" y="556054"/>
                        </a:cubicBezTo>
                        <a:cubicBezTo>
                          <a:pt x="677562" y="374822"/>
                          <a:pt x="1383956" y="333632"/>
                          <a:pt x="1359243" y="395416"/>
                        </a:cubicBezTo>
                        <a:cubicBezTo>
                          <a:pt x="1334530" y="457200"/>
                          <a:pt x="683740" y="992659"/>
                          <a:pt x="457200" y="926756"/>
                        </a:cubicBezTo>
                        <a:cubicBezTo>
                          <a:pt x="230660" y="860853"/>
                          <a:pt x="115330" y="430426"/>
                          <a:pt x="0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834005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6113-67F0-1F42-D847-171ACD8EE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787E12-E1FF-EBEF-CD48-8425DCF17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CVS modelling &amp; Context of use</a:t>
            </a:r>
          </a:p>
        </p:txBody>
      </p:sp>
      <p:pic>
        <p:nvPicPr>
          <p:cNvPr id="3" name="Picture 2" descr="A diagram of a human body&#10;&#10;AI-generated content may be incorrect.">
            <a:extLst>
              <a:ext uri="{FF2B5EF4-FFF2-40B4-BE49-F238E27FC236}">
                <a16:creationId xmlns:a16="http://schemas.microsoft.com/office/drawing/2014/main" id="{FA0CE3CF-FFCA-28A1-8652-8113622B8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7" y="2841309"/>
            <a:ext cx="2738905" cy="3600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8D03DB-8463-07E3-1B97-F092ECD55C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30923" y="72627"/>
            <a:ext cx="2608437" cy="576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407635-30C0-D7A7-51B9-E64D14C51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0969571">
            <a:off x="6274282" y="3958678"/>
            <a:ext cx="3756226" cy="2520000"/>
          </a:xfrm>
          <a:prstGeom prst="rect">
            <a:avLst/>
          </a:prstGeom>
        </p:spPr>
      </p:pic>
      <p:sp>
        <p:nvSpPr>
          <p:cNvPr id="8" name="Footer Placeholder 42">
            <a:extLst>
              <a:ext uri="{FF2B5EF4-FFF2-40B4-BE49-F238E27FC236}">
                <a16:creationId xmlns:a16="http://schemas.microsoft.com/office/drawing/2014/main" id="{7D1F8B90-9791-86D2-304F-FEBA31707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5" y="6349130"/>
            <a:ext cx="6592241" cy="519615"/>
          </a:xfrm>
        </p:spPr>
        <p:txBody>
          <a:bodyPr/>
          <a:lstStyle/>
          <a:p>
            <a:pPr algn="l"/>
            <a:r>
              <a:rPr lang="en-GB" baseline="30000" dirty="0"/>
              <a:t>3</a:t>
            </a:r>
            <a:r>
              <a:rPr lang="en-GB" dirty="0"/>
              <a:t> taken and modified from </a:t>
            </a:r>
            <a:r>
              <a:rPr lang="en-GB" dirty="0">
                <a:hlinkClick r:id="rId5"/>
              </a:rPr>
              <a:t>https://commons.wikimedia.org/wiki/File:Human_circulatory_system.svg</a:t>
            </a:r>
            <a:r>
              <a:rPr lang="en-GB" dirty="0"/>
              <a:t> &amp; </a:t>
            </a:r>
            <a:r>
              <a:rPr lang="en-GB" dirty="0">
                <a:hlinkClick r:id="rId6"/>
              </a:rPr>
              <a:t>https://commons.wikimedia.org/wiki/File:Human_brain_icon.svg</a:t>
            </a:r>
            <a:r>
              <a:rPr lang="en-GB" dirty="0"/>
              <a:t> </a:t>
            </a:r>
            <a:endParaRPr lang="en-IT" dirty="0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2E4B02B7-A7F6-E4CF-A804-654EA405CC7E}"/>
              </a:ext>
            </a:extLst>
          </p:cNvPr>
          <p:cNvSpPr/>
          <p:nvPr/>
        </p:nvSpPr>
        <p:spPr>
          <a:xfrm>
            <a:off x="6856842" y="2681411"/>
            <a:ext cx="1690845" cy="1643453"/>
          </a:xfrm>
          <a:custGeom>
            <a:avLst/>
            <a:gdLst>
              <a:gd name="csX0" fmla="*/ 87655 w 1690845"/>
              <a:gd name="csY0" fmla="*/ 1643453 h 1643453"/>
              <a:gd name="csX1" fmla="*/ 174153 w 1690845"/>
              <a:gd name="csY1" fmla="*/ 1074565 h 1643453"/>
              <a:gd name="csX2" fmla="*/ 1656963 w 1690845"/>
              <a:gd name="csY2" fmla="*/ 263373 h 1643453"/>
              <a:gd name="csX3" fmla="*/ 1187407 w 1690845"/>
              <a:gd name="csY3" fmla="*/ 811191 h 1643453"/>
              <a:gd name="csX4" fmla="*/ 890844 w 1690845"/>
              <a:gd name="csY4" fmla="*/ 294978 h 1643453"/>
              <a:gd name="csX5" fmla="*/ 890844 w 1690845"/>
              <a:gd name="csY5" fmla="*/ 0 h 16434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690845" h="1643453" extrusionOk="0">
                <a:moveTo>
                  <a:pt x="87655" y="1643453"/>
                </a:moveTo>
                <a:cubicBezTo>
                  <a:pt x="-16687" y="1459519"/>
                  <a:pt x="-90795" y="1296274"/>
                  <a:pt x="174153" y="1074565"/>
                </a:cubicBezTo>
                <a:cubicBezTo>
                  <a:pt x="432484" y="869390"/>
                  <a:pt x="1519819" y="295481"/>
                  <a:pt x="1656963" y="263373"/>
                </a:cubicBezTo>
                <a:cubicBezTo>
                  <a:pt x="1814310" y="230603"/>
                  <a:pt x="1296229" y="814120"/>
                  <a:pt x="1187407" y="811191"/>
                </a:cubicBezTo>
                <a:cubicBezTo>
                  <a:pt x="1051097" y="843084"/>
                  <a:pt x="932628" y="415269"/>
                  <a:pt x="890844" y="294978"/>
                </a:cubicBezTo>
                <a:cubicBezTo>
                  <a:pt x="840668" y="166594"/>
                  <a:pt x="870956" y="69080"/>
                  <a:pt x="890844" y="0"/>
                </a:cubicBezTo>
              </a:path>
            </a:pathLst>
          </a:custGeom>
          <a:noFill/>
          <a:ln w="38100">
            <a:solidFill>
              <a:srgbClr val="EDB4D9"/>
            </a:solidFill>
            <a:headEnd type="non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2834617380">
                  <a:custGeom>
                    <a:avLst/>
                    <a:gdLst>
                      <a:gd name="csX0" fmla="*/ 87655 w 1690845"/>
                      <a:gd name="csY0" fmla="*/ 1927654 h 1927654"/>
                      <a:gd name="csX1" fmla="*/ 174153 w 1690845"/>
                      <a:gd name="csY1" fmla="*/ 1260389 h 1927654"/>
                      <a:gd name="csX2" fmla="*/ 1656963 w 1690845"/>
                      <a:gd name="csY2" fmla="*/ 308919 h 1927654"/>
                      <a:gd name="csX3" fmla="*/ 1187407 w 1690845"/>
                      <a:gd name="csY3" fmla="*/ 951470 h 1927654"/>
                      <a:gd name="csX4" fmla="*/ 890844 w 1690845"/>
                      <a:gd name="csY4" fmla="*/ 345989 h 1927654"/>
                      <a:gd name="csX5" fmla="*/ 890844 w 1690845"/>
                      <a:gd name="csY5" fmla="*/ 0 h 1927654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  <a:cxn ang="0">
                        <a:pos x="csX5" y="csY5"/>
                      </a:cxn>
                    </a:cxnLst>
                    <a:rect l="l" t="t" r="r" b="b"/>
                    <a:pathLst>
                      <a:path w="1690845" h="1927654">
                        <a:moveTo>
                          <a:pt x="87655" y="1927654"/>
                        </a:moveTo>
                        <a:cubicBezTo>
                          <a:pt x="128" y="1728916"/>
                          <a:pt x="-87398" y="1530178"/>
                          <a:pt x="174153" y="1260389"/>
                        </a:cubicBezTo>
                        <a:cubicBezTo>
                          <a:pt x="435704" y="990600"/>
                          <a:pt x="1488087" y="360405"/>
                          <a:pt x="1656963" y="308919"/>
                        </a:cubicBezTo>
                        <a:cubicBezTo>
                          <a:pt x="1825839" y="257433"/>
                          <a:pt x="1315094" y="945292"/>
                          <a:pt x="1187407" y="951470"/>
                        </a:cubicBezTo>
                        <a:cubicBezTo>
                          <a:pt x="1059720" y="957648"/>
                          <a:pt x="940271" y="504567"/>
                          <a:pt x="890844" y="345989"/>
                        </a:cubicBezTo>
                        <a:cubicBezTo>
                          <a:pt x="841417" y="187411"/>
                          <a:pt x="866130" y="93705"/>
                          <a:pt x="890844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7790E8-7074-EEDE-D99C-42EAD523B18F}"/>
              </a:ext>
            </a:extLst>
          </p:cNvPr>
          <p:cNvSpPr txBox="1"/>
          <p:nvPr/>
        </p:nvSpPr>
        <p:spPr>
          <a:xfrm>
            <a:off x="2928333" y="2807771"/>
            <a:ext cx="458457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2000" dirty="0"/>
              <a:t>Limited data or with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/>
              <a:t>Computational</a:t>
            </a:r>
            <a:r>
              <a:rPr lang="en-IT" sz="2000" dirty="0"/>
              <a:t> complexity (vs clinical timeframes)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2000" dirty="0"/>
              <a:t>Parameter identifiability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2000" dirty="0"/>
              <a:t>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2000" dirty="0"/>
              <a:t>??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T" sz="2000" dirty="0"/>
              <a:t>???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4C98005-D16A-802C-0327-494805FCCE30}"/>
              </a:ext>
            </a:extLst>
          </p:cNvPr>
          <p:cNvSpPr/>
          <p:nvPr/>
        </p:nvSpPr>
        <p:spPr>
          <a:xfrm>
            <a:off x="2089253" y="865770"/>
            <a:ext cx="6736025" cy="1815642"/>
          </a:xfrm>
          <a:prstGeom prst="rect">
            <a:avLst/>
          </a:prstGeom>
          <a:solidFill>
            <a:srgbClr val="EDB4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200" dirty="0">
                <a:solidFill>
                  <a:schemeClr val="tx1"/>
                </a:solidFill>
              </a:rPr>
              <a:t>What are the challenges of constructing and personalising complex and comprehensive physiological and computational models, and of using them, for instance, in clinical settings?</a:t>
            </a:r>
          </a:p>
          <a:p>
            <a:pPr algn="ctr"/>
            <a:r>
              <a:rPr lang="en-IT" sz="3000" b="1" dirty="0">
                <a:solidFill>
                  <a:schemeClr val="tx1"/>
                </a:solidFill>
              </a:rPr>
              <a:t>WHY</a:t>
            </a:r>
            <a:r>
              <a:rPr lang="en-IT" sz="2200" dirty="0">
                <a:solidFill>
                  <a:schemeClr val="tx1"/>
                </a:solidFill>
              </a:rPr>
              <a:t> do we need “simplifications”?</a:t>
            </a:r>
          </a:p>
        </p:txBody>
      </p:sp>
    </p:spTree>
    <p:extLst>
      <p:ext uri="{BB962C8B-B14F-4D97-AF65-F5344CB8AC3E}">
        <p14:creationId xmlns:p14="http://schemas.microsoft.com/office/powerpoint/2010/main" val="2061041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C5F7F-30D5-6532-8A59-3221EF86C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F0C646F-7AD6-6053-5EB1-BE65079EA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CVS modelling &amp; Context of use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156281-F15C-9F81-A8AC-677A8C2FB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20969571">
            <a:off x="4156318" y="2726710"/>
            <a:ext cx="2683019" cy="1800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E84C3D7-48C8-D194-FB48-D9778A58C3E2}"/>
              </a:ext>
            </a:extLst>
          </p:cNvPr>
          <p:cNvSpPr/>
          <p:nvPr/>
        </p:nvSpPr>
        <p:spPr>
          <a:xfrm>
            <a:off x="259195" y="1112371"/>
            <a:ext cx="3730780" cy="1445478"/>
          </a:xfrm>
          <a:prstGeom prst="rect">
            <a:avLst/>
          </a:prstGeom>
          <a:solidFill>
            <a:srgbClr val="82D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3000" b="1" dirty="0">
                <a:solidFill>
                  <a:schemeClr val="tx1"/>
                </a:solidFill>
              </a:rPr>
              <a:t>WHAT</a:t>
            </a:r>
            <a:r>
              <a:rPr lang="en-IT" sz="2200" dirty="0">
                <a:solidFill>
                  <a:schemeClr val="tx1"/>
                </a:solidFill>
              </a:rPr>
              <a:t> do we need to simplify?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dirty="0">
                <a:solidFill>
                  <a:schemeClr val="tx1"/>
                </a:solidFill>
              </a:rPr>
              <a:t>Function/physiology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dirty="0">
                <a:solidFill>
                  <a:schemeClr val="tx1"/>
                </a:solidFill>
              </a:rPr>
              <a:t>Anatomy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C12BC9-8C82-D58B-CA63-1E86C1483A3A}"/>
              </a:ext>
            </a:extLst>
          </p:cNvPr>
          <p:cNvSpPr/>
          <p:nvPr/>
        </p:nvSpPr>
        <p:spPr>
          <a:xfrm>
            <a:off x="6956252" y="937753"/>
            <a:ext cx="3418375" cy="1620096"/>
          </a:xfrm>
          <a:prstGeom prst="rect">
            <a:avLst/>
          </a:prstGeom>
          <a:solidFill>
            <a:srgbClr val="7A81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3000" b="1" dirty="0">
                <a:solidFill>
                  <a:schemeClr val="tx1"/>
                </a:solidFill>
              </a:rPr>
              <a:t>WHERE</a:t>
            </a:r>
            <a:r>
              <a:rPr lang="en-IT" sz="2200" dirty="0">
                <a:solidFill>
                  <a:schemeClr val="tx1"/>
                </a:solidFill>
              </a:rPr>
              <a:t> do we need to simplify?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dirty="0">
                <a:solidFill>
                  <a:schemeClr val="tx1"/>
                </a:solidFill>
              </a:rPr>
              <a:t>What districts of the system?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dirty="0">
                <a:solidFill>
                  <a:schemeClr val="tx1"/>
                </a:solidFill>
              </a:rPr>
              <a:t>What spatial scales?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14E0D8-2E0A-2956-3052-BE9E354B37C0}"/>
              </a:ext>
            </a:extLst>
          </p:cNvPr>
          <p:cNvSpPr/>
          <p:nvPr/>
        </p:nvSpPr>
        <p:spPr>
          <a:xfrm>
            <a:off x="137365" y="3427568"/>
            <a:ext cx="3730781" cy="1665893"/>
          </a:xfrm>
          <a:prstGeom prst="rect">
            <a:avLst/>
          </a:prstGeom>
          <a:solidFill>
            <a:srgbClr val="A9D1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3000" b="1" dirty="0">
                <a:solidFill>
                  <a:schemeClr val="tx1"/>
                </a:solidFill>
              </a:rPr>
              <a:t>HOW</a:t>
            </a:r>
            <a:r>
              <a:rPr lang="en-IT" sz="2200" dirty="0">
                <a:solidFill>
                  <a:schemeClr val="tx1"/>
                </a:solidFill>
              </a:rPr>
              <a:t> can we simplify in a mathematically and biologically/physiologically valid way?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F93C4A-2DA7-E7A6-FCE5-CBCD18203C59}"/>
              </a:ext>
            </a:extLst>
          </p:cNvPr>
          <p:cNvSpPr/>
          <p:nvPr/>
        </p:nvSpPr>
        <p:spPr>
          <a:xfrm>
            <a:off x="2675330" y="5484513"/>
            <a:ext cx="3247128" cy="1093888"/>
          </a:xfrm>
          <a:prstGeom prst="rect">
            <a:avLst/>
          </a:prstGeom>
          <a:solidFill>
            <a:srgbClr val="FFFF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3000" b="1" dirty="0">
                <a:solidFill>
                  <a:schemeClr val="tx1"/>
                </a:solidFill>
              </a:rPr>
              <a:t>WHO?</a:t>
            </a:r>
          </a:p>
          <a:p>
            <a:pPr algn="ctr"/>
            <a:r>
              <a:rPr lang="en-GB" sz="2200" dirty="0">
                <a:solidFill>
                  <a:schemeClr val="tx1"/>
                </a:solidFill>
              </a:rPr>
              <a:t>Modellers</a:t>
            </a:r>
            <a:r>
              <a:rPr lang="en-IT" sz="2200" dirty="0">
                <a:solidFill>
                  <a:schemeClr val="tx1"/>
                </a:solidFill>
              </a:rPr>
              <a:t> and clinicians!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965C0B-ADDE-8C49-6280-25DF4C2E5D90}"/>
              </a:ext>
            </a:extLst>
          </p:cNvPr>
          <p:cNvSpPr/>
          <p:nvPr/>
        </p:nvSpPr>
        <p:spPr>
          <a:xfrm>
            <a:off x="7290489" y="3039759"/>
            <a:ext cx="4453482" cy="274456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3000" b="1" dirty="0">
                <a:solidFill>
                  <a:schemeClr val="tx1"/>
                </a:solidFill>
              </a:rPr>
              <a:t>WHEN</a:t>
            </a:r>
            <a:r>
              <a:rPr lang="en-IT" sz="2200" dirty="0">
                <a:solidFill>
                  <a:schemeClr val="tx1"/>
                </a:solidFill>
              </a:rPr>
              <a:t> do we need to simplify?</a:t>
            </a:r>
          </a:p>
          <a:p>
            <a:pPr algn="ctr"/>
            <a:r>
              <a:rPr lang="en-IT" sz="2200" dirty="0">
                <a:solidFill>
                  <a:schemeClr val="tx1"/>
                </a:solidFill>
              </a:rPr>
              <a:t>These choices are guided by the specific applications / scientific questions to answer / physiological hypotheses to test</a:t>
            </a:r>
          </a:p>
          <a:p>
            <a:pPr algn="ctr"/>
            <a:r>
              <a:rPr lang="en-IT" sz="2200" dirty="0">
                <a:solidFill>
                  <a:schemeClr val="tx1"/>
                </a:solidFill>
              </a:rPr>
              <a:t>…the </a:t>
            </a:r>
            <a:r>
              <a:rPr lang="en-IT" sz="3000" i="1" dirty="0">
                <a:solidFill>
                  <a:schemeClr val="tx1"/>
                </a:solidFill>
              </a:rPr>
              <a:t>context of use</a:t>
            </a:r>
            <a:r>
              <a:rPr lang="en-IT" sz="2200" i="1" dirty="0">
                <a:solidFill>
                  <a:schemeClr val="tx1"/>
                </a:solidFill>
              </a:rPr>
              <a:t> </a:t>
            </a:r>
            <a:r>
              <a:rPr lang="en-IT" sz="2200" dirty="0">
                <a:solidFill>
                  <a:schemeClr val="tx1"/>
                </a:solidFill>
              </a:rPr>
              <a:t>of the model!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8F2A4D16-FE52-2109-ACFA-D2A35D449D68}"/>
              </a:ext>
            </a:extLst>
          </p:cNvPr>
          <p:cNvSpPr/>
          <p:nvPr/>
        </p:nvSpPr>
        <p:spPr>
          <a:xfrm>
            <a:off x="4002332" y="1497781"/>
            <a:ext cx="1260389" cy="1338787"/>
          </a:xfrm>
          <a:custGeom>
            <a:avLst/>
            <a:gdLst>
              <a:gd name="csX0" fmla="*/ 0 w 1260389"/>
              <a:gd name="csY0" fmla="*/ 127824 h 1338787"/>
              <a:gd name="csX1" fmla="*/ 691978 w 1260389"/>
              <a:gd name="csY1" fmla="*/ 41327 h 1338787"/>
              <a:gd name="csX2" fmla="*/ 716692 w 1260389"/>
              <a:gd name="csY2" fmla="*/ 708592 h 1338787"/>
              <a:gd name="csX3" fmla="*/ 469557 w 1260389"/>
              <a:gd name="csY3" fmla="*/ 337889 h 1338787"/>
              <a:gd name="csX4" fmla="*/ 1099751 w 1260389"/>
              <a:gd name="csY4" fmla="*/ 362603 h 1338787"/>
              <a:gd name="csX5" fmla="*/ 1260389 w 1260389"/>
              <a:gd name="csY5" fmla="*/ 1338787 h 13387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260389" h="1338787">
                <a:moveTo>
                  <a:pt x="0" y="127824"/>
                </a:moveTo>
                <a:cubicBezTo>
                  <a:pt x="286264" y="36178"/>
                  <a:pt x="572529" y="-55468"/>
                  <a:pt x="691978" y="41327"/>
                </a:cubicBezTo>
                <a:cubicBezTo>
                  <a:pt x="811427" y="138122"/>
                  <a:pt x="753762" y="659165"/>
                  <a:pt x="716692" y="708592"/>
                </a:cubicBezTo>
                <a:cubicBezTo>
                  <a:pt x="679622" y="758019"/>
                  <a:pt x="405714" y="395554"/>
                  <a:pt x="469557" y="337889"/>
                </a:cubicBezTo>
                <a:cubicBezTo>
                  <a:pt x="533400" y="280224"/>
                  <a:pt x="967946" y="195787"/>
                  <a:pt x="1099751" y="362603"/>
                </a:cubicBezTo>
                <a:cubicBezTo>
                  <a:pt x="1231556" y="529419"/>
                  <a:pt x="1245972" y="934103"/>
                  <a:pt x="1260389" y="1338787"/>
                </a:cubicBezTo>
              </a:path>
            </a:pathLst>
          </a:custGeom>
          <a:noFill/>
          <a:ln w="38100">
            <a:solidFill>
              <a:srgbClr val="82D6FF"/>
            </a:solidFill>
            <a:headEnd type="triangl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2631017415"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7495EAF-2066-BA1A-7766-05DCCDBF1A0C}"/>
              </a:ext>
            </a:extLst>
          </p:cNvPr>
          <p:cNvSpPr/>
          <p:nvPr/>
        </p:nvSpPr>
        <p:spPr>
          <a:xfrm>
            <a:off x="5692251" y="1126540"/>
            <a:ext cx="1239890" cy="1567233"/>
          </a:xfrm>
          <a:custGeom>
            <a:avLst/>
            <a:gdLst>
              <a:gd name="csX0" fmla="*/ 350203 w 1239890"/>
              <a:gd name="csY0" fmla="*/ 1567233 h 1567233"/>
              <a:gd name="csX1" fmla="*/ 152495 w 1239890"/>
              <a:gd name="csY1" fmla="*/ 924682 h 1567233"/>
              <a:gd name="csX2" fmla="*/ 584981 w 1239890"/>
              <a:gd name="csY2" fmla="*/ 504552 h 1567233"/>
              <a:gd name="csX3" fmla="*/ 646765 w 1239890"/>
              <a:gd name="csY3" fmla="*/ 998822 h 1567233"/>
              <a:gd name="csX4" fmla="*/ 4214 w 1239890"/>
              <a:gd name="csY4" fmla="*/ 652833 h 1567233"/>
              <a:gd name="csX5" fmla="*/ 411987 w 1239890"/>
              <a:gd name="csY5" fmla="*/ 47352 h 1567233"/>
              <a:gd name="csX6" fmla="*/ 1239890 w 1239890"/>
              <a:gd name="csY6" fmla="*/ 84422 h 15672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239890" h="1567233">
                <a:moveTo>
                  <a:pt x="350203" y="1567233"/>
                </a:moveTo>
                <a:cubicBezTo>
                  <a:pt x="231784" y="1334514"/>
                  <a:pt x="113365" y="1101796"/>
                  <a:pt x="152495" y="924682"/>
                </a:cubicBezTo>
                <a:cubicBezTo>
                  <a:pt x="191625" y="747568"/>
                  <a:pt x="502603" y="492195"/>
                  <a:pt x="584981" y="504552"/>
                </a:cubicBezTo>
                <a:cubicBezTo>
                  <a:pt x="667359" y="516909"/>
                  <a:pt x="743559" y="974109"/>
                  <a:pt x="646765" y="998822"/>
                </a:cubicBezTo>
                <a:cubicBezTo>
                  <a:pt x="549971" y="1023535"/>
                  <a:pt x="43344" y="811411"/>
                  <a:pt x="4214" y="652833"/>
                </a:cubicBezTo>
                <a:cubicBezTo>
                  <a:pt x="-34916" y="494255"/>
                  <a:pt x="206041" y="142087"/>
                  <a:pt x="411987" y="47352"/>
                </a:cubicBezTo>
                <a:cubicBezTo>
                  <a:pt x="617933" y="-47383"/>
                  <a:pt x="928911" y="18519"/>
                  <a:pt x="1239890" y="84422"/>
                </a:cubicBezTo>
              </a:path>
            </a:pathLst>
          </a:custGeom>
          <a:noFill/>
          <a:ln w="38100">
            <a:solidFill>
              <a:srgbClr val="7A81FF"/>
            </a:solidFill>
            <a:headEnd type="non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2779745227"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910CAFC3-DBAB-08E5-43B2-73671F395154}"/>
              </a:ext>
            </a:extLst>
          </p:cNvPr>
          <p:cNvSpPr/>
          <p:nvPr/>
        </p:nvSpPr>
        <p:spPr>
          <a:xfrm>
            <a:off x="6101606" y="4275438"/>
            <a:ext cx="1188880" cy="1173892"/>
          </a:xfrm>
          <a:custGeom>
            <a:avLst/>
            <a:gdLst>
              <a:gd name="csX0" fmla="*/ 286837 w 1188880"/>
              <a:gd name="csY0" fmla="*/ 0 h 1173892"/>
              <a:gd name="csX1" fmla="*/ 200340 w 1188880"/>
              <a:gd name="csY1" fmla="*/ 568411 h 1173892"/>
              <a:gd name="csX2" fmla="*/ 756394 w 1188880"/>
              <a:gd name="csY2" fmla="*/ 902043 h 1173892"/>
              <a:gd name="csX3" fmla="*/ 398048 w 1188880"/>
              <a:gd name="csY3" fmla="*/ 395416 h 1173892"/>
              <a:gd name="csX4" fmla="*/ 27345 w 1188880"/>
              <a:gd name="csY4" fmla="*/ 988540 h 1173892"/>
              <a:gd name="csX5" fmla="*/ 1188880 w 1188880"/>
              <a:gd name="csY5" fmla="*/ 1173892 h 11738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1188880" h="1173892">
                <a:moveTo>
                  <a:pt x="286837" y="0"/>
                </a:moveTo>
                <a:cubicBezTo>
                  <a:pt x="204459" y="209035"/>
                  <a:pt x="122081" y="418071"/>
                  <a:pt x="200340" y="568411"/>
                </a:cubicBezTo>
                <a:cubicBezTo>
                  <a:pt x="278599" y="718751"/>
                  <a:pt x="723443" y="930875"/>
                  <a:pt x="756394" y="902043"/>
                </a:cubicBezTo>
                <a:cubicBezTo>
                  <a:pt x="789345" y="873211"/>
                  <a:pt x="519556" y="381000"/>
                  <a:pt x="398048" y="395416"/>
                </a:cubicBezTo>
                <a:cubicBezTo>
                  <a:pt x="276540" y="409832"/>
                  <a:pt x="-104460" y="858794"/>
                  <a:pt x="27345" y="988540"/>
                </a:cubicBezTo>
                <a:cubicBezTo>
                  <a:pt x="159150" y="1118286"/>
                  <a:pt x="674015" y="1146089"/>
                  <a:pt x="1188880" y="1173892"/>
                </a:cubicBezTo>
              </a:path>
            </a:pathLst>
          </a:custGeom>
          <a:noFill/>
          <a:ln w="38100">
            <a:solidFill>
              <a:schemeClr val="accent2">
                <a:lumMod val="40000"/>
                <a:lumOff val="60000"/>
              </a:schemeClr>
            </a:solidFill>
            <a:headEnd type="non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2583185347"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34D20170-B0B8-39AB-A6C6-ABF6F19610A6}"/>
              </a:ext>
            </a:extLst>
          </p:cNvPr>
          <p:cNvSpPr/>
          <p:nvPr/>
        </p:nvSpPr>
        <p:spPr>
          <a:xfrm>
            <a:off x="5250664" y="4411362"/>
            <a:ext cx="394106" cy="1087395"/>
          </a:xfrm>
          <a:custGeom>
            <a:avLst/>
            <a:gdLst>
              <a:gd name="csX0" fmla="*/ 384017 w 394106"/>
              <a:gd name="csY0" fmla="*/ 0 h 1087395"/>
              <a:gd name="csX1" fmla="*/ 346947 w 394106"/>
              <a:gd name="csY1" fmla="*/ 617838 h 1087395"/>
              <a:gd name="csX2" fmla="*/ 13314 w 394106"/>
              <a:gd name="csY2" fmla="*/ 778476 h 1087395"/>
              <a:gd name="csX3" fmla="*/ 87455 w 394106"/>
              <a:gd name="csY3" fmla="*/ 284206 h 1087395"/>
              <a:gd name="csX4" fmla="*/ 285163 w 394106"/>
              <a:gd name="csY4" fmla="*/ 617838 h 1087395"/>
              <a:gd name="csX5" fmla="*/ 87455 w 394106"/>
              <a:gd name="csY5" fmla="*/ 1087395 h 10873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94106" h="1087395">
                <a:moveTo>
                  <a:pt x="384017" y="0"/>
                </a:moveTo>
                <a:cubicBezTo>
                  <a:pt x="396374" y="244046"/>
                  <a:pt x="408731" y="488092"/>
                  <a:pt x="346947" y="617838"/>
                </a:cubicBezTo>
                <a:cubicBezTo>
                  <a:pt x="285163" y="747584"/>
                  <a:pt x="56563" y="834081"/>
                  <a:pt x="13314" y="778476"/>
                </a:cubicBezTo>
                <a:cubicBezTo>
                  <a:pt x="-29935" y="722871"/>
                  <a:pt x="42147" y="310979"/>
                  <a:pt x="87455" y="284206"/>
                </a:cubicBezTo>
                <a:cubicBezTo>
                  <a:pt x="132763" y="257433"/>
                  <a:pt x="285163" y="483973"/>
                  <a:pt x="285163" y="617838"/>
                </a:cubicBezTo>
                <a:cubicBezTo>
                  <a:pt x="285163" y="751703"/>
                  <a:pt x="186309" y="919549"/>
                  <a:pt x="87455" y="1087395"/>
                </a:cubicBezTo>
              </a:path>
            </a:pathLst>
          </a:custGeom>
          <a:noFill/>
          <a:ln w="38100">
            <a:solidFill>
              <a:srgbClr val="FFFF00"/>
            </a:solidFill>
            <a:headEnd type="non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2161360751"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AD16BE01-DF90-93B2-B0BA-4780E4F94AB4}"/>
              </a:ext>
            </a:extLst>
          </p:cNvPr>
          <p:cNvSpPr/>
          <p:nvPr/>
        </p:nvSpPr>
        <p:spPr>
          <a:xfrm>
            <a:off x="2965622" y="4572000"/>
            <a:ext cx="2051804" cy="833511"/>
          </a:xfrm>
          <a:custGeom>
            <a:avLst/>
            <a:gdLst>
              <a:gd name="csX0" fmla="*/ 1853513 w 2051804"/>
              <a:gd name="csY0" fmla="*/ 0 h 833511"/>
              <a:gd name="csX1" fmla="*/ 1717589 w 2051804"/>
              <a:gd name="csY1" fmla="*/ 593124 h 833511"/>
              <a:gd name="csX2" fmla="*/ 1272746 w 2051804"/>
              <a:gd name="csY2" fmla="*/ 543697 h 833511"/>
              <a:gd name="csX3" fmla="*/ 1445740 w 2051804"/>
              <a:gd name="csY3" fmla="*/ 284205 h 833511"/>
              <a:gd name="csX4" fmla="*/ 2026508 w 2051804"/>
              <a:gd name="csY4" fmla="*/ 494270 h 833511"/>
              <a:gd name="csX5" fmla="*/ 1865870 w 2051804"/>
              <a:gd name="csY5" fmla="*/ 766119 h 833511"/>
              <a:gd name="csX6" fmla="*/ 1136821 w 2051804"/>
              <a:gd name="csY6" fmla="*/ 803189 h 833511"/>
              <a:gd name="csX7" fmla="*/ 642551 w 2051804"/>
              <a:gd name="csY7" fmla="*/ 815546 h 833511"/>
              <a:gd name="csX8" fmla="*/ 0 w 2051804"/>
              <a:gd name="csY8" fmla="*/ 543697 h 83351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051804" h="833511">
                <a:moveTo>
                  <a:pt x="1853513" y="0"/>
                </a:moveTo>
                <a:cubicBezTo>
                  <a:pt x="1833948" y="251254"/>
                  <a:pt x="1814383" y="502508"/>
                  <a:pt x="1717589" y="593124"/>
                </a:cubicBezTo>
                <a:cubicBezTo>
                  <a:pt x="1620794" y="683740"/>
                  <a:pt x="1318054" y="595183"/>
                  <a:pt x="1272746" y="543697"/>
                </a:cubicBezTo>
                <a:cubicBezTo>
                  <a:pt x="1227438" y="492211"/>
                  <a:pt x="1320113" y="292443"/>
                  <a:pt x="1445740" y="284205"/>
                </a:cubicBezTo>
                <a:cubicBezTo>
                  <a:pt x="1571367" y="275967"/>
                  <a:pt x="1956486" y="413951"/>
                  <a:pt x="2026508" y="494270"/>
                </a:cubicBezTo>
                <a:cubicBezTo>
                  <a:pt x="2096530" y="574589"/>
                  <a:pt x="2014151" y="714633"/>
                  <a:pt x="1865870" y="766119"/>
                </a:cubicBezTo>
                <a:cubicBezTo>
                  <a:pt x="1717589" y="817605"/>
                  <a:pt x="1340707" y="794951"/>
                  <a:pt x="1136821" y="803189"/>
                </a:cubicBezTo>
                <a:cubicBezTo>
                  <a:pt x="932935" y="811427"/>
                  <a:pt x="832021" y="858795"/>
                  <a:pt x="642551" y="815546"/>
                </a:cubicBezTo>
                <a:cubicBezTo>
                  <a:pt x="453081" y="772297"/>
                  <a:pt x="226540" y="657997"/>
                  <a:pt x="0" y="543697"/>
                </a:cubicBezTo>
              </a:path>
            </a:pathLst>
          </a:custGeom>
          <a:noFill/>
          <a:ln w="38100">
            <a:solidFill>
              <a:srgbClr val="A9D18E"/>
            </a:solidFill>
            <a:headEnd type="none" w="med" len="med"/>
            <a:tailEnd type="triangle" w="med" len="med"/>
            <a:extLst>
              <a:ext uri="{C807C97D-BFC1-408E-A445-0C87EB9F89A2}">
                <ask:lineSketchStyleProps xmlns:ask="http://schemas.microsoft.com/office/drawing/2018/sketchyshapes" sd="1866028911"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56666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FE763-863D-483A-0EEB-73506AA40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C22401-CA3D-71E8-BD39-CAE9370A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CVS modelling &amp; Context of use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9B78EA25-ADFD-5D18-BD33-FD731688A8FC}"/>
                  </a:ext>
                </a:extLst>
              </p:cNvPr>
              <p:cNvSpPr/>
              <p:nvPr/>
            </p:nvSpPr>
            <p:spPr>
              <a:xfrm>
                <a:off x="2012092" y="894435"/>
                <a:ext cx="7762104" cy="85966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4000" b="1" dirty="0">
                    <a:solidFill>
                      <a:sysClr val="windowText" lastClr="000000"/>
                    </a:solidFill>
                  </a:rPr>
                  <a:t>💡 a </a:t>
                </a:r>
                <a:r>
                  <a:rPr lang="en-GB" sz="4000" b="1" dirty="0">
                    <a:solidFill>
                      <a:sysClr val="windowText" lastClr="000000"/>
                    </a:solidFill>
                  </a:rPr>
                  <a:t>context</a:t>
                </a:r>
                <a:r>
                  <a:rPr lang="en-IT" sz="4000" b="1" dirty="0">
                    <a:solidFill>
                      <a:sysClr val="windowText" lastClr="000000"/>
                    </a:solidFill>
                  </a:rPr>
                  <a:t> of use </a:t>
                </a:r>
                <a14:m>
                  <m:oMath xmlns:m="http://schemas.openxmlformats.org/officeDocument/2006/math">
                    <m:r>
                      <a:rPr lang="en-IT" sz="4000" b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⇄</m:t>
                    </m:r>
                  </m:oMath>
                </a14:m>
                <a:r>
                  <a:rPr lang="en-IT" sz="4000" b="1" dirty="0">
                    <a:solidFill>
                      <a:sysClr val="windowText" lastClr="000000"/>
                    </a:solidFill>
                  </a:rPr>
                  <a:t> a CVS model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9B78EA25-ADFD-5D18-BD33-FD731688A8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092" y="894435"/>
                <a:ext cx="7762104" cy="859664"/>
              </a:xfrm>
              <a:prstGeom prst="roundRect">
                <a:avLst/>
              </a:prstGeom>
              <a:blipFill>
                <a:blip r:embed="rId2"/>
                <a:stretch>
                  <a:fillRect l="-326" t="-1408" r="-489" b="-18310"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diagram of a heart system&#10;&#10;AI-generated content may be incorrect.">
            <a:extLst>
              <a:ext uri="{FF2B5EF4-FFF2-40B4-BE49-F238E27FC236}">
                <a16:creationId xmlns:a16="http://schemas.microsoft.com/office/drawing/2014/main" id="{A6BA80B5-F27C-02B6-BBD4-953DC2929D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4973" y="2913081"/>
            <a:ext cx="3516726" cy="270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1ED74F-7D3D-7915-BF60-3A128DC1B8E2}"/>
              </a:ext>
            </a:extLst>
          </p:cNvPr>
          <p:cNvSpPr txBox="1"/>
          <p:nvPr/>
        </p:nvSpPr>
        <p:spPr>
          <a:xfrm>
            <a:off x="8021453" y="5517571"/>
            <a:ext cx="4214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sz="2000" dirty="0"/>
              <a:t>A </a:t>
            </a:r>
            <a:r>
              <a:rPr lang="en-IT" b="1" dirty="0"/>
              <a:t>simplified</a:t>
            </a:r>
            <a:r>
              <a:rPr lang="en-IT" sz="2000" b="1" dirty="0"/>
              <a:t> circulatory system model</a:t>
            </a:r>
            <a:r>
              <a:rPr lang="en-IT" sz="2000" baseline="30000" dirty="0"/>
              <a:t>2</a:t>
            </a:r>
          </a:p>
        </p:txBody>
      </p:sp>
      <p:sp>
        <p:nvSpPr>
          <p:cNvPr id="11" name="Footer Placeholder 11">
            <a:extLst>
              <a:ext uri="{FF2B5EF4-FFF2-40B4-BE49-F238E27FC236}">
                <a16:creationId xmlns:a16="http://schemas.microsoft.com/office/drawing/2014/main" id="{EB54BA41-E192-DB74-647D-400A97A20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98111" y="6217733"/>
            <a:ext cx="4601653" cy="615553"/>
          </a:xfrm>
        </p:spPr>
        <p:txBody>
          <a:bodyPr/>
          <a:lstStyle/>
          <a:p>
            <a:pPr algn="l"/>
            <a:r>
              <a:rPr lang="en-GB" baseline="30000" dirty="0"/>
              <a:t>1</a:t>
            </a:r>
            <a:r>
              <a:rPr lang="en-IT" sz="1200" dirty="0"/>
              <a:t> taken from Müller et al. (2023), doi: </a:t>
            </a:r>
            <a:r>
              <a:rPr lang="en-GB" sz="1200" b="0" i="0" u="none" strike="noStrike" dirty="0">
                <a:effectLst/>
                <a:latin typeface="MuseoSans"/>
                <a:hlinkClick r:id="rId4"/>
              </a:rPr>
              <a:t>10.3389/fphys.2023.1162391</a:t>
            </a:r>
            <a:endParaRPr lang="en-GB" dirty="0"/>
          </a:p>
          <a:p>
            <a:pPr algn="l"/>
            <a:r>
              <a:rPr lang="en-GB" baseline="30000" dirty="0"/>
              <a:t>2 </a:t>
            </a:r>
            <a:r>
              <a:rPr lang="en-GB" dirty="0"/>
              <a:t> </a:t>
            </a:r>
            <a:r>
              <a:rPr lang="en-IT" sz="1200" dirty="0"/>
              <a:t>taken from Argus et al. (2022), doi: </a:t>
            </a:r>
            <a:r>
              <a:rPr lang="en-GB" sz="1200" b="0" i="0" u="none" strike="noStrike" dirty="0">
                <a:effectLst/>
                <a:latin typeface="MuseoSans"/>
                <a:hlinkClick r:id="rId5"/>
              </a:rPr>
              <a:t>10.3389/fphys.2022.1018134</a:t>
            </a:r>
            <a:endParaRPr lang="en-GB" sz="1200" b="0" i="0" u="none" strike="noStrike" dirty="0">
              <a:effectLst/>
              <a:latin typeface="MuseoSans"/>
            </a:endParaRPr>
          </a:p>
        </p:txBody>
      </p:sp>
      <p:pic>
        <p:nvPicPr>
          <p:cNvPr id="12" name="Picture 11" descr="A diagram of the arteries and veins of the head&#10;&#10;AI-generated content may be incorrect.">
            <a:extLst>
              <a:ext uri="{FF2B5EF4-FFF2-40B4-BE49-F238E27FC236}">
                <a16:creationId xmlns:a16="http://schemas.microsoft.com/office/drawing/2014/main" id="{7FB474D7-B55E-C1F8-5DC1-382A0FE39C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5" y="4110478"/>
            <a:ext cx="4956339" cy="27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61045F5-90EC-00BB-68B1-4B3300045C55}"/>
              </a:ext>
            </a:extLst>
          </p:cNvPr>
          <p:cNvSpPr txBox="1"/>
          <p:nvPr/>
        </p:nvSpPr>
        <p:spPr>
          <a:xfrm>
            <a:off x="5018124" y="5963566"/>
            <a:ext cx="1891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T" b="1" dirty="0"/>
              <a:t>ADAVN model</a:t>
            </a:r>
            <a:r>
              <a:rPr lang="en-IT" baseline="30000" dirty="0"/>
              <a:t>1</a:t>
            </a:r>
            <a:endParaRPr lang="en-IT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79F6F2F7-2510-53D4-E086-12D68BCED313}"/>
              </a:ext>
            </a:extLst>
          </p:cNvPr>
          <p:cNvSpPr/>
          <p:nvPr/>
        </p:nvSpPr>
        <p:spPr>
          <a:xfrm>
            <a:off x="1222551" y="1873164"/>
            <a:ext cx="2634805" cy="9144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Anatomical complexity/simplification &amp; </a:t>
            </a:r>
            <a:r>
              <a:rPr lang="en-GB" dirty="0">
                <a:solidFill>
                  <a:schemeClr val="tx1"/>
                </a:solidFill>
              </a:rPr>
              <a:t>Personalisation</a:t>
            </a:r>
            <a:endParaRPr lang="en-IT" dirty="0">
              <a:solidFill>
                <a:schemeClr val="tx1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5E83A28-56C1-9047-D7C1-2AAFA092AAB6}"/>
              </a:ext>
            </a:extLst>
          </p:cNvPr>
          <p:cNvSpPr/>
          <p:nvPr/>
        </p:nvSpPr>
        <p:spPr>
          <a:xfrm>
            <a:off x="5855226" y="1957864"/>
            <a:ext cx="2360756" cy="9144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Model reduction and Hetero-dimensional models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7C2F1121-8FE3-50A6-3395-567C1FEDD8CD}"/>
              </a:ext>
            </a:extLst>
          </p:cNvPr>
          <p:cNvSpPr/>
          <p:nvPr/>
        </p:nvSpPr>
        <p:spPr>
          <a:xfrm>
            <a:off x="8962167" y="1817995"/>
            <a:ext cx="1890461" cy="9144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Interactions with other systems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3D339359-5692-1D7C-B163-E8851025F8B2}"/>
              </a:ext>
            </a:extLst>
          </p:cNvPr>
          <p:cNvSpPr/>
          <p:nvPr/>
        </p:nvSpPr>
        <p:spPr>
          <a:xfrm>
            <a:off x="5111102" y="4147331"/>
            <a:ext cx="3110893" cy="9144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dirty="0">
                <a:solidFill>
                  <a:schemeClr val="tx1"/>
                </a:solidFill>
              </a:rPr>
              <a:t>Model sophistication for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biological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chemeClr val="tx1"/>
                </a:solidFill>
              </a:rPr>
              <a:t>mechanical characteristics </a:t>
            </a:r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6D7226F2-C881-D144-1FC3-4A0E9D1FCB6F}"/>
              </a:ext>
            </a:extLst>
          </p:cNvPr>
          <p:cNvSpPr/>
          <p:nvPr/>
        </p:nvSpPr>
        <p:spPr>
          <a:xfrm>
            <a:off x="3566457" y="2991329"/>
            <a:ext cx="2903334" cy="9144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Accuracy vs Computational cost (time-sensitive clinical applications)</a:t>
            </a:r>
          </a:p>
        </p:txBody>
      </p:sp>
      <p:sp>
        <p:nvSpPr>
          <p:cNvPr id="26" name="Rounded Rectangle 5">
            <a:extLst>
              <a:ext uri="{FF2B5EF4-FFF2-40B4-BE49-F238E27FC236}">
                <a16:creationId xmlns:a16="http://schemas.microsoft.com/office/drawing/2014/main" id="{EB144368-38D4-6D0C-A19B-DC2C7D60C048}"/>
              </a:ext>
            </a:extLst>
          </p:cNvPr>
          <p:cNvSpPr/>
          <p:nvPr/>
        </p:nvSpPr>
        <p:spPr>
          <a:xfrm>
            <a:off x="832563" y="2971800"/>
            <a:ext cx="1717040" cy="914400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T">
                <a:solidFill>
                  <a:schemeClr val="tx1"/>
                </a:solidFill>
              </a:rPr>
              <a:t>Physiological personalization</a:t>
            </a:r>
          </a:p>
        </p:txBody>
      </p:sp>
    </p:spTree>
    <p:extLst>
      <p:ext uri="{BB962C8B-B14F-4D97-AF65-F5344CB8AC3E}">
        <p14:creationId xmlns:p14="http://schemas.microsoft.com/office/powerpoint/2010/main" val="3730449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10D5C-0A2C-4475-2DB7-53E4A1790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861F58-13A0-D166-8D5D-36EC3FB3D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CVS modelling &amp; Context of use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B2BE6F60-46EE-F2CF-2D78-5F223A17289A}"/>
              </a:ext>
            </a:extLst>
          </p:cNvPr>
          <p:cNvSpPr/>
          <p:nvPr/>
        </p:nvSpPr>
        <p:spPr>
          <a:xfrm>
            <a:off x="2011987" y="2787760"/>
            <a:ext cx="8168026" cy="12824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4000" b="1" dirty="0">
                <a:solidFill>
                  <a:sysClr val="windowText" lastClr="000000"/>
                </a:solidFill>
              </a:rPr>
              <a:t>💡🤔 </a:t>
            </a:r>
            <a:r>
              <a:rPr lang="en-IT" sz="3000" dirty="0">
                <a:solidFill>
                  <a:sysClr val="windowText" lastClr="000000"/>
                </a:solidFill>
              </a:rPr>
              <a:t>Now, think of your </a:t>
            </a:r>
            <a:r>
              <a:rPr lang="en-GB" sz="3000" dirty="0">
                <a:solidFill>
                  <a:sysClr val="windowText" lastClr="000000"/>
                </a:solidFill>
              </a:rPr>
              <a:t>context</a:t>
            </a:r>
            <a:r>
              <a:rPr lang="en-IT" sz="3000" dirty="0">
                <a:solidFill>
                  <a:sysClr val="windowText" lastClr="000000"/>
                </a:solidFill>
              </a:rPr>
              <a:t> of use and keep it </a:t>
            </a:r>
            <a:r>
              <a:rPr lang="en-GB" sz="3000" dirty="0">
                <a:solidFill>
                  <a:sysClr val="windowText" lastClr="000000"/>
                </a:solidFill>
              </a:rPr>
              <a:t>in mind…</a:t>
            </a:r>
            <a:endParaRPr lang="en-IT" sz="3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681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5CCC2-E0D1-BE71-3BBA-80E38B84C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BF17B2-9894-A6FA-E0F5-21945E81B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CVS modelling &amp; Context of use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A28CC3A6-4BD0-8167-9BC7-E172C208C2E9}"/>
                  </a:ext>
                </a:extLst>
              </p:cNvPr>
              <p:cNvSpPr/>
              <p:nvPr/>
            </p:nvSpPr>
            <p:spPr>
              <a:xfrm>
                <a:off x="2923345" y="939946"/>
                <a:ext cx="7762104" cy="85966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4000" b="1" dirty="0">
                    <a:solidFill>
                      <a:sysClr val="windowText" lastClr="000000"/>
                    </a:solidFill>
                  </a:rPr>
                  <a:t>💡 a </a:t>
                </a:r>
                <a:r>
                  <a:rPr lang="en-GB" sz="4000" b="1" dirty="0">
                    <a:solidFill>
                      <a:sysClr val="windowText" lastClr="000000"/>
                    </a:solidFill>
                  </a:rPr>
                  <a:t>context</a:t>
                </a:r>
                <a:r>
                  <a:rPr lang="en-IT" sz="4000" b="1" dirty="0">
                    <a:solidFill>
                      <a:sysClr val="windowText" lastClr="000000"/>
                    </a:solidFill>
                  </a:rPr>
                  <a:t> of use </a:t>
                </a:r>
                <a14:m>
                  <m:oMath xmlns:m="http://schemas.openxmlformats.org/officeDocument/2006/math">
                    <m:r>
                      <a:rPr lang="en-IT" sz="4000" b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⇄</m:t>
                    </m:r>
                  </m:oMath>
                </a14:m>
                <a:r>
                  <a:rPr lang="en-IT" sz="4000" b="1" dirty="0">
                    <a:solidFill>
                      <a:sysClr val="windowText" lastClr="000000"/>
                    </a:solidFill>
                  </a:rPr>
                  <a:t> a CVS model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A28CC3A6-4BD0-8167-9BC7-E172C208C2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345" y="939946"/>
                <a:ext cx="7762104" cy="859664"/>
              </a:xfrm>
              <a:prstGeom prst="roundRect">
                <a:avLst/>
              </a:prstGeom>
              <a:blipFill>
                <a:blip r:embed="rId2"/>
                <a:stretch>
                  <a:fillRect l="-489" t="-1389" r="-326" b="-16667"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D0B2D6D7-9452-3457-FAB9-EEE0DC478FAD}"/>
              </a:ext>
            </a:extLst>
          </p:cNvPr>
          <p:cNvSpPr/>
          <p:nvPr/>
        </p:nvSpPr>
        <p:spPr>
          <a:xfrm>
            <a:off x="8359418" y="2293634"/>
            <a:ext cx="2360756" cy="914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Model reduction and Hetero-dimensional models</a:t>
            </a:r>
          </a:p>
        </p:txBody>
      </p:sp>
    </p:spTree>
    <p:extLst>
      <p:ext uri="{BB962C8B-B14F-4D97-AF65-F5344CB8AC3E}">
        <p14:creationId xmlns:p14="http://schemas.microsoft.com/office/powerpoint/2010/main" val="3244702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0BCF4-23EF-6850-075C-F9CE2DAE2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ABC94B-217F-5F8B-EC4D-A949C5220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CVS modelling &amp; Context of use</a:t>
            </a:r>
          </a:p>
        </p:txBody>
      </p:sp>
      <p:pic>
        <p:nvPicPr>
          <p:cNvPr id="28" name="Picture 27" descr="A red line drawing of a human body&#10;&#10;AI-generated content may be incorrect.">
            <a:extLst>
              <a:ext uri="{FF2B5EF4-FFF2-40B4-BE49-F238E27FC236}">
                <a16:creationId xmlns:a16="http://schemas.microsoft.com/office/drawing/2014/main" id="{45A4CD18-BBBA-9902-E700-376E69E31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426" y="1601860"/>
            <a:ext cx="1410447" cy="2802254"/>
          </a:xfrm>
          <a:prstGeom prst="rect">
            <a:avLst/>
          </a:prstGeom>
        </p:spPr>
      </p:pic>
      <p:pic>
        <p:nvPicPr>
          <p:cNvPr id="29" name="Picture 28" descr="A diagram of a heart and a red twig&#10;&#10;AI-generated content may be incorrect.">
            <a:extLst>
              <a:ext uri="{FF2B5EF4-FFF2-40B4-BE49-F238E27FC236}">
                <a16:creationId xmlns:a16="http://schemas.microsoft.com/office/drawing/2014/main" id="{C5126739-FF4B-2CEA-BE58-02A2C6D86C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670" y="2578813"/>
            <a:ext cx="1912008" cy="280225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5B0AC08-F3C5-CC4D-93D9-DFFDB9C5B5A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3187"/>
          <a:stretch>
            <a:fillRect/>
          </a:stretch>
        </p:blipFill>
        <p:spPr>
          <a:xfrm>
            <a:off x="2739067" y="5356489"/>
            <a:ext cx="2323611" cy="927100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2741C8E6-75F4-279C-2607-5221D1D48F1D}"/>
              </a:ext>
            </a:extLst>
          </p:cNvPr>
          <p:cNvGrpSpPr/>
          <p:nvPr/>
        </p:nvGrpSpPr>
        <p:grpSpPr>
          <a:xfrm>
            <a:off x="-25586" y="1788199"/>
            <a:ext cx="6829983" cy="5122324"/>
            <a:chOff x="2198063" y="948420"/>
            <a:chExt cx="6829983" cy="5122324"/>
          </a:xfrm>
        </p:grpSpPr>
        <p:sp>
          <p:nvSpPr>
            <p:cNvPr id="32" name="Rounded Rectangle 31">
              <a:extLst>
                <a:ext uri="{FF2B5EF4-FFF2-40B4-BE49-F238E27FC236}">
                  <a16:creationId xmlns:a16="http://schemas.microsoft.com/office/drawing/2014/main" id="{E7450378-4B09-87CB-9A71-CDCBE83F3DE4}"/>
                </a:ext>
              </a:extLst>
            </p:cNvPr>
            <p:cNvSpPr/>
            <p:nvPr/>
          </p:nvSpPr>
          <p:spPr>
            <a:xfrm>
              <a:off x="6570599" y="1324265"/>
              <a:ext cx="1107440" cy="914400"/>
            </a:xfrm>
            <a:prstGeom prst="roundRect">
              <a:avLst/>
            </a:prstGeom>
            <a:solidFill>
              <a:srgbClr val="FF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3D models</a:t>
              </a:r>
            </a:p>
          </p:txBody>
        </p:sp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698D0BE7-3B9C-21EA-00FC-DE162CDB9E86}"/>
                </a:ext>
              </a:extLst>
            </p:cNvPr>
            <p:cNvSpPr/>
            <p:nvPr/>
          </p:nvSpPr>
          <p:spPr>
            <a:xfrm>
              <a:off x="5177730" y="2921940"/>
              <a:ext cx="1107440" cy="9144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1D models</a:t>
              </a:r>
            </a:p>
          </p:txBody>
        </p:sp>
        <p:sp>
          <p:nvSpPr>
            <p:cNvPr id="34" name="Rounded Rectangle 33">
              <a:extLst>
                <a:ext uri="{FF2B5EF4-FFF2-40B4-BE49-F238E27FC236}">
                  <a16:creationId xmlns:a16="http://schemas.microsoft.com/office/drawing/2014/main" id="{81C10E22-002F-0102-00BC-0E2D6A0D280B}"/>
                </a:ext>
              </a:extLst>
            </p:cNvPr>
            <p:cNvSpPr/>
            <p:nvPr/>
          </p:nvSpPr>
          <p:spPr>
            <a:xfrm>
              <a:off x="3761480" y="4376028"/>
              <a:ext cx="1107440" cy="9144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0D models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9805188E-254A-679D-B409-7C0F5242415E}"/>
                </a:ext>
              </a:extLst>
            </p:cNvPr>
            <p:cNvSpPr txBox="1"/>
            <p:nvPr/>
          </p:nvSpPr>
          <p:spPr>
            <a:xfrm>
              <a:off x="2198063" y="948420"/>
              <a:ext cx="13020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Accuracy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7F08C8-DE01-692C-6599-9ADA3317C68A}"/>
                </a:ext>
              </a:extLst>
            </p:cNvPr>
            <p:cNvSpPr txBox="1"/>
            <p:nvPr/>
          </p:nvSpPr>
          <p:spPr>
            <a:xfrm>
              <a:off x="6413099" y="5609079"/>
              <a:ext cx="2614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Computational cost</a:t>
              </a: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4A1100D-6EC9-A619-8356-FC525563F3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0151" y="1228568"/>
              <a:ext cx="0" cy="432000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830E93AB-08CB-328E-539A-A8578D2EA29D}"/>
                </a:ext>
              </a:extLst>
            </p:cNvPr>
            <p:cNvCxnSpPr>
              <a:cxnSpLocks/>
            </p:cNvCxnSpPr>
            <p:nvPr/>
          </p:nvCxnSpPr>
          <p:spPr>
            <a:xfrm>
              <a:off x="3485636" y="5526444"/>
              <a:ext cx="4320000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3FB3F62C-64D1-B547-D693-B2AC12FE8DD3}"/>
                  </a:ext>
                </a:extLst>
              </p:cNvPr>
              <p:cNvSpPr/>
              <p:nvPr/>
            </p:nvSpPr>
            <p:spPr>
              <a:xfrm>
                <a:off x="2923345" y="939946"/>
                <a:ext cx="7762104" cy="859664"/>
              </a:xfrm>
              <a:prstGeom prst="round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28575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4000" b="1" dirty="0">
                    <a:solidFill>
                      <a:sysClr val="windowText" lastClr="000000"/>
                    </a:solidFill>
                  </a:rPr>
                  <a:t>💡 a </a:t>
                </a:r>
                <a:r>
                  <a:rPr lang="en-GB" sz="4000" b="1" dirty="0">
                    <a:solidFill>
                      <a:sysClr val="windowText" lastClr="000000"/>
                    </a:solidFill>
                  </a:rPr>
                  <a:t>context</a:t>
                </a:r>
                <a:r>
                  <a:rPr lang="en-IT" sz="4000" b="1" dirty="0">
                    <a:solidFill>
                      <a:sysClr val="windowText" lastClr="000000"/>
                    </a:solidFill>
                  </a:rPr>
                  <a:t> of use </a:t>
                </a:r>
                <a14:m>
                  <m:oMath xmlns:m="http://schemas.openxmlformats.org/officeDocument/2006/math">
                    <m:r>
                      <a:rPr lang="en-IT" sz="4000" b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⇄</m:t>
                    </m:r>
                  </m:oMath>
                </a14:m>
                <a:r>
                  <a:rPr lang="en-IT" sz="4000" b="1" dirty="0">
                    <a:solidFill>
                      <a:sysClr val="windowText" lastClr="000000"/>
                    </a:solidFill>
                  </a:rPr>
                  <a:t> a CVS model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3FB3F62C-64D1-B547-D693-B2AC12FE8DD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3345" y="939946"/>
                <a:ext cx="7762104" cy="859664"/>
              </a:xfrm>
              <a:prstGeom prst="roundRect">
                <a:avLst/>
              </a:prstGeom>
              <a:blipFill>
                <a:blip r:embed="rId5"/>
                <a:stretch>
                  <a:fillRect l="-489" t="-1389" r="-326" b="-16667"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EE19F2E-D16D-D7C4-8B14-07C4D78D46D2}"/>
              </a:ext>
            </a:extLst>
          </p:cNvPr>
          <p:cNvSpPr/>
          <p:nvPr/>
        </p:nvSpPr>
        <p:spPr>
          <a:xfrm>
            <a:off x="7685688" y="3761719"/>
            <a:ext cx="4144361" cy="145408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3200" dirty="0">
                <a:solidFill>
                  <a:sysClr val="windowText" lastClr="000000"/>
                </a:solidFill>
              </a:rPr>
              <a:t>Geometric multi-scale modelling approach</a:t>
            </a:r>
          </a:p>
        </p:txBody>
      </p:sp>
      <p:sp>
        <p:nvSpPr>
          <p:cNvPr id="9" name="Down Arrow 8">
            <a:extLst>
              <a:ext uri="{FF2B5EF4-FFF2-40B4-BE49-F238E27FC236}">
                <a16:creationId xmlns:a16="http://schemas.microsoft.com/office/drawing/2014/main" id="{5FD94117-DCBB-BB36-06E4-B8A526970C40}"/>
              </a:ext>
            </a:extLst>
          </p:cNvPr>
          <p:cNvSpPr/>
          <p:nvPr/>
        </p:nvSpPr>
        <p:spPr>
          <a:xfrm>
            <a:off x="8125428" y="1886003"/>
            <a:ext cx="382047" cy="1806696"/>
          </a:xfrm>
          <a:prstGeom prst="downArrow">
            <a:avLst/>
          </a:prstGeom>
          <a:solidFill>
            <a:schemeClr val="accent5"/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4000" b="1">
              <a:solidFill>
                <a:sysClr val="windowText" lastClr="000000"/>
              </a:solidFill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CCBCC3D-BB9C-5764-7D37-2277609DB5E9}"/>
              </a:ext>
            </a:extLst>
          </p:cNvPr>
          <p:cNvSpPr/>
          <p:nvPr/>
        </p:nvSpPr>
        <p:spPr>
          <a:xfrm>
            <a:off x="8359418" y="2293634"/>
            <a:ext cx="2360756" cy="9144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Model reduction and Hetero-dimensional models</a:t>
            </a:r>
          </a:p>
        </p:txBody>
      </p:sp>
      <p:sp>
        <p:nvSpPr>
          <p:cNvPr id="10" name="Footer Placeholder 14">
            <a:extLst>
              <a:ext uri="{FF2B5EF4-FFF2-40B4-BE49-F238E27FC236}">
                <a16:creationId xmlns:a16="http://schemas.microsoft.com/office/drawing/2014/main" id="{E713852E-848B-F27A-10E7-147F80192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29223" y="6342080"/>
            <a:ext cx="3398526" cy="490734"/>
          </a:xfrm>
        </p:spPr>
        <p:txBody>
          <a:bodyPr/>
          <a:lstStyle/>
          <a:p>
            <a:pPr algn="l"/>
            <a:r>
              <a:rPr lang="en-GB" dirty="0" err="1"/>
              <a:t>Formaggia</a:t>
            </a:r>
            <a:r>
              <a:rPr lang="en-GB" dirty="0"/>
              <a:t>, </a:t>
            </a:r>
            <a:r>
              <a:rPr lang="en-GB" dirty="0" err="1"/>
              <a:t>Quarteroni</a:t>
            </a:r>
            <a:r>
              <a:rPr lang="en-GB" dirty="0"/>
              <a:t> &amp; </a:t>
            </a:r>
            <a:r>
              <a:rPr lang="en-GB" dirty="0" err="1"/>
              <a:t>Veneziani</a:t>
            </a:r>
            <a:r>
              <a:rPr lang="en-GB" dirty="0"/>
              <a:t>, Eds, (2009),  </a:t>
            </a:r>
            <a:r>
              <a:rPr lang="en-GB" dirty="0" err="1"/>
              <a:t>doi</a:t>
            </a:r>
            <a:r>
              <a:rPr lang="en-GB" dirty="0"/>
              <a:t>: </a:t>
            </a:r>
            <a:r>
              <a:rPr lang="en-GB" dirty="0">
                <a:ea typeface="+mn-lt"/>
                <a:cs typeface="+mn-lt"/>
                <a:hlinkClick r:id="rId6"/>
              </a:rPr>
              <a:t>10.1007/978-88-470-1152-6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67192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AC409-10A4-E314-7E3B-A11A4C489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ABBB108-3F76-E27A-4F70-4CE1A191F912}"/>
              </a:ext>
            </a:extLst>
          </p:cNvPr>
          <p:cNvGrpSpPr/>
          <p:nvPr/>
        </p:nvGrpSpPr>
        <p:grpSpPr>
          <a:xfrm>
            <a:off x="2428080" y="880126"/>
            <a:ext cx="7373940" cy="5977874"/>
            <a:chOff x="2681008" y="440063"/>
            <a:chExt cx="7373940" cy="5977874"/>
          </a:xfrm>
        </p:grpSpPr>
        <p:pic>
          <p:nvPicPr>
            <p:cNvPr id="7" name="Picture 6" descr="A red line drawing of a human body&#10;&#10;AI-generated content may be incorrect.">
              <a:extLst>
                <a:ext uri="{FF2B5EF4-FFF2-40B4-BE49-F238E27FC236}">
                  <a16:creationId xmlns:a16="http://schemas.microsoft.com/office/drawing/2014/main" id="{4BB724F4-4687-F3CC-A1EA-2EC5C60B1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59894" y="924079"/>
              <a:ext cx="1410447" cy="2802254"/>
            </a:xfrm>
            <a:prstGeom prst="rect">
              <a:avLst/>
            </a:prstGeom>
          </p:spPr>
        </p:pic>
        <p:pic>
          <p:nvPicPr>
            <p:cNvPr id="8" name="Picture 7" descr="A diagram of a heart and a red twig&#10;&#10;AI-generated content may be incorrect.">
              <a:extLst>
                <a:ext uri="{FF2B5EF4-FFF2-40B4-BE49-F238E27FC236}">
                  <a16:creationId xmlns:a16="http://schemas.microsoft.com/office/drawing/2014/main" id="{7C91B1FE-6446-0366-F08A-B0EEBAB86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2940" y="440063"/>
              <a:ext cx="1912008" cy="280225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4F517F1-DF89-2D3E-2B4A-629BE7606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63187"/>
            <a:stretch>
              <a:fillRect/>
            </a:stretch>
          </p:blipFill>
          <p:spPr>
            <a:xfrm>
              <a:off x="5445661" y="4863903"/>
              <a:ext cx="2323611" cy="927100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D2FB2B-5134-B4E1-A78E-B7D09636AB8F}"/>
                </a:ext>
              </a:extLst>
            </p:cNvPr>
            <p:cNvGrpSpPr/>
            <p:nvPr/>
          </p:nvGrpSpPr>
          <p:grpSpPr>
            <a:xfrm>
              <a:off x="2681008" y="1295613"/>
              <a:ext cx="6829983" cy="5122324"/>
              <a:chOff x="2198063" y="948420"/>
              <a:chExt cx="6829983" cy="5122324"/>
            </a:xfrm>
          </p:grpSpPr>
          <p:sp>
            <p:nvSpPr>
              <p:cNvPr id="11" name="Rounded Rectangle 10">
                <a:extLst>
                  <a:ext uri="{FF2B5EF4-FFF2-40B4-BE49-F238E27FC236}">
                    <a16:creationId xmlns:a16="http://schemas.microsoft.com/office/drawing/2014/main" id="{77448532-92D5-78A0-2834-C107BA671125}"/>
                  </a:ext>
                </a:extLst>
              </p:cNvPr>
              <p:cNvSpPr/>
              <p:nvPr/>
            </p:nvSpPr>
            <p:spPr>
              <a:xfrm>
                <a:off x="6570599" y="1324265"/>
                <a:ext cx="1107440" cy="914400"/>
              </a:xfrm>
              <a:prstGeom prst="roundRect">
                <a:avLst/>
              </a:prstGeom>
              <a:solidFill>
                <a:srgbClr val="FF0000"/>
              </a:solidFill>
              <a:ln w="381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200" dirty="0">
                    <a:solidFill>
                      <a:sysClr val="windowText" lastClr="000000"/>
                    </a:solidFill>
                  </a:rPr>
                  <a:t>3D models</a:t>
                </a:r>
              </a:p>
            </p:txBody>
          </p:sp>
          <p:sp>
            <p:nvSpPr>
              <p:cNvPr id="12" name="Rounded Rectangle 11">
                <a:extLst>
                  <a:ext uri="{FF2B5EF4-FFF2-40B4-BE49-F238E27FC236}">
                    <a16:creationId xmlns:a16="http://schemas.microsoft.com/office/drawing/2014/main" id="{EEFCEF7F-E222-D988-A44D-432F9C72A7BA}"/>
                  </a:ext>
                </a:extLst>
              </p:cNvPr>
              <p:cNvSpPr/>
              <p:nvPr/>
            </p:nvSpPr>
            <p:spPr>
              <a:xfrm>
                <a:off x="5177730" y="2921940"/>
                <a:ext cx="1107440" cy="91440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3810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200" dirty="0">
                    <a:solidFill>
                      <a:sysClr val="windowText" lastClr="000000"/>
                    </a:solidFill>
                  </a:rPr>
                  <a:t>1D models</a:t>
                </a:r>
              </a:p>
            </p:txBody>
          </p:sp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623E8ED8-6668-B132-1F7B-E6AC3D6486E0}"/>
                  </a:ext>
                </a:extLst>
              </p:cNvPr>
              <p:cNvSpPr/>
              <p:nvPr/>
            </p:nvSpPr>
            <p:spPr>
              <a:xfrm>
                <a:off x="3761480" y="4376028"/>
                <a:ext cx="1107440" cy="91440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 w="38100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T" sz="2200" dirty="0">
                    <a:solidFill>
                      <a:sysClr val="windowText" lastClr="000000"/>
                    </a:solidFill>
                  </a:rPr>
                  <a:t>0D models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C5CB39-3438-F38E-E7BE-CDF78041E1BA}"/>
                  </a:ext>
                </a:extLst>
              </p:cNvPr>
              <p:cNvSpPr txBox="1"/>
              <p:nvPr/>
            </p:nvSpPr>
            <p:spPr>
              <a:xfrm>
                <a:off x="2198063" y="948420"/>
                <a:ext cx="130208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2400" dirty="0"/>
                  <a:t>Accuracy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22C0AF-FF69-AFF1-0F3B-BC14F84E1F9B}"/>
                  </a:ext>
                </a:extLst>
              </p:cNvPr>
              <p:cNvSpPr txBox="1"/>
              <p:nvPr/>
            </p:nvSpPr>
            <p:spPr>
              <a:xfrm>
                <a:off x="6413099" y="5609079"/>
                <a:ext cx="261494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sz="2400" dirty="0"/>
                  <a:t>Computational cost</a:t>
                </a:r>
              </a:p>
            </p:txBody>
          </p:sp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A1B401E3-252D-887A-8AF2-8DBC64D018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00151" y="1228568"/>
                <a:ext cx="0" cy="4320000"/>
              </a:xfrm>
              <a:prstGeom prst="straightConnector1">
                <a:avLst/>
              </a:prstGeom>
              <a:ln w="444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9DA1BD80-188A-2E84-8B3A-B1D8941E7D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85636" y="5526444"/>
                <a:ext cx="4320000" cy="0"/>
              </a:xfrm>
              <a:prstGeom prst="straightConnector1">
                <a:avLst/>
              </a:prstGeom>
              <a:ln w="444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7849D48E-F687-03FE-5EB9-3B170DD28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PART II: Geometric multiscale – what options do we have?</a:t>
            </a:r>
          </a:p>
        </p:txBody>
      </p:sp>
    </p:spTree>
    <p:extLst>
      <p:ext uri="{BB962C8B-B14F-4D97-AF65-F5344CB8AC3E}">
        <p14:creationId xmlns:p14="http://schemas.microsoft.com/office/powerpoint/2010/main" val="336774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F27C3-6E07-91DC-119B-F92A55F35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A18C1BC4-DF69-E991-AE63-9F6374F9CBCC}"/>
              </a:ext>
            </a:extLst>
          </p:cNvPr>
          <p:cNvGrpSpPr/>
          <p:nvPr/>
        </p:nvGrpSpPr>
        <p:grpSpPr>
          <a:xfrm>
            <a:off x="2428080" y="1735676"/>
            <a:ext cx="6829983" cy="5122324"/>
            <a:chOff x="2198063" y="948420"/>
            <a:chExt cx="6829983" cy="5122324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8A8BA591-1B53-253F-F305-D81CF1555DCF}"/>
                </a:ext>
              </a:extLst>
            </p:cNvPr>
            <p:cNvSpPr/>
            <p:nvPr/>
          </p:nvSpPr>
          <p:spPr>
            <a:xfrm>
              <a:off x="6570599" y="1324265"/>
              <a:ext cx="1107440" cy="914400"/>
            </a:xfrm>
            <a:prstGeom prst="roundRect">
              <a:avLst/>
            </a:prstGeom>
            <a:solidFill>
              <a:srgbClr val="FF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3D models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F8DCE5F-40EB-E762-3BA4-D4BB5F920E0F}"/>
                </a:ext>
              </a:extLst>
            </p:cNvPr>
            <p:cNvSpPr/>
            <p:nvPr/>
          </p:nvSpPr>
          <p:spPr>
            <a:xfrm>
              <a:off x="5177730" y="2921940"/>
              <a:ext cx="1107440" cy="9144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1D models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72C5B75-EB23-4D56-E27B-7133637F1288}"/>
                </a:ext>
              </a:extLst>
            </p:cNvPr>
            <p:cNvSpPr/>
            <p:nvPr/>
          </p:nvSpPr>
          <p:spPr>
            <a:xfrm>
              <a:off x="3761480" y="4376028"/>
              <a:ext cx="1107440" cy="9144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0D models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19B352E-867C-4D2A-A2BF-17F96BE4F17B}"/>
                </a:ext>
              </a:extLst>
            </p:cNvPr>
            <p:cNvSpPr txBox="1"/>
            <p:nvPr/>
          </p:nvSpPr>
          <p:spPr>
            <a:xfrm>
              <a:off x="2198063" y="948420"/>
              <a:ext cx="13020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Accuracy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B68850D-03AE-BCFC-DA85-6DCF15EA5163}"/>
                </a:ext>
              </a:extLst>
            </p:cNvPr>
            <p:cNvSpPr txBox="1"/>
            <p:nvPr/>
          </p:nvSpPr>
          <p:spPr>
            <a:xfrm>
              <a:off x="6413099" y="5609079"/>
              <a:ext cx="2614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Computational cost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97F7A5B-393D-3DF5-B0FA-86D7FACCE8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0151" y="1228568"/>
              <a:ext cx="0" cy="432000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1B51C03-A778-79CD-0E2A-F0D35740930E}"/>
                </a:ext>
              </a:extLst>
            </p:cNvPr>
            <p:cNvCxnSpPr>
              <a:cxnSpLocks/>
            </p:cNvCxnSpPr>
            <p:nvPr/>
          </p:nvCxnSpPr>
          <p:spPr>
            <a:xfrm>
              <a:off x="3485636" y="5526444"/>
              <a:ext cx="4320000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589D6AD8-6ECA-D72B-0BE9-048FE438E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PART II: Geometric multiscale – what options do we have?</a:t>
            </a:r>
          </a:p>
        </p:txBody>
      </p:sp>
      <p:sp>
        <p:nvSpPr>
          <p:cNvPr id="3" name="Cloud 2">
            <a:extLst>
              <a:ext uri="{FF2B5EF4-FFF2-40B4-BE49-F238E27FC236}">
                <a16:creationId xmlns:a16="http://schemas.microsoft.com/office/drawing/2014/main" id="{D1ED4569-4D6D-A846-5DE9-82879BA8766D}"/>
              </a:ext>
            </a:extLst>
          </p:cNvPr>
          <p:cNvSpPr/>
          <p:nvPr/>
        </p:nvSpPr>
        <p:spPr>
          <a:xfrm>
            <a:off x="3868337" y="2306401"/>
            <a:ext cx="1978814" cy="914400"/>
          </a:xfrm>
          <a:prstGeom prst="cloud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000" dirty="0">
                <a:solidFill>
                  <a:schemeClr val="tx1"/>
                </a:solidFill>
              </a:rPr>
              <a:t>surrogates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02200A-45F9-0FA3-7AD3-C516CCD4D207}"/>
              </a:ext>
            </a:extLst>
          </p:cNvPr>
          <p:cNvSpPr txBox="1"/>
          <p:nvPr/>
        </p:nvSpPr>
        <p:spPr>
          <a:xfrm>
            <a:off x="5854809" y="3148804"/>
            <a:ext cx="2336958" cy="408623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High-fidelity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CBE6C-1712-EB6E-C2C7-A70DDE326534}"/>
              </a:ext>
            </a:extLst>
          </p:cNvPr>
          <p:cNvSpPr txBox="1"/>
          <p:nvPr/>
        </p:nvSpPr>
        <p:spPr>
          <a:xfrm>
            <a:off x="4334344" y="4672027"/>
            <a:ext cx="2336958" cy="408623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>
                <a:cs typeface="Calibri"/>
              </a:rPr>
              <a:t>Low-fidelity models</a:t>
            </a:r>
          </a:p>
        </p:txBody>
      </p:sp>
    </p:spTree>
    <p:extLst>
      <p:ext uri="{BB962C8B-B14F-4D97-AF65-F5344CB8AC3E}">
        <p14:creationId xmlns:p14="http://schemas.microsoft.com/office/powerpoint/2010/main" val="2654483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E6790-BBAA-BBDF-2954-AE6A97CA8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heart and a red twig&#10;&#10;AI-generated content may be incorrect.">
            <a:extLst>
              <a:ext uri="{FF2B5EF4-FFF2-40B4-BE49-F238E27FC236}">
                <a16:creationId xmlns:a16="http://schemas.microsoft.com/office/drawing/2014/main" id="{F5863965-07E6-085B-9DF5-7C960F8AB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685" y="880126"/>
            <a:ext cx="1912008" cy="2802255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BEC987C-6792-C08D-3A07-FF3A9649C33F}"/>
              </a:ext>
            </a:extLst>
          </p:cNvPr>
          <p:cNvGrpSpPr/>
          <p:nvPr/>
        </p:nvGrpSpPr>
        <p:grpSpPr>
          <a:xfrm>
            <a:off x="222753" y="1735676"/>
            <a:ext cx="6829983" cy="5122324"/>
            <a:chOff x="2198063" y="948420"/>
            <a:chExt cx="6829983" cy="5122324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A328A63C-4F2D-AF36-82B9-D091C25E2F62}"/>
                </a:ext>
              </a:extLst>
            </p:cNvPr>
            <p:cNvSpPr/>
            <p:nvPr/>
          </p:nvSpPr>
          <p:spPr>
            <a:xfrm>
              <a:off x="6570599" y="1324265"/>
              <a:ext cx="1107440" cy="914400"/>
            </a:xfrm>
            <a:prstGeom prst="roundRect">
              <a:avLst/>
            </a:prstGeom>
            <a:solidFill>
              <a:srgbClr val="FF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3D models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F083856D-9D27-16EE-F207-34E101D9FC4B}"/>
                </a:ext>
              </a:extLst>
            </p:cNvPr>
            <p:cNvSpPr/>
            <p:nvPr/>
          </p:nvSpPr>
          <p:spPr>
            <a:xfrm>
              <a:off x="5177730" y="2921940"/>
              <a:ext cx="1107440" cy="9144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1D models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05A3D4AD-E787-6948-6458-8FF59301E69A}"/>
                </a:ext>
              </a:extLst>
            </p:cNvPr>
            <p:cNvSpPr/>
            <p:nvPr/>
          </p:nvSpPr>
          <p:spPr>
            <a:xfrm>
              <a:off x="3761480" y="4376028"/>
              <a:ext cx="1107440" cy="9144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0D models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2B38912-3BD0-A6BF-5CB2-18E1F8B27EF7}"/>
                </a:ext>
              </a:extLst>
            </p:cNvPr>
            <p:cNvSpPr txBox="1"/>
            <p:nvPr/>
          </p:nvSpPr>
          <p:spPr>
            <a:xfrm>
              <a:off x="2198063" y="948420"/>
              <a:ext cx="13020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Accuracy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E1C7CA8-7927-89FE-D6C4-C8D08969301C}"/>
                </a:ext>
              </a:extLst>
            </p:cNvPr>
            <p:cNvSpPr txBox="1"/>
            <p:nvPr/>
          </p:nvSpPr>
          <p:spPr>
            <a:xfrm>
              <a:off x="6413099" y="5609079"/>
              <a:ext cx="2614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Computational cost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37407D6-6F47-3132-7EAF-D4A69AAA74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0151" y="1228568"/>
              <a:ext cx="0" cy="432000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AA972744-6520-4B5A-30C8-23E0CC2B8A1A}"/>
                </a:ext>
              </a:extLst>
            </p:cNvPr>
            <p:cNvCxnSpPr>
              <a:cxnSpLocks/>
            </p:cNvCxnSpPr>
            <p:nvPr/>
          </p:nvCxnSpPr>
          <p:spPr>
            <a:xfrm>
              <a:off x="3485636" y="5526444"/>
              <a:ext cx="4320000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90634EFC-BF87-D722-6320-5FE30C21C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Geometric multiscale – what options do we have?</a:t>
            </a:r>
          </a:p>
        </p:txBody>
      </p:sp>
      <p:pic>
        <p:nvPicPr>
          <p:cNvPr id="18" name="Picture 17" descr="A white background with a black number&#10;&#10;AI-generated content may be incorrect.">
            <a:extLst>
              <a:ext uri="{FF2B5EF4-FFF2-40B4-BE49-F238E27FC236}">
                <a16:creationId xmlns:a16="http://schemas.microsoft.com/office/drawing/2014/main" id="{66400E7D-71DB-5C9A-DD89-F0311B6366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727"/>
          <a:stretch/>
        </p:blipFill>
        <p:spPr>
          <a:xfrm>
            <a:off x="4595289" y="3861837"/>
            <a:ext cx="3498092" cy="1800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17CE497-85AA-6385-9056-C5A61910C69A}"/>
              </a:ext>
            </a:extLst>
          </p:cNvPr>
          <p:cNvSpPr txBox="1"/>
          <p:nvPr/>
        </p:nvSpPr>
        <p:spPr>
          <a:xfrm>
            <a:off x="8286375" y="1052749"/>
            <a:ext cx="3558190" cy="4642247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200" b="1" dirty="0">
                <a:solidFill>
                  <a:srgbClr val="C00000"/>
                </a:solidFill>
                <a:cs typeface="Calibri"/>
              </a:rPr>
              <a:t>3D models: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Resolve local details;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Account for blood flow features (blood rheology, velocity vectors, wall shear stresses, interaction between blood flow and vessel wall deformation);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Investigate the eﬀects of geometry.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cs typeface="Calibri"/>
            </a:endParaRPr>
          </a:p>
          <a:p>
            <a:r>
              <a:rPr lang="en-GB" dirty="0"/>
              <a:t>Plaque formation, aneurysm formation, valve dysfunction, testing of medical devices (e.g., stents),…</a:t>
            </a:r>
            <a:endParaRPr lang="en-GB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9444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E614D-5389-B800-65C2-93783245F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8AF5B0F-CD75-113B-2ED1-62602E2998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478"/>
          <a:stretch/>
        </p:blipFill>
        <p:spPr>
          <a:xfrm>
            <a:off x="4734188" y="4187715"/>
            <a:ext cx="3193637" cy="1800000"/>
          </a:xfrm>
          <a:prstGeom prst="rect">
            <a:avLst/>
          </a:prstGeom>
        </p:spPr>
      </p:pic>
      <p:pic>
        <p:nvPicPr>
          <p:cNvPr id="7" name="Picture 6" descr="A red line drawing of a human body&#10;&#10;AI-generated content may be incorrect.">
            <a:extLst>
              <a:ext uri="{FF2B5EF4-FFF2-40B4-BE49-F238E27FC236}">
                <a16:creationId xmlns:a16="http://schemas.microsoft.com/office/drawing/2014/main" id="{69B859DB-4C51-22A2-2E03-F294A520D3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255" y="1364142"/>
            <a:ext cx="1410447" cy="280225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8685135-8030-FFBF-60FA-703BE189E136}"/>
              </a:ext>
            </a:extLst>
          </p:cNvPr>
          <p:cNvGrpSpPr/>
          <p:nvPr/>
        </p:nvGrpSpPr>
        <p:grpSpPr>
          <a:xfrm>
            <a:off x="728369" y="1735676"/>
            <a:ext cx="6829983" cy="5122324"/>
            <a:chOff x="2198063" y="948420"/>
            <a:chExt cx="6829983" cy="5122324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539FCD5-917D-485F-3503-F5F543366B67}"/>
                </a:ext>
              </a:extLst>
            </p:cNvPr>
            <p:cNvSpPr/>
            <p:nvPr/>
          </p:nvSpPr>
          <p:spPr>
            <a:xfrm>
              <a:off x="6570599" y="1324265"/>
              <a:ext cx="1107440" cy="914400"/>
            </a:xfrm>
            <a:prstGeom prst="roundRect">
              <a:avLst/>
            </a:prstGeom>
            <a:solidFill>
              <a:srgbClr val="FF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3D models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9FBFE8FD-6326-F1BF-58F1-76EB2260B3F5}"/>
                </a:ext>
              </a:extLst>
            </p:cNvPr>
            <p:cNvSpPr/>
            <p:nvPr/>
          </p:nvSpPr>
          <p:spPr>
            <a:xfrm>
              <a:off x="5177730" y="2921940"/>
              <a:ext cx="1107440" cy="9144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1D models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C6375A04-50C1-1344-0FEC-1F37B4592125}"/>
                </a:ext>
              </a:extLst>
            </p:cNvPr>
            <p:cNvSpPr/>
            <p:nvPr/>
          </p:nvSpPr>
          <p:spPr>
            <a:xfrm>
              <a:off x="3761480" y="4376028"/>
              <a:ext cx="1107440" cy="9144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0D models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83A9570-0414-7A6B-EC2B-F875BFBE2C2F}"/>
                </a:ext>
              </a:extLst>
            </p:cNvPr>
            <p:cNvSpPr txBox="1"/>
            <p:nvPr/>
          </p:nvSpPr>
          <p:spPr>
            <a:xfrm>
              <a:off x="2198063" y="948420"/>
              <a:ext cx="13020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Accuracy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6D44E41-30ED-B402-60FD-D62670F77205}"/>
                </a:ext>
              </a:extLst>
            </p:cNvPr>
            <p:cNvSpPr txBox="1"/>
            <p:nvPr/>
          </p:nvSpPr>
          <p:spPr>
            <a:xfrm>
              <a:off x="6413099" y="5609079"/>
              <a:ext cx="2614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Computational cost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A43823B-0CFF-CAB6-CC23-0E3D56222E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0151" y="1228568"/>
              <a:ext cx="0" cy="432000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ED517E3A-1EC9-E63B-4356-872EF62035CD}"/>
                </a:ext>
              </a:extLst>
            </p:cNvPr>
            <p:cNvCxnSpPr>
              <a:cxnSpLocks/>
            </p:cNvCxnSpPr>
            <p:nvPr/>
          </p:nvCxnSpPr>
          <p:spPr>
            <a:xfrm>
              <a:off x="3485636" y="5526444"/>
              <a:ext cx="4320000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DD117250-9D6E-94D2-A2CC-BB6199A6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Geometric multiscale – what options do we have?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30C8E9-8BA6-14E4-8417-88E21BC0E221}"/>
              </a:ext>
            </a:extLst>
          </p:cNvPr>
          <p:cNvSpPr txBox="1"/>
          <p:nvPr/>
        </p:nvSpPr>
        <p:spPr>
          <a:xfrm>
            <a:off x="7997604" y="1047623"/>
            <a:ext cx="3947470" cy="3847862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200" b="1" dirty="0">
                <a:solidFill>
                  <a:srgbClr val="FFC000"/>
                </a:solidFill>
                <a:cs typeface="Calibri"/>
              </a:rPr>
              <a:t>1D models:</a:t>
            </a:r>
            <a:r>
              <a:rPr lang="en-GB" sz="2200" dirty="0">
                <a:cs typeface="Calibri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cs typeface="Calibri"/>
              </a:rPr>
              <a:t>Describe and analyse flow patterns, pressure </a:t>
            </a:r>
            <a:r>
              <a:rPr lang="en-US" dirty="0">
                <a:cs typeface="Calibri"/>
              </a:rPr>
              <a:t>wave propagation and reflection, average velocities in networks of vessels;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Compute </a:t>
            </a:r>
            <a:r>
              <a:rPr lang="en-US" i="1" dirty="0">
                <a:cs typeface="Calibri"/>
              </a:rPr>
              <a:t>local</a:t>
            </a:r>
            <a:r>
              <a:rPr lang="en-US" dirty="0">
                <a:cs typeface="Calibri"/>
              </a:rPr>
              <a:t> and </a:t>
            </a:r>
            <a:r>
              <a:rPr lang="en-US" i="1" dirty="0">
                <a:cs typeface="Calibri"/>
              </a:rPr>
              <a:t>global</a:t>
            </a:r>
            <a:r>
              <a:rPr lang="en-US" dirty="0">
                <a:cs typeface="Calibri"/>
              </a:rPr>
              <a:t> </a:t>
            </a:r>
            <a:r>
              <a:rPr lang="en-US" b="1" dirty="0">
                <a:cs typeface="Calibri"/>
              </a:rPr>
              <a:t>pulse wave velocity (PWV)</a:t>
            </a:r>
            <a:r>
              <a:rPr lang="en-US" dirty="0">
                <a:cs typeface="Calibri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Calibri"/>
              </a:rPr>
              <a:t>Offer good trade-off between accuracy and computational cost in simulating systemic hemodynamics.</a:t>
            </a:r>
          </a:p>
        </p:txBody>
      </p:sp>
    </p:spTree>
    <p:extLst>
      <p:ext uri="{BB962C8B-B14F-4D97-AF65-F5344CB8AC3E}">
        <p14:creationId xmlns:p14="http://schemas.microsoft.com/office/powerpoint/2010/main" val="3257712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44FD1-77EE-6466-4BD1-817BB4DF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AA36529-C182-9893-252A-B62E134C85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187"/>
          <a:stretch>
            <a:fillRect/>
          </a:stretch>
        </p:blipFill>
        <p:spPr>
          <a:xfrm>
            <a:off x="8185630" y="4331130"/>
            <a:ext cx="2323611" cy="9271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99ED1FC-5049-0A1F-37A3-734B2801055F}"/>
              </a:ext>
            </a:extLst>
          </p:cNvPr>
          <p:cNvGrpSpPr/>
          <p:nvPr/>
        </p:nvGrpSpPr>
        <p:grpSpPr>
          <a:xfrm>
            <a:off x="5420977" y="762840"/>
            <a:ext cx="6829983" cy="5122324"/>
            <a:chOff x="2198063" y="948420"/>
            <a:chExt cx="6829983" cy="5122324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B6F8653A-9558-EA90-7CB2-4B871EDBDFDA}"/>
                </a:ext>
              </a:extLst>
            </p:cNvPr>
            <p:cNvSpPr/>
            <p:nvPr/>
          </p:nvSpPr>
          <p:spPr>
            <a:xfrm>
              <a:off x="6570599" y="1324265"/>
              <a:ext cx="1107440" cy="914400"/>
            </a:xfrm>
            <a:prstGeom prst="roundRect">
              <a:avLst/>
            </a:prstGeom>
            <a:solidFill>
              <a:srgbClr val="FF0000"/>
            </a:solidFill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3D models</a:t>
              </a:r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4F2678D-793E-0397-8826-C744A81F7CD4}"/>
                </a:ext>
              </a:extLst>
            </p:cNvPr>
            <p:cNvSpPr/>
            <p:nvPr/>
          </p:nvSpPr>
          <p:spPr>
            <a:xfrm>
              <a:off x="5177730" y="2921940"/>
              <a:ext cx="1107440" cy="91440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1D models</a:t>
              </a:r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A9C9743-3B0D-CF6A-4AA0-E6ABE3E884E1}"/>
                </a:ext>
              </a:extLst>
            </p:cNvPr>
            <p:cNvSpPr/>
            <p:nvPr/>
          </p:nvSpPr>
          <p:spPr>
            <a:xfrm>
              <a:off x="3761480" y="4376028"/>
              <a:ext cx="1107440" cy="91440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38100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200" dirty="0">
                  <a:solidFill>
                    <a:sysClr val="windowText" lastClr="000000"/>
                  </a:solidFill>
                </a:rPr>
                <a:t>0D models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FF2B6CD-EF29-3651-06A7-15C6A9CF8A31}"/>
                </a:ext>
              </a:extLst>
            </p:cNvPr>
            <p:cNvSpPr txBox="1"/>
            <p:nvPr/>
          </p:nvSpPr>
          <p:spPr>
            <a:xfrm>
              <a:off x="2198063" y="948420"/>
              <a:ext cx="13020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Accuracy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29661F1-E1DC-68C6-E3B2-DFC627FB2D57}"/>
                </a:ext>
              </a:extLst>
            </p:cNvPr>
            <p:cNvSpPr txBox="1"/>
            <p:nvPr/>
          </p:nvSpPr>
          <p:spPr>
            <a:xfrm>
              <a:off x="6413099" y="5609079"/>
              <a:ext cx="261494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T" sz="2400" dirty="0"/>
                <a:t>Computational cost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37D82D50-8B61-DFBD-BBB9-22C4415551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00151" y="1228568"/>
              <a:ext cx="0" cy="432000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2B69D14-1831-1D03-B865-80A1598CED90}"/>
                </a:ext>
              </a:extLst>
            </p:cNvPr>
            <p:cNvCxnSpPr>
              <a:cxnSpLocks/>
            </p:cNvCxnSpPr>
            <p:nvPr/>
          </p:nvCxnSpPr>
          <p:spPr>
            <a:xfrm>
              <a:off x="3485636" y="5526444"/>
              <a:ext cx="4320000" cy="0"/>
            </a:xfrm>
            <a:prstGeom prst="straightConnector1">
              <a:avLst/>
            </a:prstGeom>
            <a:ln w="444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0EC5D9C2-0499-B7E0-9A24-F2A46C2CE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47998"/>
            <a:ext cx="11430000" cy="863600"/>
          </a:xfrm>
        </p:spPr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Geometric multiscale – what options do we have?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4360A2-61F8-BE7C-4117-D52E1336D4AA}"/>
              </a:ext>
            </a:extLst>
          </p:cNvPr>
          <p:cNvSpPr txBox="1"/>
          <p:nvPr/>
        </p:nvSpPr>
        <p:spPr>
          <a:xfrm>
            <a:off x="199281" y="762840"/>
            <a:ext cx="5221685" cy="2315528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sysDot"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200" b="1" dirty="0">
                <a:solidFill>
                  <a:schemeClr val="accent6"/>
                </a:solidFill>
                <a:cs typeface="Calibri"/>
              </a:rPr>
              <a:t>0D models:</a:t>
            </a:r>
            <a:r>
              <a:rPr lang="en-GB" sz="2200" dirty="0">
                <a:cs typeface="Calibri"/>
              </a:rPr>
              <a:t> 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cs typeface="Calibri"/>
              </a:rPr>
              <a:t>Simulate global </a:t>
            </a:r>
            <a:r>
              <a:rPr lang="en-GB" dirty="0" err="1">
                <a:cs typeface="Calibri"/>
              </a:rPr>
              <a:t>hemodynamics</a:t>
            </a:r>
            <a:r>
              <a:rPr lang="en-GB" dirty="0">
                <a:cs typeface="Calibri"/>
              </a:rPr>
              <a:t> in the whole system, via spatially-homogeneous fields within any 0D compartment;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cs typeface="Calibri"/>
              </a:rPr>
              <a:t>Provide BCs to 1D/3D models;</a:t>
            </a:r>
          </a:p>
          <a:p>
            <a:pPr marL="285750" indent="-285750">
              <a:buFont typeface="Arial"/>
              <a:buChar char="•"/>
            </a:pPr>
            <a:r>
              <a:rPr lang="en-GB" dirty="0">
                <a:cs typeface="Calibri"/>
              </a:rPr>
              <a:t>Have physical parameters usually quantifiable from clinical measurements.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AF3F9E9-8C9B-4331-3294-659EF2F3B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26" y="2920464"/>
            <a:ext cx="5468571" cy="3960000"/>
          </a:xfrm>
          <a:prstGeom prst="rect">
            <a:avLst/>
          </a:prstGeom>
        </p:spPr>
      </p:pic>
      <p:sp>
        <p:nvSpPr>
          <p:cNvPr id="19" name="Footer Placeholder 11">
            <a:extLst>
              <a:ext uri="{FF2B5EF4-FFF2-40B4-BE49-F238E27FC236}">
                <a16:creationId xmlns:a16="http://schemas.microsoft.com/office/drawing/2014/main" id="{185BD005-7A69-F867-F990-966D81F7F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51867" y="6396335"/>
            <a:ext cx="3183541" cy="451857"/>
          </a:xfrm>
        </p:spPr>
        <p:txBody>
          <a:bodyPr/>
          <a:lstStyle/>
          <a:p>
            <a:pPr algn="l"/>
            <a:r>
              <a:rPr lang="en-GB" dirty="0"/>
              <a:t>Fossan et al. </a:t>
            </a:r>
            <a:r>
              <a:rPr lang="en-IT" sz="1200" dirty="0"/>
              <a:t>(2018), doi: </a:t>
            </a:r>
            <a:r>
              <a:rPr lang="en-GB" u="sng" dirty="0">
                <a:hlinkClick r:id="rId4"/>
              </a:rPr>
              <a:t>10.1098/rsif.2018.0546</a:t>
            </a:r>
            <a:endParaRPr lang="en-GB" sz="1200" b="0" i="0" u="none" strike="noStrike" dirty="0">
              <a:effectLst/>
              <a:latin typeface="MuseoSans"/>
            </a:endParaRPr>
          </a:p>
        </p:txBody>
      </p:sp>
    </p:spTree>
    <p:extLst>
      <p:ext uri="{BB962C8B-B14F-4D97-AF65-F5344CB8AC3E}">
        <p14:creationId xmlns:p14="http://schemas.microsoft.com/office/powerpoint/2010/main" val="992060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FEEACCF6-38B6-C7DC-A20D-248B381B3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CB0A2228-72AE-5CB8-4F01-AA5FAA5949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650" y="67715"/>
            <a:ext cx="11313870" cy="94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3D Navier-Stokes equations of fluid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BB617D-CCDC-88D3-7619-86F948221B12}"/>
                  </a:ext>
                </a:extLst>
              </p:cNvPr>
              <p:cNvSpPr txBox="1"/>
              <p:nvPr/>
            </p:nvSpPr>
            <p:spPr>
              <a:xfrm>
                <a:off x="599440" y="941694"/>
                <a:ext cx="10800080" cy="56466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buNone/>
                </a:pPr>
                <a:r>
                  <a:rPr lang="en-GB" sz="2000" b="1" dirty="0">
                    <a:solidFill>
                      <a:srgbClr val="000000"/>
                    </a:solidFill>
                    <a:effectLst/>
                  </a:rPr>
                  <a:t>Three-dimensional (3D), time-dependent, nonlinear, incompressible Navier-Stokes equations</a:t>
                </a:r>
                <a:r>
                  <a:rPr lang="en-GB" sz="2000" dirty="0">
                    <a:solidFill>
                      <a:srgbClr val="000000"/>
                    </a:solidFill>
                    <a:effectLst/>
                  </a:rPr>
                  <a:t> (PDEs) describing the motion of a viscous fluid (blood):</a:t>
                </a:r>
                <a:endParaRPr lang="en-GB" sz="2000" dirty="0">
                  <a:solidFill>
                    <a:srgbClr val="000000"/>
                  </a:solidFill>
                  <a:ea typeface="Calibri"/>
                  <a:cs typeface="Calibri"/>
                </a:endParaRPr>
              </a:p>
              <a:p>
                <a:pPr>
                  <a:buNone/>
                </a:pPr>
                <a:endParaRPr lang="en-US" dirty="0">
                  <a:ea typeface="Calibri"/>
                  <a:cs typeface="Calibri"/>
                </a:endParaRPr>
              </a:p>
              <a:p>
                <a:pPr lvl="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𝐮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𝑡</m:t>
                                      </m:r>
                                    </m:den>
                                  </m:f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𝜌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𝐮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∙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∇</m:t>
                                      </m:r>
                                    </m:e>
                                  </m:d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𝐮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∇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𝑝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div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𝜇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D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  <m:t>𝐮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=</m:t>
                                  </m:r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𝐟</m:t>
                                  </m:r>
                                  <m:r>
                                    <a:rPr lang="en-US" sz="2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div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  <m:t>𝐮</m:t>
                                      </m:r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=0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>
                                      <a:ea typeface="Calibri"/>
                                      <a:cs typeface="Calibri"/>
                                    </a:rPr>
                                    <m:t> </m:t>
                                  </m:r>
                                </m:e>
                              </m:mr>
                            </m:m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in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l-G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Ω</m:t>
                            </m:r>
                            <m:r>
                              <a:rPr lang="el-G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l-G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</m:ctrlPr>
                              </m:sSupPr>
                              <m:e>
                                <m:r>
                                  <a:rPr lang="el-G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for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&gt;0,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+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BCs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on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l-G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Ω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+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ICs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at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=0,</m:t>
                            </m:r>
                          </m:e>
                        </m:mr>
                      </m:m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  <a:p>
                <a:endParaRPr lang="en-US" sz="2000" dirty="0"/>
              </a:p>
              <a:p>
                <a:r>
                  <a:rPr lang="en-US" sz="2000" dirty="0"/>
                  <a:t>with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/>
                  <a:t> : the domain of interest (the lumen of the vessel/system of vessels)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: fluid velocity vector field;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: pressure scalar field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000" dirty="0"/>
                  <a:t> : blood density (constant);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dirty="0"/>
                  <a:t> : blood dynamic viscosity (constant for Newtonian fluid model)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: external forces (gravity,…)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𝐮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20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𝐮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div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𝜇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D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𝐮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: diffusive term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𝜌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𝐮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∇</m:t>
                        </m:r>
                      </m:e>
                    </m:d>
                    <m:r>
                      <a:rPr lang="en-US" sz="200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𝐮</m:t>
                    </m:r>
                  </m:oMath>
                </a14:m>
                <a:r>
                  <a:rPr lang="en-US" sz="2000" dirty="0"/>
                  <a:t> : nonlinear convective term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Reynolds number :</a:t>
                </a:r>
                <a:r>
                  <a:rPr lang="en-US" sz="2000" i="1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𝑅𝑒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𝑈𝑑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inertial</m:t>
                        </m:r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forces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viscous</m:t>
                        </m:r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forces</m:t>
                        </m:r>
                      </m:den>
                    </m:f>
                  </m:oMath>
                </a14:m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diameter,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mean sectional velocity)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DBB617D-CCDC-88D3-7619-86F948221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40" y="941694"/>
                <a:ext cx="10800080" cy="5646610"/>
              </a:xfrm>
              <a:prstGeom prst="rect">
                <a:avLst/>
              </a:prstGeom>
              <a:blipFill>
                <a:blip r:embed="rId3"/>
                <a:stretch>
                  <a:fillRect l="-588" t="-448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08171DE6-DFBB-94F8-FB19-FB827AFC2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050"/>
          <a:stretch/>
        </p:blipFill>
        <p:spPr>
          <a:xfrm>
            <a:off x="9389292" y="1882235"/>
            <a:ext cx="2524018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15861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3255976B-FB80-6DC1-CB72-58A79EFCD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9F18C62B-239B-EF75-F7F5-F7893BC8EB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5650" y="67715"/>
            <a:ext cx="11313870" cy="940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3D Navier-Stokes equations of fluid dynamics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8867F7-A32E-9D7B-E925-A3DE8B859B41}"/>
                  </a:ext>
                </a:extLst>
              </p:cNvPr>
              <p:cNvSpPr txBox="1"/>
              <p:nvPr/>
            </p:nvSpPr>
            <p:spPr>
              <a:xfrm>
                <a:off x="599440" y="941694"/>
                <a:ext cx="10800080" cy="56466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buNone/>
                </a:pPr>
                <a:r>
                  <a:rPr lang="en-GB" sz="2000" b="1" dirty="0">
                    <a:solidFill>
                      <a:srgbClr val="000000"/>
                    </a:solidFill>
                    <a:effectLst/>
                  </a:rPr>
                  <a:t>Three-dimensional (3D), time-dependent, nonlinear, incompressible Navier-Stokes equations</a:t>
                </a:r>
                <a:r>
                  <a:rPr lang="en-GB" sz="2000" dirty="0">
                    <a:solidFill>
                      <a:srgbClr val="000000"/>
                    </a:solidFill>
                    <a:effectLst/>
                  </a:rPr>
                  <a:t> (PDEs) describing the motion of a viscous fluid (blood):</a:t>
                </a:r>
                <a:endParaRPr lang="en-GB" sz="2000" dirty="0">
                  <a:solidFill>
                    <a:srgbClr val="000000"/>
                  </a:solidFill>
                  <a:ea typeface="Calibri"/>
                  <a:cs typeface="Calibri"/>
                </a:endParaRPr>
              </a:p>
              <a:p>
                <a:pPr>
                  <a:buNone/>
                </a:pPr>
                <a:endParaRPr lang="en-US" dirty="0">
                  <a:ea typeface="Calibri"/>
                  <a:cs typeface="Calibri"/>
                </a:endParaRPr>
              </a:p>
              <a:p>
                <a:pPr lvl="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𝐮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𝑡</m:t>
                                      </m:r>
                                    </m:den>
                                  </m:f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+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𝜌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𝐮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∙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∇</m:t>
                                      </m:r>
                                    </m:e>
                                  </m:d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𝐮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∇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𝑝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div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𝜇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0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D</m:t>
                                      </m:r>
                                      <m:d>
                                        <m:dPr>
                                          <m:ctrlPr>
                                            <a:rPr lang="en-US" sz="20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b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  <m:t>𝐮</m:t>
                                          </m:r>
                                        </m:e>
                                      </m:d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=</m:t>
                                  </m:r>
                                  <m:r>
                                    <a:rPr lang="en-US" sz="20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𝐟</m:t>
                                  </m:r>
                                  <m:r>
                                    <a:rPr lang="en-US" sz="2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1" dirty="0"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 </m:t>
                                  </m:r>
                                </m:e>
                              </m:m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div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>
                                          <a:latin typeface="Cambria Math" panose="02040503050406030204" pitchFamily="18" charset="0"/>
                                          <a:ea typeface="Calibri"/>
                                          <a:cs typeface="Calibri"/>
                                        </a:rPr>
                                        <m:t>𝐮</m:t>
                                      </m:r>
                                    </m:e>
                                  </m:d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=0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,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2000" dirty="0">
                                      <a:ea typeface="Calibri"/>
                                      <a:cs typeface="Calibri"/>
                                    </a:rPr>
                                    <m:t> </m:t>
                                  </m:r>
                                </m:e>
                              </m:mr>
                            </m:m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in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l-G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Ω</m:t>
                            </m:r>
                            <m:r>
                              <a:rPr lang="el-G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l-G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</m:ctrlPr>
                              </m:sSupPr>
                              <m:e>
                                <m:r>
                                  <a:rPr lang="el-GR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3</m:t>
                                </m:r>
                              </m:sup>
                            </m:s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,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for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&gt;0,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+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BCs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on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𝜕</m:t>
                            </m:r>
                            <m:r>
                              <m:rPr>
                                <m:sty m:val="p"/>
                              </m:rPr>
                              <a:rPr lang="el-GR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Ω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+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ICs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at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=0,</m:t>
                            </m:r>
                          </m:e>
                        </m:mr>
                      </m:m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  <a:p>
                <a:endParaRPr lang="en-US" sz="2000" dirty="0"/>
              </a:p>
              <a:p>
                <a:r>
                  <a:rPr lang="en-US" sz="2000" dirty="0"/>
                  <a:t>with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2000" dirty="0"/>
                  <a:t> : the domain of interest (the lumen of the vessel/system of vessels)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𝐮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: fluid velocity vector field;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: pressure scalar field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000" dirty="0"/>
                  <a:t> : blood density (constant);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dirty="0"/>
                  <a:t> : blood dynamic viscosity (constant for Newtonian fluid model)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𝐟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: external forces (gravity,…)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D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𝐮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sz="20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𝐮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2000" b="1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𝐮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div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𝜇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D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𝐮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000" dirty="0"/>
                  <a:t> : diffusive term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𝜌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𝐮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∙</m:t>
                        </m:r>
                        <m:r>
                          <m:rPr>
                            <m:sty m:val="p"/>
                          </m:r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∇</m:t>
                        </m:r>
                      </m:e>
                    </m:d>
                    <m:r>
                      <a:rPr lang="en-US" sz="2000" b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/>
                      </a:rPr>
                      <m:t>𝐮</m:t>
                    </m:r>
                  </m:oMath>
                </a14:m>
                <a:r>
                  <a:rPr lang="en-US" sz="2000" dirty="0"/>
                  <a:t> : nonlinear convective term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/>
                  <a:t>Reynolds number :</a:t>
                </a:r>
                <a:r>
                  <a:rPr lang="en-US" sz="2000" i="1" dirty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𝑅𝑒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𝑈𝑑</m:t>
                        </m:r>
                      </m:num>
                      <m:den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sSup>
                          <m:sSupPr>
                            <m:ctrlPr>
                              <a:rPr lang="en-US" sz="200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p>
                            <m:r>
                              <a:rPr lang="en-US" sz="20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inertial</m:t>
                        </m:r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forces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viscous</m:t>
                        </m:r>
                        <m: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forces</m:t>
                        </m:r>
                      </m:den>
                    </m:f>
                  </m:oMath>
                </a14:m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diameter,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000" dirty="0"/>
                  <a:t> mean sectional velocity)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C8867F7-A32E-9D7B-E925-A3DE8B859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440" y="941694"/>
                <a:ext cx="10800080" cy="5646610"/>
              </a:xfrm>
              <a:prstGeom prst="rect">
                <a:avLst/>
              </a:prstGeom>
              <a:blipFill>
                <a:blip r:embed="rId3"/>
                <a:stretch>
                  <a:fillRect l="-588" t="-448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9F5A206-AD60-B8B9-60D9-CBF188EF4EFE}"/>
              </a:ext>
            </a:extLst>
          </p:cNvPr>
          <p:cNvSpPr/>
          <p:nvPr/>
        </p:nvSpPr>
        <p:spPr>
          <a:xfrm>
            <a:off x="1877866" y="4399594"/>
            <a:ext cx="2783840" cy="12395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000" b="1" dirty="0">
                <a:solidFill>
                  <a:sysClr val="windowText" lastClr="000000"/>
                </a:solidFill>
              </a:rPr>
              <a:t>Computational Fluid Dynamics</a:t>
            </a:r>
            <a:r>
              <a:rPr lang="en-IT" sz="2000" dirty="0">
                <a:solidFill>
                  <a:sysClr val="windowText" lastClr="000000"/>
                </a:solidFill>
              </a:rPr>
              <a:t> (CFD)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68B7EF4-3242-E1E8-1DB7-721136C89D1C}"/>
              </a:ext>
            </a:extLst>
          </p:cNvPr>
          <p:cNvSpPr/>
          <p:nvPr/>
        </p:nvSpPr>
        <p:spPr>
          <a:xfrm>
            <a:off x="4919174" y="3744274"/>
            <a:ext cx="5394960" cy="255016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T" sz="2000" b="1" dirty="0">
                <a:solidFill>
                  <a:sysClr val="windowText" lastClr="000000"/>
                </a:solidFill>
              </a:rPr>
              <a:t>Fluid-Structure Interaction </a:t>
            </a:r>
            <a:r>
              <a:rPr lang="en-IT" sz="2000" dirty="0">
                <a:solidFill>
                  <a:sysClr val="windowText" lastClr="000000"/>
                </a:solidFill>
              </a:rPr>
              <a:t>(FSI) </a:t>
            </a:r>
            <a:r>
              <a:rPr lang="en-GB" sz="2000" dirty="0">
                <a:solidFill>
                  <a:sysClr val="windowText" lastClr="000000"/>
                </a:solidFill>
              </a:rPr>
              <a:t>approach</a:t>
            </a:r>
            <a:endParaRPr lang="en-IT" sz="2000" dirty="0">
              <a:solidFill>
                <a:sysClr val="windowText" lastClr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T" sz="2000" dirty="0">
                <a:solidFill>
                  <a:sysClr val="windowText" lastClr="000000"/>
                </a:solidFill>
              </a:rPr>
              <a:t>Navier-Stokes equations of fluid dynamics (blood), </a:t>
            </a:r>
            <a:r>
              <a:rPr lang="en-IT" sz="2000" b="1" dirty="0">
                <a:solidFill>
                  <a:sysClr val="windowText" lastClr="000000"/>
                </a:solidFill>
              </a:rPr>
              <a:t>coupled</a:t>
            </a:r>
            <a:r>
              <a:rPr lang="en-IT" sz="2000" dirty="0">
                <a:solidFill>
                  <a:sysClr val="windowText" lastClr="000000"/>
                </a:solidFill>
              </a:rPr>
              <a:t> with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ysClr val="windowText" lastClr="000000"/>
                </a:solidFill>
              </a:rPr>
              <a:t>Equations of solid mechanics for the 3D structure (deformable vessel wall), via BCs.</a:t>
            </a:r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3175D0DE-2701-3387-58B0-D0BFF6250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99223" y="6545656"/>
            <a:ext cx="5394961" cy="293870"/>
          </a:xfrm>
        </p:spPr>
        <p:txBody>
          <a:bodyPr/>
          <a:lstStyle/>
          <a:p>
            <a:pPr algn="l"/>
            <a:r>
              <a:rPr lang="en-GB" dirty="0" err="1"/>
              <a:t>Formaggia</a:t>
            </a:r>
            <a:r>
              <a:rPr lang="en-GB" dirty="0"/>
              <a:t>, </a:t>
            </a:r>
            <a:r>
              <a:rPr lang="en-GB" dirty="0" err="1"/>
              <a:t>Quarteroni</a:t>
            </a:r>
            <a:r>
              <a:rPr lang="en-GB" dirty="0"/>
              <a:t> &amp; </a:t>
            </a:r>
            <a:r>
              <a:rPr lang="en-GB" dirty="0" err="1"/>
              <a:t>Veneziani</a:t>
            </a:r>
            <a:r>
              <a:rPr lang="en-GB" dirty="0"/>
              <a:t>, Eds, (2009),  </a:t>
            </a:r>
            <a:r>
              <a:rPr lang="en-GB" dirty="0" err="1"/>
              <a:t>doi</a:t>
            </a:r>
            <a:r>
              <a:rPr lang="en-GB" dirty="0"/>
              <a:t>: </a:t>
            </a:r>
            <a:r>
              <a:rPr lang="en-GB" dirty="0">
                <a:ea typeface="+mn-lt"/>
                <a:cs typeface="+mn-lt"/>
                <a:hlinkClick r:id="rId4"/>
              </a:rPr>
              <a:t>10.1007/978-88-470-1152-6</a:t>
            </a:r>
            <a:endParaRPr lang="en-IT" dirty="0"/>
          </a:p>
        </p:txBody>
      </p:sp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7B0C9B3B-C5E9-B4EF-EEC5-82E0A7CDDB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050"/>
          <a:stretch/>
        </p:blipFill>
        <p:spPr>
          <a:xfrm>
            <a:off x="9389292" y="1882235"/>
            <a:ext cx="2524018" cy="144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7574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25C0B37F-F2D9-E064-A38F-3B5F7E723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143B2CA1-7063-2C45-E195-27B3D721E9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1D averaged blood flow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3E8E1-9762-14E0-CCA1-D94E04F71DFE}"/>
              </a:ext>
            </a:extLst>
          </p:cNvPr>
          <p:cNvSpPr txBox="1"/>
          <p:nvPr/>
        </p:nvSpPr>
        <p:spPr>
          <a:xfrm>
            <a:off x="2321831" y="1122521"/>
            <a:ext cx="7548338" cy="10556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IT" sz="2000" dirty="0"/>
              <a:t>Several ways of deriving a </a:t>
            </a:r>
            <a:r>
              <a:rPr lang="en-IT" sz="2000" b="1" dirty="0"/>
              <a:t>one-dimensional (1D) model </a:t>
            </a:r>
            <a:r>
              <a:rPr lang="en-IT" sz="2000" dirty="0"/>
              <a:t>of an </a:t>
            </a:r>
            <a:r>
              <a:rPr lang="en-IT" sz="2000" b="1" dirty="0"/>
              <a:t>incompressible fluid </a:t>
            </a:r>
            <a:r>
              <a:rPr lang="en-IT" sz="2000" dirty="0"/>
              <a:t>flowing in a </a:t>
            </a:r>
            <a:r>
              <a:rPr lang="en-IT" sz="2000" b="1" dirty="0"/>
              <a:t>compliant pipe</a:t>
            </a:r>
            <a:r>
              <a:rPr lang="en-IT" sz="2000" dirty="0"/>
              <a:t>. </a:t>
            </a:r>
          </a:p>
          <a:p>
            <a:r>
              <a:rPr lang="en-IT" sz="1600" dirty="0"/>
              <a:t>[see </a:t>
            </a:r>
            <a:r>
              <a:rPr lang="en-GB" sz="1600" dirty="0" err="1"/>
              <a:t>Formaggia</a:t>
            </a:r>
            <a:r>
              <a:rPr lang="en-GB" sz="1600" dirty="0"/>
              <a:t>, </a:t>
            </a:r>
            <a:r>
              <a:rPr lang="en-GB" sz="1600" dirty="0" err="1"/>
              <a:t>Quarteroni</a:t>
            </a:r>
            <a:r>
              <a:rPr lang="en-GB" sz="1600" dirty="0"/>
              <a:t> &amp; </a:t>
            </a:r>
            <a:r>
              <a:rPr lang="en-GB" sz="1600" dirty="0" err="1"/>
              <a:t>Veneziani</a:t>
            </a:r>
            <a:r>
              <a:rPr lang="en-GB" sz="1600" dirty="0"/>
              <a:t>, Eds, (2009),  </a:t>
            </a:r>
            <a:r>
              <a:rPr lang="en-GB" sz="1600" dirty="0" err="1"/>
              <a:t>doi</a:t>
            </a:r>
            <a:r>
              <a:rPr lang="en-GB" sz="1600" dirty="0"/>
              <a:t>: </a:t>
            </a:r>
            <a:r>
              <a:rPr lang="en-GB" sz="1600" dirty="0">
                <a:ea typeface="+mn-lt"/>
                <a:cs typeface="+mn-lt"/>
                <a:hlinkClick r:id="rId3"/>
              </a:rPr>
              <a:t>10.1007/978-88-470-1152-6</a:t>
            </a:r>
            <a:r>
              <a:rPr lang="en-IT" sz="1600" dirty="0">
                <a:ea typeface="+mn-lt"/>
                <a:cs typeface="+mn-lt"/>
              </a:rPr>
              <a:t>]</a:t>
            </a:r>
            <a:endParaRPr lang="en-IT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2AEF5D-8B5D-A32E-F0D1-50AC3CC7B888}"/>
                  </a:ext>
                </a:extLst>
              </p:cNvPr>
              <p:cNvSpPr txBox="1"/>
              <p:nvPr/>
            </p:nvSpPr>
            <p:spPr>
              <a:xfrm>
                <a:off x="759280" y="2484779"/>
                <a:ext cx="3596640" cy="2144842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IT" dirty="0"/>
                  <a:t>Asymptotic analysis on the 3D incompressible Navier-Stokes equations, by assuming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T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T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IT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IT" dirty="0"/>
                  <a:t> and discarding the higher order terms in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T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T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</m:oMath>
                </a14:m>
                <a:r>
                  <a:rPr lang="en-IT" dirty="0"/>
                  <a:t> to simplify the equations.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ED2AEF5D-8B5D-A32E-F0D1-50AC3CC7B8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280" y="2484779"/>
                <a:ext cx="3596640" cy="214484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3DA19BE-0BC6-FE0C-3D4D-1B4BFD252294}"/>
              </a:ext>
            </a:extLst>
          </p:cNvPr>
          <p:cNvSpPr txBox="1"/>
          <p:nvPr/>
        </p:nvSpPr>
        <p:spPr>
          <a:xfrm>
            <a:off x="7836080" y="2611940"/>
            <a:ext cx="3596640" cy="1021556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T" dirty="0"/>
              <a:t>Integrating the Navier-Stokes equations on a generic section, by assuming cylindrical symmetry.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A408E5-A677-457F-D7C5-5A19F0756170}"/>
              </a:ext>
            </a:extLst>
          </p:cNvPr>
          <p:cNvSpPr txBox="1"/>
          <p:nvPr/>
        </p:nvSpPr>
        <p:spPr>
          <a:xfrm>
            <a:off x="4878840" y="4077176"/>
            <a:ext cx="3596640" cy="224742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Making use of the </a:t>
            </a:r>
            <a:r>
              <a:rPr lang="en-US" b="1" dirty="0"/>
              <a:t>Reynolds’ transport theorem</a:t>
            </a:r>
            <a:r>
              <a:rPr lang="en-US" dirty="0"/>
              <a:t>, to derive the 1D mass conservation and momentum balance equations.</a:t>
            </a:r>
          </a:p>
          <a:p>
            <a:r>
              <a:rPr lang="en-US" dirty="0">
                <a:solidFill>
                  <a:srgbClr val="FF0000"/>
                </a:solidFill>
                <a:sym typeface="Wingdings" pitchFamily="2" charset="2"/>
              </a:rPr>
              <a:t> More general approach, no simplifying assumptions on the vessel section geometry.</a:t>
            </a:r>
            <a:endParaRPr lang="en-IT" dirty="0">
              <a:solidFill>
                <a:srgbClr val="FF0000"/>
              </a:solidFill>
            </a:endParaRPr>
          </a:p>
        </p:txBody>
      </p:sp>
      <p:sp>
        <p:nvSpPr>
          <p:cNvPr id="18" name="Freeform 38">
            <a:extLst>
              <a:ext uri="{FF2B5EF4-FFF2-40B4-BE49-F238E27FC236}">
                <a16:creationId xmlns:a16="http://schemas.microsoft.com/office/drawing/2014/main" id="{1EB45FC3-80A8-6F1E-8C03-60868E3884FF}"/>
              </a:ext>
            </a:extLst>
          </p:cNvPr>
          <p:cNvSpPr/>
          <p:nvPr/>
        </p:nvSpPr>
        <p:spPr>
          <a:xfrm>
            <a:off x="4355920" y="2168986"/>
            <a:ext cx="940580" cy="1260014"/>
          </a:xfrm>
          <a:custGeom>
            <a:avLst/>
            <a:gdLst>
              <a:gd name="connsiteX0" fmla="*/ 386222 w 386222"/>
              <a:gd name="connsiteY0" fmla="*/ 0 h 457200"/>
              <a:gd name="connsiteX1" fmla="*/ 294782 w 386222"/>
              <a:gd name="connsiteY1" fmla="*/ 355600 h 457200"/>
              <a:gd name="connsiteX2" fmla="*/ 142 w 386222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222" h="457200">
                <a:moveTo>
                  <a:pt x="386222" y="0"/>
                </a:moveTo>
                <a:cubicBezTo>
                  <a:pt x="372675" y="139700"/>
                  <a:pt x="359129" y="279400"/>
                  <a:pt x="294782" y="355600"/>
                </a:cubicBezTo>
                <a:cubicBezTo>
                  <a:pt x="230435" y="431800"/>
                  <a:pt x="-6631" y="436880"/>
                  <a:pt x="142" y="457200"/>
                </a:cubicBezTo>
              </a:path>
            </a:pathLst>
          </a:custGeom>
          <a:noFill/>
          <a:ln w="31750"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9" name="Freeform 38">
            <a:extLst>
              <a:ext uri="{FF2B5EF4-FFF2-40B4-BE49-F238E27FC236}">
                <a16:creationId xmlns:a16="http://schemas.microsoft.com/office/drawing/2014/main" id="{B2D7ABAB-FC4B-1389-A700-01E46BF4F274}"/>
              </a:ext>
            </a:extLst>
          </p:cNvPr>
          <p:cNvSpPr/>
          <p:nvPr/>
        </p:nvSpPr>
        <p:spPr>
          <a:xfrm flipH="1">
            <a:off x="6888899" y="2168260"/>
            <a:ext cx="940578" cy="1021556"/>
          </a:xfrm>
          <a:custGeom>
            <a:avLst/>
            <a:gdLst>
              <a:gd name="connsiteX0" fmla="*/ 386222 w 386222"/>
              <a:gd name="connsiteY0" fmla="*/ 0 h 457200"/>
              <a:gd name="connsiteX1" fmla="*/ 294782 w 386222"/>
              <a:gd name="connsiteY1" fmla="*/ 355600 h 457200"/>
              <a:gd name="connsiteX2" fmla="*/ 142 w 386222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222" h="457200">
                <a:moveTo>
                  <a:pt x="386222" y="0"/>
                </a:moveTo>
                <a:cubicBezTo>
                  <a:pt x="372675" y="139700"/>
                  <a:pt x="359129" y="279400"/>
                  <a:pt x="294782" y="355600"/>
                </a:cubicBezTo>
                <a:cubicBezTo>
                  <a:pt x="230435" y="431800"/>
                  <a:pt x="-6631" y="436880"/>
                  <a:pt x="142" y="457200"/>
                </a:cubicBezTo>
              </a:path>
            </a:pathLst>
          </a:custGeom>
          <a:noFill/>
          <a:ln w="31750"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8D321F-21A7-F28C-E239-090BF23F9C35}"/>
              </a:ext>
            </a:extLst>
          </p:cNvPr>
          <p:cNvCxnSpPr>
            <a:cxnSpLocks/>
          </p:cNvCxnSpPr>
          <p:nvPr/>
        </p:nvCxnSpPr>
        <p:spPr>
          <a:xfrm>
            <a:off x="6187440" y="2178129"/>
            <a:ext cx="13090" cy="1868858"/>
          </a:xfrm>
          <a:prstGeom prst="straightConnector1">
            <a:avLst/>
          </a:prstGeom>
          <a:noFill/>
          <a:ln w="76200">
            <a:solidFill>
              <a:srgbClr val="FF0000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804857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D8364481-C5FE-E38F-E88D-357F4A717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1D4DEFC9-6C2C-46AA-6795-1B5777B8CF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1D averaged blood flow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CF0E7E-C2E9-611C-D3A6-643E3E87E209}"/>
                  </a:ext>
                </a:extLst>
              </p:cNvPr>
              <p:cNvSpPr txBox="1"/>
              <p:nvPr/>
            </p:nvSpPr>
            <p:spPr>
              <a:xfrm>
                <a:off x="701040" y="768974"/>
                <a:ext cx="10800080" cy="578703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buNone/>
                </a:pPr>
                <a:r>
                  <a:rPr lang="en-GB" sz="2000" b="1" dirty="0">
                    <a:solidFill>
                      <a:srgbClr val="000000"/>
                    </a:solidFill>
                  </a:rPr>
                  <a:t>One-dimensional</a:t>
                </a:r>
                <a:r>
                  <a:rPr lang="en-GB" sz="2000" b="1" dirty="0">
                    <a:solidFill>
                      <a:srgbClr val="000000"/>
                    </a:solidFill>
                    <a:effectLst/>
                  </a:rPr>
                  <a:t> (</a:t>
                </a:r>
                <a:r>
                  <a:rPr lang="en-GB" sz="2000" b="1" dirty="0">
                    <a:solidFill>
                      <a:srgbClr val="000000"/>
                    </a:solidFill>
                  </a:rPr>
                  <a:t>1D) blood flow</a:t>
                </a:r>
                <a:r>
                  <a:rPr lang="en-GB" sz="2000" b="1" dirty="0">
                    <a:solidFill>
                      <a:srgbClr val="000000"/>
                    </a:solidFill>
                    <a:effectLst/>
                  </a:rPr>
                  <a:t> equations</a:t>
                </a:r>
                <a:r>
                  <a:rPr lang="en-GB" sz="2000" dirty="0">
                    <a:solidFill>
                      <a:srgbClr val="000000"/>
                    </a:solidFill>
                    <a:effectLst/>
                  </a:rPr>
                  <a:t> (PDEs) in a deformable vessel:</a:t>
                </a:r>
                <a:endParaRPr lang="en-GB" sz="2000" dirty="0">
                  <a:solidFill>
                    <a:srgbClr val="000000"/>
                  </a:solidFill>
                  <a:ea typeface="Calibri"/>
                  <a:cs typeface="Calibri"/>
                </a:endParaRPr>
              </a:p>
              <a:p>
                <a:pPr>
                  <a:buNone/>
                </a:pPr>
                <a:endParaRPr lang="en-US" dirty="0">
                  <a:ea typeface="Calibri"/>
                  <a:cs typeface="Calibri"/>
                </a:endParaRPr>
              </a:p>
              <a:p>
                <a:pPr lvl="3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mPr>
                        <m:m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mPr>
                              <m:mr>
                                <m:e>
                                  <m:f>
                                    <m:f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𝑞</m:t>
                                      </m:r>
                                    </m:num>
                                    <m:den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𝑡</m:t>
                                      </m:r>
                                    </m:den>
                                  </m:f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</m:num>
                                    <m:den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𝑥</m:t>
                                      </m:r>
                                    </m:den>
                                  </m:f>
                                  <m:d>
                                    <m:d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𝛼</m:t>
                                      </m:r>
                                      <m:f>
                                        <m:f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fPr>
                                        <m:num>
                                          <m:sSup>
                                            <m:sSupPr>
                                              <m:ctrlPr>
                                                <a:rPr lang="en-US" sz="20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/>
                                                </a:rPr>
                                                <m:t>𝑞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i="1" dirty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Calibri"/>
                                                </a:rPr>
                                                <m:t>2</m:t>
                                              </m:r>
                                            </m:sup>
                                          </m:sSup>
                                        </m:num>
                                        <m:den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  <m:t>𝐴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𝜌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𝑝</m:t>
                                      </m:r>
                                    </m:num>
                                    <m:den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𝑥</m:t>
                                      </m:r>
                                    </m:den>
                                  </m:f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=−</m:t>
                                  </m:r>
                                  <m:sSub>
                                    <m:sSub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𝑘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𝑅</m:t>
                                      </m:r>
                                    </m:sub>
                                  </m:sSub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𝑞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  <m:t>𝐴</m:t>
                                      </m:r>
                                    </m:den>
                                  </m:f>
                                  <m:r>
                                    <m:rPr>
                                      <m:nor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  <a:ea typeface="Calibri"/>
                                      <a:cs typeface="Calibri"/>
                                    </a:rPr>
                                    <m:t>,</m:t>
                                  </m:r>
                                </m:e>
                              </m:mr>
                              <m:mr>
                                <m:e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𝐴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𝑡</m:t>
                                      </m:r>
                                    </m:den>
                                  </m:f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2000" i="1">
                                          <a:latin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𝑞</m:t>
                                      </m:r>
                                    </m:num>
                                    <m:den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𝜕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𝑥</m:t>
                                      </m:r>
                                    </m:den>
                                  </m:f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=</m:t>
                                  </m:r>
                                  <m:r>
                                    <a:rPr lang="en-US" sz="20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0,</m:t>
                                  </m:r>
                                </m:e>
                              </m:mr>
                            </m:m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2000" b="0" i="0" dirty="0" smtClean="0">
                                <a:latin typeface="Cambria Math" panose="02040503050406030204" pitchFamily="18" charset="0"/>
                                <a:ea typeface="Calibri"/>
                                <a:cs typeface="Calibri"/>
                              </a:rPr>
                              <m:t>for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∈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/>
                                      </a:rPr>
                                      <m:t>𝐿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Calibri"/>
                                      </a:rPr>
                                      <m:t>𝑅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and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&gt;0,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+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BCs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at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and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𝑥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/>
                                  </a:rPr>
                                  <m:t>𝑅</m:t>
                                </m:r>
                              </m:sub>
                            </m:s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+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ICs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  <a:cs typeface="Calibri"/>
                              </a:rPr>
                              <m:t>at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=0,</m:t>
                            </m:r>
                          </m:e>
                        </m:mr>
                      </m:m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  <a:p>
                <a:endParaRPr lang="en-US" sz="2000" dirty="0"/>
              </a:p>
              <a:p>
                <a:r>
                  <a:rPr lang="en-US" sz="2000" dirty="0"/>
                  <a:t>with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: vessel cross-sectional area;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: flow rate;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: cross-sectional averaged internal pressure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Assumed axisymmetric velocity profile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lang="en-US" sz="2000" dirty="0"/>
                  <a:t> : average fluid velocity on a cross-section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>
                    <a:ea typeface="Cambria Math" panose="02040503050406030204" pitchFamily="18" charset="0"/>
                  </a:rPr>
                  <a:t> : momentum correction factor;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000" dirty="0"/>
                  <a:t> : blood density (constant);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en-US" sz="2000" dirty="0"/>
                  <a:t> : viscous resistance coefficient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2000" dirty="0"/>
                  <a:t> : vessel length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000" dirty="0"/>
              </a:p>
              <a:p>
                <a:r>
                  <a:rPr lang="en-US" sz="2000" dirty="0">
                    <a:solidFill>
                      <a:srgbClr val="FF0000"/>
                    </a:solidFill>
                  </a:rPr>
                  <a:t>…we have 2 equations in 3 unknowns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)!!!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5CF0E7E-C2E9-611C-D3A6-643E3E87E2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" y="768974"/>
                <a:ext cx="10800080" cy="5787033"/>
              </a:xfrm>
              <a:prstGeom prst="rect">
                <a:avLst/>
              </a:prstGeom>
              <a:blipFill>
                <a:blip r:embed="rId3"/>
                <a:stretch>
                  <a:fillRect l="-588" t="-439" b="-109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5AAA57EE-0F56-A4A5-EA85-1F4332C27D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96"/>
          <a:stretch/>
        </p:blipFill>
        <p:spPr>
          <a:xfrm>
            <a:off x="9297966" y="1454774"/>
            <a:ext cx="2659922" cy="1512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92876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11A2E1D3-F303-E903-294D-1271B60B2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01EBB74E-5D96-4B8A-B7C9-8449A8F25C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1D averaged blood flow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EFEDEE-A712-59BC-CA5F-900A362F04FA}"/>
                  </a:ext>
                </a:extLst>
              </p:cNvPr>
              <p:cNvSpPr txBox="1"/>
              <p:nvPr/>
            </p:nvSpPr>
            <p:spPr>
              <a:xfrm>
                <a:off x="701040" y="941694"/>
                <a:ext cx="10800080" cy="600760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buNone/>
                </a:pPr>
                <a:r>
                  <a:rPr lang="en-GB" sz="2000" dirty="0">
                    <a:solidFill>
                      <a:srgbClr val="141413"/>
                    </a:solidFill>
                  </a:rPr>
                  <a:t>T</a:t>
                </a:r>
                <a:r>
                  <a:rPr lang="en-GB" sz="2000" dirty="0">
                    <a:solidFill>
                      <a:srgbClr val="141413"/>
                    </a:solidFill>
                    <a:effectLst/>
                  </a:rPr>
                  <a:t>o close the system, we need to introduce a </a:t>
                </a:r>
                <a:r>
                  <a:rPr lang="en-GB" sz="2000" b="1" dirty="0">
                    <a:solidFill>
                      <a:srgbClr val="141413"/>
                    </a:solidFill>
                    <a:effectLst/>
                  </a:rPr>
                  <a:t>constitutive equation </a:t>
                </a:r>
                <a:r>
                  <a:rPr lang="en-GB" sz="2000" dirty="0">
                    <a:solidFill>
                      <a:srgbClr val="141413"/>
                    </a:solidFill>
                    <a:effectLst/>
                  </a:rPr>
                  <a:t>that characterizes the </a:t>
                </a:r>
                <a:r>
                  <a:rPr lang="en-GB" sz="2000" b="1" dirty="0">
                    <a:solidFill>
                      <a:srgbClr val="141413"/>
                    </a:solidFill>
                    <a:effectLst/>
                  </a:rPr>
                  <a:t>vessel wall behaviour</a:t>
                </a:r>
                <a:r>
                  <a:rPr lang="en-GB" sz="2000" dirty="0">
                    <a:solidFill>
                      <a:srgbClr val="141413"/>
                    </a:solidFill>
                  </a:rPr>
                  <a:t> </a:t>
                </a:r>
                <a:r>
                  <a:rPr lang="en-GB" sz="2000" dirty="0">
                    <a:solidFill>
                      <a:srgbClr val="141413"/>
                    </a:solidFill>
                    <a:sym typeface="Wingdings" pitchFamily="2" charset="2"/>
                  </a:rPr>
                  <a:t> a </a:t>
                </a:r>
                <a:r>
                  <a:rPr lang="en-GB" sz="2000" b="1" dirty="0">
                    <a:solidFill>
                      <a:srgbClr val="141413"/>
                    </a:solidFill>
                    <a:sym typeface="Wingdings" pitchFamily="2" charset="2"/>
                  </a:rPr>
                  <a:t>pressure-area relation </a:t>
                </a:r>
                <a:r>
                  <a:rPr lang="en-GB" sz="2000" dirty="0">
                    <a:solidFill>
                      <a:srgbClr val="141413"/>
                    </a:solidFill>
                    <a:sym typeface="Wingdings" pitchFamily="2" charset="2"/>
                  </a:rPr>
                  <a:t>(or </a:t>
                </a:r>
                <a:r>
                  <a:rPr lang="en-GB" sz="2000" b="1" dirty="0">
                    <a:solidFill>
                      <a:srgbClr val="141413"/>
                    </a:solidFill>
                    <a:sym typeface="Wingdings" pitchFamily="2" charset="2"/>
                  </a:rPr>
                  <a:t>tube law</a:t>
                </a:r>
                <a:r>
                  <a:rPr lang="en-GB" sz="2000" dirty="0">
                    <a:solidFill>
                      <a:srgbClr val="141413"/>
                    </a:solidFill>
                    <a:sym typeface="Wingdings" pitchFamily="2" charset="2"/>
                  </a:rPr>
                  <a:t>).</a:t>
                </a:r>
              </a:p>
              <a:p>
                <a:pPr>
                  <a:buNone/>
                </a:pPr>
                <a:endParaRPr lang="en-GB" sz="2000" dirty="0">
                  <a:solidFill>
                    <a:srgbClr val="141413"/>
                  </a:solidFill>
                  <a:sym typeface="Wingdings" pitchFamily="2" charset="2"/>
                </a:endParaRPr>
              </a:p>
              <a:p>
                <a:pPr>
                  <a:buNone/>
                </a:pPr>
                <a:r>
                  <a:rPr lang="en-GB" sz="2000" b="1" dirty="0">
                    <a:solidFill>
                      <a:srgbClr val="141413"/>
                    </a:solidFill>
                    <a:sym typeface="Wingdings" pitchFamily="2" charset="2"/>
                  </a:rPr>
                  <a:t>Example:</a:t>
                </a:r>
                <a:r>
                  <a:rPr lang="en-GB" sz="2000" dirty="0">
                    <a:solidFill>
                      <a:srgbClr val="141413"/>
                    </a:solidFill>
                    <a:sym typeface="Wingdings" pitchFamily="2" charset="2"/>
                  </a:rPr>
                  <a:t> </a:t>
                </a:r>
                <a:r>
                  <a:rPr lang="en-GB" sz="2000" dirty="0">
                    <a:solidFill>
                      <a:srgbClr val="141413"/>
                    </a:solidFill>
                  </a:rPr>
                  <a:t>simple constitutive equation for the vessel wall under the assumption of linear elastic incompressible behaviour in arteries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d>
                        <m:dPr>
                          <m:ctrlP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solidFill>
                                        <a:srgbClr val="141413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solidFill>
                                        <a:srgbClr val="141413"/>
                                      </a:solidFill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141413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141413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141413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141413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141413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solidFill>
                                            <a:srgbClr val="14141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rgbClr val="14141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solidFill>
                                            <a:srgbClr val="141413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rad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en-GB" sz="2000" dirty="0">
                  <a:solidFill>
                    <a:srgbClr val="141413"/>
                  </a:solidFill>
                </a:endParaRPr>
              </a:p>
              <a:p>
                <a:pPr>
                  <a:buNone/>
                </a:pPr>
                <a:endParaRPr lang="en-GB" sz="2000" dirty="0">
                  <a:solidFill>
                    <a:srgbClr val="141413"/>
                  </a:solidFill>
                </a:endParaRPr>
              </a:p>
              <a:p>
                <a:pPr>
                  <a:buNone/>
                </a:pPr>
                <a:r>
                  <a:rPr lang="en-GB" sz="2000" dirty="0">
                    <a:solidFill>
                      <a:srgbClr val="141413"/>
                    </a:solidFill>
                  </a:rPr>
                  <a:t>with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141413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141413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141413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rgbClr val="141413"/>
                    </a:solidFill>
                  </a:rPr>
                  <a:t> : reference area and pressure;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141413"/>
                    </a:solidFill>
                  </a:rPr>
                  <a:t> : reference radius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rgbClr val="141413"/>
                        </a:solidFill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GB" sz="2000" dirty="0">
                    <a:solidFill>
                      <a:srgbClr val="141413"/>
                    </a:solidFill>
                  </a:rPr>
                  <a:t> : wall thickness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dirty="0" smtClean="0">
                        <a:solidFill>
                          <a:srgbClr val="141413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GB" sz="2000" dirty="0">
                    <a:solidFill>
                      <a:srgbClr val="141413"/>
                    </a:solidFill>
                  </a:rPr>
                  <a:t> : </a:t>
                </a:r>
                <a:r>
                  <a:rPr lang="en-GB" dirty="0"/>
                  <a:t>Young elastic modulus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000" i="1" smtClean="0">
                        <a:solidFill>
                          <a:srgbClr val="14141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</m:oMath>
                </a14:m>
                <a:r>
                  <a:rPr lang="en-GB" sz="2000" dirty="0">
                    <a:solidFill>
                      <a:srgbClr val="141413"/>
                    </a:solidFill>
                  </a:rPr>
                  <a:t> : </a:t>
                </a:r>
                <a:r>
                  <a:rPr lang="en-GB" dirty="0"/>
                  <a:t>Poisson ratio (</a:t>
                </a:r>
                <a14:m>
                  <m:oMath xmlns:m="http://schemas.openxmlformats.org/officeDocument/2006/math">
                    <m:r>
                      <a:rPr lang="en-GB" sz="2000" i="1">
                        <a:solidFill>
                          <a:srgbClr val="14141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𝜈</m:t>
                    </m:r>
                    <m:r>
                      <a:rPr lang="en-US" sz="2000" b="0" i="1" smtClean="0">
                        <a:solidFill>
                          <a:srgbClr val="14141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sz="2000" dirty="0">
                    <a:solidFill>
                      <a:srgbClr val="141413"/>
                    </a:solidFill>
                  </a:rPr>
                  <a:t> for incompressible material)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GB" sz="2000" dirty="0">
                  <a:solidFill>
                    <a:srgbClr val="141413"/>
                  </a:solidFill>
                </a:endParaRPr>
              </a:p>
              <a:p>
                <a:r>
                  <a:rPr lang="en-GB" sz="2000" dirty="0">
                    <a:solidFill>
                      <a:srgbClr val="141413"/>
                    </a:solidFill>
                  </a:rPr>
                  <a:t>In general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𝑒𝑙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</a:rPr>
                                <m:t>𝑒𝑙</m:t>
                              </m:r>
                            </m:sub>
                          </m:sSub>
                        </m:e>
                      </m:d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Ψ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𝑣𝑖𝑠𝑐𝑜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𝑣𝑖𝑠𝑐𝑜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000" dirty="0">
                  <a:solidFill>
                    <a:srgbClr val="141413"/>
                  </a:solidFill>
                </a:endParaRPr>
              </a:p>
              <a:p>
                <a:pPr>
                  <a:buNone/>
                </a:pPr>
                <a:endParaRPr lang="en-GB" sz="2000" dirty="0">
                  <a:solidFill>
                    <a:srgbClr val="141413"/>
                  </a:solidFill>
                </a:endParaRPr>
              </a:p>
              <a:p>
                <a:pPr>
                  <a:buNone/>
                </a:pPr>
                <a:endParaRPr lang="en-GB" sz="2000" dirty="0">
                  <a:solidFill>
                    <a:srgbClr val="141413"/>
                  </a:solidFill>
                  <a:effectLst/>
                  <a:latin typeface="STIX Two Text" pitchFamily="2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AEFEDEE-A712-59BC-CA5F-900A362F04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040" y="941694"/>
                <a:ext cx="10800080" cy="6007607"/>
              </a:xfrm>
              <a:prstGeom prst="rect">
                <a:avLst/>
              </a:prstGeom>
              <a:blipFill>
                <a:blip r:embed="rId3"/>
                <a:stretch>
                  <a:fillRect l="-588" t="-421" b="-842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ight Brace 2">
            <a:extLst>
              <a:ext uri="{FF2B5EF4-FFF2-40B4-BE49-F238E27FC236}">
                <a16:creationId xmlns:a16="http://schemas.microsoft.com/office/drawing/2014/main" id="{55C12725-472D-B4FB-0019-46C56F3C9029}"/>
              </a:ext>
            </a:extLst>
          </p:cNvPr>
          <p:cNvSpPr/>
          <p:nvPr/>
        </p:nvSpPr>
        <p:spPr>
          <a:xfrm rot="16200000" flipV="1">
            <a:off x="5498338" y="5244338"/>
            <a:ext cx="148844" cy="1290320"/>
          </a:xfrm>
          <a:prstGeom prst="rightBrac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662BF356-8763-30FC-9517-0575C90A3E60}"/>
              </a:ext>
            </a:extLst>
          </p:cNvPr>
          <p:cNvSpPr/>
          <p:nvPr/>
        </p:nvSpPr>
        <p:spPr>
          <a:xfrm rot="5400000">
            <a:off x="7591298" y="5142738"/>
            <a:ext cx="148844" cy="2367280"/>
          </a:xfrm>
          <a:prstGeom prst="rightBrace">
            <a:avLst/>
          </a:prstGeom>
          <a:ln w="190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2FD1F0-C121-28B6-CBD1-0222249B0DCD}"/>
              </a:ext>
            </a:extLst>
          </p:cNvPr>
          <p:cNvSpPr txBox="1"/>
          <p:nvPr/>
        </p:nvSpPr>
        <p:spPr>
          <a:xfrm>
            <a:off x="4617306" y="5471720"/>
            <a:ext cx="191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accent5"/>
                </a:solidFill>
              </a:rPr>
              <a:t>e</a:t>
            </a:r>
            <a:r>
              <a:rPr lang="en-IT" dirty="0">
                <a:solidFill>
                  <a:schemeClr val="accent5"/>
                </a:solidFill>
              </a:rPr>
              <a:t>lastic component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924946-63DE-166A-042D-395BEC033B93}"/>
              </a:ext>
            </a:extLst>
          </p:cNvPr>
          <p:cNvSpPr txBox="1"/>
          <p:nvPr/>
        </p:nvSpPr>
        <p:spPr>
          <a:xfrm>
            <a:off x="5915032" y="6360883"/>
            <a:ext cx="3530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/>
                </a:solidFill>
              </a:rPr>
              <a:t>viscoelastic </a:t>
            </a:r>
            <a:r>
              <a:rPr lang="en-IT" dirty="0">
                <a:solidFill>
                  <a:schemeClr val="accent6"/>
                </a:solidFill>
              </a:rPr>
              <a:t>component (Voigt-type)</a:t>
            </a:r>
          </a:p>
        </p:txBody>
      </p:sp>
      <p:sp>
        <p:nvSpPr>
          <p:cNvPr id="17" name="Right Brace 16">
            <a:extLst>
              <a:ext uri="{FF2B5EF4-FFF2-40B4-BE49-F238E27FC236}">
                <a16:creationId xmlns:a16="http://schemas.microsoft.com/office/drawing/2014/main" id="{D7931916-AC79-F382-6607-EA4C8E776A8D}"/>
              </a:ext>
            </a:extLst>
          </p:cNvPr>
          <p:cNvSpPr/>
          <p:nvPr/>
        </p:nvSpPr>
        <p:spPr>
          <a:xfrm rot="5400000">
            <a:off x="5925265" y="2751789"/>
            <a:ext cx="148844" cy="1310226"/>
          </a:xfrm>
          <a:prstGeom prst="rightBrac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9A798F-518D-1C2C-4A7F-2353499D59AF}"/>
                  </a:ext>
                </a:extLst>
              </p:cNvPr>
              <p:cNvSpPr txBox="1"/>
              <p:nvPr/>
            </p:nvSpPr>
            <p:spPr>
              <a:xfrm>
                <a:off x="4309752" y="3503106"/>
                <a:ext cx="338438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GB" dirty="0">
                    <a:solidFill>
                      <a:schemeClr val="accent2"/>
                    </a:solidFill>
                  </a:rPr>
                  <a:t> : v</a:t>
                </a:r>
                <a:r>
                  <a:rPr lang="en-IT" dirty="0">
                    <a:solidFill>
                      <a:schemeClr val="accent2"/>
                    </a:solidFill>
                  </a:rPr>
                  <a:t>essel wall stiffness parameter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9A798F-518D-1C2C-4A7F-2353499D5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9752" y="3503106"/>
                <a:ext cx="3384388" cy="369332"/>
              </a:xfrm>
              <a:prstGeom prst="rect">
                <a:avLst/>
              </a:prstGeom>
              <a:blipFill>
                <a:blip r:embed="rId5"/>
                <a:stretch>
                  <a:fillRect t="-10345" r="-749" b="-2758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ded Corner 3">
            <a:extLst>
              <a:ext uri="{FF2B5EF4-FFF2-40B4-BE49-F238E27FC236}">
                <a16:creationId xmlns:a16="http://schemas.microsoft.com/office/drawing/2014/main" id="{D60C31DF-73A5-F3B0-C510-08E348B7E0BA}"/>
              </a:ext>
            </a:extLst>
          </p:cNvPr>
          <p:cNvSpPr/>
          <p:nvPr/>
        </p:nvSpPr>
        <p:spPr>
          <a:xfrm>
            <a:off x="9622971" y="2707666"/>
            <a:ext cx="2264229" cy="2027620"/>
          </a:xfrm>
          <a:prstGeom prst="foldedCorner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000" dirty="0">
                <a:solidFill>
                  <a:sysClr val="windowText" lastClr="000000"/>
                </a:solidFill>
              </a:rPr>
              <a:t>More details in tomorrow’s lecture on </a:t>
            </a:r>
            <a:r>
              <a:rPr lang="en-IT" sz="2000" b="1" dirty="0">
                <a:solidFill>
                  <a:sysClr val="windowText" lastClr="000000"/>
                </a:solidFill>
              </a:rPr>
              <a:t>constitutive modelling </a:t>
            </a:r>
            <a:r>
              <a:rPr lang="en-IT" sz="2000" dirty="0">
                <a:solidFill>
                  <a:sysClr val="windowText" lastClr="000000"/>
                </a:solidFill>
              </a:rPr>
              <a:t>by A. Giudici!!!</a:t>
            </a:r>
          </a:p>
        </p:txBody>
      </p:sp>
    </p:spTree>
    <p:extLst>
      <p:ext uri="{BB962C8B-B14F-4D97-AF65-F5344CB8AC3E}">
        <p14:creationId xmlns:p14="http://schemas.microsoft.com/office/powerpoint/2010/main" val="14278036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5B83E25D-5750-070C-F3CA-A41034848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E4F01967-A2AB-5A1C-24E1-074683913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Pulse wave velocity (PWV)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E08CBA-08B4-4099-4546-6F99FC1020EF}"/>
                  </a:ext>
                </a:extLst>
              </p:cNvPr>
              <p:cNvSpPr txBox="1"/>
              <p:nvPr/>
            </p:nvSpPr>
            <p:spPr>
              <a:xfrm>
                <a:off x="695960" y="1364300"/>
                <a:ext cx="10800080" cy="412940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2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2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sz="22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2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lang="en-US" sz="2200" b="0" dirty="0">
                  <a:solidFill>
                    <a:srgbClr val="141413"/>
                  </a:solidFill>
                </a:endParaRPr>
              </a:p>
              <a:p>
                <a:pPr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00" b="0" i="1" smtClean="0">
                        <a:solidFill>
                          <a:srgbClr val="14141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r>
                      <a:rPr lang="en-US" sz="2200" b="0" i="1" smtClean="0">
                        <a:solidFill>
                          <a:srgbClr val="141413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2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200" b="0" i="1" smtClean="0">
                        <a:solidFill>
                          <a:srgbClr val="141413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200" b="0" i="1" smtClean="0">
                                <a:solidFill>
                                  <a:srgbClr val="1414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sz="2200" i="1">
                                    <a:solidFill>
                                      <a:srgbClr val="14141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2200" i="1">
                                        <a:solidFill>
                                          <a:srgbClr val="141413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200" i="1">
                                        <a:solidFill>
                                          <a:srgbClr val="14141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200" i="1">
                                        <a:solidFill>
                                          <a:srgbClr val="14141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𝐴</m:t>
                                    </m:r>
                                  </m:num>
                                  <m:den>
                                    <m:r>
                                      <a:rPr lang="en-US" sz="2200" i="1">
                                        <a:solidFill>
                                          <a:srgbClr val="14141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200" i="1">
                                        <a:solidFill>
                                          <a:srgbClr val="141413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  <m:sub>
                        <m:r>
                          <a:rPr lang="en-US" sz="22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2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200" b="0" i="1" smtClean="0">
                                <a:solidFill>
                                  <a:srgbClr val="1414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200" b="0" i="1" smtClean="0">
                                <a:solidFill>
                                  <a:srgbClr val="141413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200" b="0" i="1" smtClean="0">
                                <a:solidFill>
                                  <a:srgbClr val="141413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2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2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</m:oMath>
                </a14:m>
                <a:r>
                  <a:rPr lang="en-US" sz="2200" dirty="0">
                    <a:solidFill>
                      <a:srgbClr val="141413"/>
                    </a:solidFill>
                  </a:rPr>
                  <a:t> : wall compliance per unit of vessel length</a:t>
                </a:r>
              </a:p>
              <a:p>
                <a:pPr algn="ctr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solidFill>
                          <a:srgbClr val="141413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  <m:sSub>
                      <m:sSubPr>
                        <m:ctrlPr>
                          <a:rPr lang="en-US" sz="220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PWV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loc</m:t>
                        </m:r>
                      </m:sub>
                    </m:sSub>
                    <m:d>
                      <m:dPr>
                        <m:ctrlPr>
                          <a:rPr lang="en-US" sz="2200" i="1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2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200" i="1">
                        <a:solidFill>
                          <a:srgbClr val="141413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i="1" smtClean="0">
                            <a:solidFill>
                              <a:srgbClr val="141413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sz="2200" i="1">
                                <a:solidFill>
                                  <a:srgbClr val="1414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200" i="1">
                                <a:solidFill>
                                  <a:srgbClr val="141413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sz="2200" i="1">
                                <a:solidFill>
                                  <a:srgbClr val="141413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𝜌</m:t>
                            </m:r>
                          </m:den>
                        </m:f>
                        <m:d>
                          <m:dPr>
                            <m:ctrlPr>
                              <a:rPr lang="en-US" sz="2200" i="1">
                                <a:solidFill>
                                  <a:srgbClr val="141413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200" i="1">
                                    <a:solidFill>
                                      <a:srgbClr val="141413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200" i="1">
                                    <a:solidFill>
                                      <a:srgbClr val="14141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200" b="0" i="1" smtClean="0">
                                    <a:solidFill>
                                      <a:srgbClr val="14141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sz="2200" i="1">
                                    <a:solidFill>
                                      <a:srgbClr val="14141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200" b="0" i="1" smtClean="0">
                                    <a:solidFill>
                                      <a:srgbClr val="141413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𝐴</m:t>
                                </m:r>
                              </m:den>
                            </m:f>
                          </m:e>
                        </m:d>
                      </m:e>
                    </m:rad>
                  </m:oMath>
                </a14:m>
                <a:r>
                  <a:rPr lang="en-US" sz="2200" b="0" dirty="0">
                    <a:solidFill>
                      <a:srgbClr val="141413"/>
                    </a:solidFill>
                  </a:rPr>
                  <a:t> : </a:t>
                </a:r>
                <a:r>
                  <a:rPr lang="en-US" sz="2200" b="0" i="1" dirty="0">
                    <a:solidFill>
                      <a:srgbClr val="141413"/>
                    </a:solidFill>
                  </a:rPr>
                  <a:t>local</a:t>
                </a:r>
                <a:r>
                  <a:rPr lang="en-US" sz="2200" b="0" dirty="0">
                    <a:solidFill>
                      <a:srgbClr val="141413"/>
                    </a:solidFill>
                  </a:rPr>
                  <a:t> PWV – a measure of arterial stiffness</a:t>
                </a:r>
              </a:p>
              <a:p>
                <a:pPr algn="ctr">
                  <a:lnSpc>
                    <a:spcPct val="150000"/>
                  </a:lnSpc>
                  <a:buNone/>
                </a:pPr>
                <a:r>
                  <a:rPr lang="en-US" sz="2200" dirty="0">
                    <a:solidFill>
                      <a:srgbClr val="141413"/>
                    </a:solidFill>
                  </a:rPr>
                  <a:t>OR </a:t>
                </a:r>
                <a:r>
                  <a:rPr lang="en-US" sz="2200" i="1" dirty="0">
                    <a:solidFill>
                      <a:srgbClr val="141413"/>
                    </a:solidFill>
                  </a:rPr>
                  <a:t>global</a:t>
                </a:r>
                <a:r>
                  <a:rPr lang="en-US" sz="2200" dirty="0">
                    <a:solidFill>
                      <a:srgbClr val="141413"/>
                    </a:solidFill>
                  </a:rPr>
                  <a:t> PWV : </a:t>
                </a:r>
                <a:r>
                  <a:rPr lang="en-US" sz="2200" dirty="0" err="1">
                    <a:solidFill>
                      <a:srgbClr val="141413"/>
                    </a:solidFill>
                  </a:rPr>
                  <a:t>cf</a:t>
                </a:r>
                <a:r>
                  <a:rPr lang="en-US" sz="2200" dirty="0">
                    <a:solidFill>
                      <a:srgbClr val="141413"/>
                    </a:solidFill>
                  </a:rPr>
                  <a:t>-PWV (carotid-femoral), </a:t>
                </a:r>
                <a:r>
                  <a:rPr lang="en-US" sz="2200" dirty="0" err="1">
                    <a:solidFill>
                      <a:srgbClr val="141413"/>
                    </a:solidFill>
                  </a:rPr>
                  <a:t>ba</a:t>
                </a:r>
                <a:r>
                  <a:rPr lang="en-US" sz="2200" dirty="0">
                    <a:solidFill>
                      <a:srgbClr val="141413"/>
                    </a:solidFill>
                  </a:rPr>
                  <a:t>-PWV (brachial-ankle),… </a:t>
                </a:r>
              </a:p>
              <a:p>
                <a:pPr algn="ctr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20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20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</m:num>
                        <m:den>
                          <m:r>
                            <a:rPr lang="en-US" sz="220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US" sz="220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𝑋𝑌</m:t>
                              </m:r>
                            </m:sub>
                          </m:sSub>
                        </m:den>
                      </m:f>
                      <m:r>
                        <a:rPr lang="en-US" sz="2200" b="0" i="1" smtClean="0">
                          <a:solidFill>
                            <a:srgbClr val="141413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distance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foot</m:t>
                          </m:r>
                          <m:r>
                            <a:rPr lang="en-US" sz="2200" b="0" i="0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to</m:t>
                          </m:r>
                          <m:r>
                            <a:rPr lang="en-US" sz="2200" b="0" i="0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foot</m:t>
                          </m:r>
                          <m:r>
                            <a:rPr lang="en-US" sz="2200" b="0" i="0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200" b="0" i="0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time</m:t>
                          </m:r>
                          <m:r>
                            <a:rPr lang="en-US" sz="2200" b="0" i="0" smtClean="0">
                              <a:solidFill>
                                <a:srgbClr val="141413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200" b="0" i="1" smtClean="0">
                                  <a:solidFill>
                                    <a:srgbClr val="141413"/>
                                  </a:solidFill>
                                  <a:latin typeface="Cambria Math" panose="02040503050406030204" pitchFamily="18" charset="0"/>
                                </a:rPr>
                                <m:t>𝑤𝑎𝑣𝑒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200" b="0" dirty="0">
                  <a:solidFill>
                    <a:srgbClr val="141413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E08CBA-08B4-4099-4546-6F99FC102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" y="1364300"/>
                <a:ext cx="10800080" cy="4129400"/>
              </a:xfrm>
              <a:prstGeom prst="rect">
                <a:avLst/>
              </a:prstGeom>
              <a:blipFill>
                <a:blip r:embed="rId3"/>
                <a:stretch>
                  <a:fillRect t="-521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282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147CE9DC-B84D-9BA0-01BD-1DDAA76BE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1586C27A-FF02-809E-2F64-54F43C49DB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Derivation of 0D blood flow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180330-33F5-C074-B2FD-4F8F5AF69EAA}"/>
                  </a:ext>
                </a:extLst>
              </p:cNvPr>
              <p:cNvSpPr txBox="1"/>
              <p:nvPr/>
            </p:nvSpPr>
            <p:spPr>
              <a:xfrm>
                <a:off x="462556" y="1019434"/>
                <a:ext cx="7574132" cy="783193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dirty="0">
                    <a:ea typeface="Calibri"/>
                    <a:cs typeface="Calibri"/>
                  </a:rPr>
                  <a:t>A family of </a:t>
                </a:r>
                <a:r>
                  <a:rPr lang="en-US" sz="2000" b="1" dirty="0">
                    <a:ea typeface="Calibri"/>
                    <a:cs typeface="Calibri"/>
                  </a:rPr>
                  <a:t>zero-dimensional (0D) blood flow models</a:t>
                </a:r>
                <a:r>
                  <a:rPr lang="en-US" sz="2000" dirty="0">
                    <a:ea typeface="Calibri"/>
                    <a:cs typeface="Calibri"/>
                  </a:rPr>
                  <a:t> can be derived </a:t>
                </a:r>
                <a:r>
                  <a:rPr lang="en-US" sz="2000" b="1" dirty="0">
                    <a:ea typeface="Calibri"/>
                    <a:cs typeface="Calibri"/>
                  </a:rPr>
                  <a:t>by integrating in space</a:t>
                </a:r>
                <a:r>
                  <a:rPr lang="en-US" sz="2000" dirty="0">
                    <a:ea typeface="Calibri"/>
                    <a:cs typeface="Calibri"/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𝑥</m:t>
                    </m:r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the 1D equations.</a:t>
                </a:r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C180330-33F5-C074-B2FD-4F8F5AF69E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6" y="1019434"/>
                <a:ext cx="7574132" cy="783193"/>
              </a:xfrm>
              <a:prstGeom prst="roundRect">
                <a:avLst/>
              </a:prstGeom>
              <a:blipFill>
                <a:blip r:embed="rId4"/>
                <a:stretch>
                  <a:fillRect l="-167" b="-6154"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C3D9CFA-5824-555F-17E9-D38FF9B23E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96"/>
          <a:stretch/>
        </p:blipFill>
        <p:spPr>
          <a:xfrm>
            <a:off x="9268726" y="844135"/>
            <a:ext cx="2659922" cy="15120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B4BD82-4DF2-9B0E-B6EF-565A6D1018B5}"/>
                  </a:ext>
                </a:extLst>
              </p:cNvPr>
              <p:cNvSpPr txBox="1"/>
              <p:nvPr/>
            </p:nvSpPr>
            <p:spPr>
              <a:xfrm>
                <a:off x="462556" y="1956954"/>
                <a:ext cx="7574132" cy="22461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dirty="0">
                    <a:ea typeface="Calibri"/>
                    <a:cs typeface="Calibri"/>
                  </a:rPr>
                  <a:t>1) Integral averages </a:t>
                </a:r>
                <a:r>
                  <a:rPr lang="en-US" sz="2000" dirty="0">
                    <a:ea typeface="Calibri"/>
                    <a:cs typeface="Calibri"/>
                  </a:rPr>
                  <a:t>of the physical quantities of interest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acc>
                              <m:accPr>
                                <m:chr m:val="̂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sub>
                              <m:sup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nary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  <m:brk m:alnAt="7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ean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cross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sectional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area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sub>
                              <m:sup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mean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volumetric</m:t>
                                    </m:r>
                                  </m:e>
                                </m:d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flow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rate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nary>
                          </m:e>
                        </m:mr>
                      </m:m>
                    </m:oMath>
                  </m:oMathPara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/>
                  <a:t> : the volume of the vessel compartment.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6B4BD82-4DF2-9B0E-B6EF-565A6D101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6" y="1956954"/>
                <a:ext cx="7574132" cy="2246128"/>
              </a:xfrm>
              <a:prstGeom prst="rect">
                <a:avLst/>
              </a:prstGeom>
              <a:blipFill>
                <a:blip r:embed="rId6"/>
                <a:stretch>
                  <a:fillRect l="-838" t="-41808" b="-6214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BB1BB1-59F6-B01A-B3DB-5A93F6000D57}"/>
                  </a:ext>
                </a:extLst>
              </p:cNvPr>
              <p:cNvSpPr txBox="1"/>
              <p:nvPr/>
            </p:nvSpPr>
            <p:spPr>
              <a:xfrm>
                <a:off x="462556" y="4460332"/>
                <a:ext cx="10682964" cy="214956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dirty="0">
                    <a:ea typeface="Calibri"/>
                    <a:cs typeface="Calibri"/>
                  </a:rPr>
                  <a:t>2) Mass conservation equation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𝑅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d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=0</m:t>
                          </m:r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  <a:cs typeface="Calibri"/>
                        </a:rPr>
                        <m:t> 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⟹  </m:t>
                      </m:r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d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den>
                      </m:f>
                      <m:nary>
                        <m:nary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𝑅</m:t>
                              </m:r>
                            </m:sub>
                          </m:sSub>
                        </m:sup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𝐴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d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+</m:t>
                          </m:r>
                          <m:nary>
                            <m:nary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𝐿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𝑅</m:t>
                                  </m:r>
                                </m:sub>
                              </m:sSub>
                            </m:sup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d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=0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⟹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 </m:t>
                      </m:r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=0,</m:t>
                      </m:r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ea typeface="Calibri"/>
                    <a:cs typeface="Calibri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𝑅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𝐿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(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𝐿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,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)</m:t>
                    </m:r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3BB1BB1-59F6-B01A-B3DB-5A93F6000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6" y="4460332"/>
                <a:ext cx="10682964" cy="2149563"/>
              </a:xfrm>
              <a:prstGeom prst="rect">
                <a:avLst/>
              </a:prstGeom>
              <a:blipFill>
                <a:blip r:embed="rId7"/>
                <a:stretch>
                  <a:fillRect l="-594" t="-43529" b="-34118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186035B-17F7-5992-857F-8D716E93AA9D}"/>
              </a:ext>
            </a:extLst>
          </p:cNvPr>
          <p:cNvSpPr/>
          <p:nvPr/>
        </p:nvSpPr>
        <p:spPr>
          <a:xfrm>
            <a:off x="4378960" y="5564598"/>
            <a:ext cx="3302000" cy="653321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19126624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48427F3-EF80-3E8D-A09F-91A018A81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17291C28-6BB3-813D-BC12-4F2C85AE2F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Derivation of 0D blood flow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83190B-CDC0-4680-3D26-CF4B3A9747CF}"/>
                  </a:ext>
                </a:extLst>
              </p:cNvPr>
              <p:cNvSpPr txBox="1"/>
              <p:nvPr/>
            </p:nvSpPr>
            <p:spPr>
              <a:xfrm>
                <a:off x="462556" y="1019434"/>
                <a:ext cx="7574132" cy="783193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dirty="0">
                    <a:ea typeface="Calibri"/>
                    <a:cs typeface="Calibri"/>
                  </a:rPr>
                  <a:t>A family of </a:t>
                </a:r>
                <a:r>
                  <a:rPr lang="en-US" sz="2000" b="1" dirty="0">
                    <a:ea typeface="Calibri"/>
                    <a:cs typeface="Calibri"/>
                  </a:rPr>
                  <a:t>zero-dimensional (0D) blood flow models</a:t>
                </a:r>
                <a:r>
                  <a:rPr lang="en-US" sz="2000" dirty="0">
                    <a:ea typeface="Calibri"/>
                    <a:cs typeface="Calibri"/>
                  </a:rPr>
                  <a:t> can be derived </a:t>
                </a:r>
                <a:r>
                  <a:rPr lang="en-US" sz="2000" b="1" dirty="0">
                    <a:ea typeface="Calibri"/>
                    <a:cs typeface="Calibri"/>
                  </a:rPr>
                  <a:t>by integrating in space</a:t>
                </a:r>
                <a:r>
                  <a:rPr lang="en-US" sz="2000" dirty="0">
                    <a:ea typeface="Calibri"/>
                    <a:cs typeface="Calibri"/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𝑥</m:t>
                    </m:r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the 1D equations.</a:t>
                </a:r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83190B-CDC0-4680-3D26-CF4B3A974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6" y="1019434"/>
                <a:ext cx="7574132" cy="783193"/>
              </a:xfrm>
              <a:prstGeom prst="roundRect">
                <a:avLst/>
              </a:prstGeom>
              <a:blipFill>
                <a:blip r:embed="rId4"/>
                <a:stretch>
                  <a:fillRect l="-167" b="-6154"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AA50DA6-9057-2981-0845-B44A649C33A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96"/>
          <a:stretch/>
        </p:blipFill>
        <p:spPr>
          <a:xfrm>
            <a:off x="9268726" y="844135"/>
            <a:ext cx="2659922" cy="15120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63D154-2B66-D0A0-6DC1-4E23A6142F4B}"/>
                  </a:ext>
                </a:extLst>
              </p:cNvPr>
              <p:cNvSpPr txBox="1"/>
              <p:nvPr/>
            </p:nvSpPr>
            <p:spPr>
              <a:xfrm>
                <a:off x="462556" y="1956954"/>
                <a:ext cx="7574132" cy="22461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dirty="0">
                    <a:ea typeface="Calibri"/>
                    <a:cs typeface="Calibri"/>
                  </a:rPr>
                  <a:t>1) Integral averages </a:t>
                </a:r>
                <a:r>
                  <a:rPr lang="en-US" sz="2000" dirty="0">
                    <a:ea typeface="Calibri"/>
                    <a:cs typeface="Calibri"/>
                  </a:rPr>
                  <a:t>of the physical quantities of interest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acc>
                              <m:accPr>
                                <m:chr m:val="̂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sub>
                              <m:sup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nary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  <m:brk m:alnAt="7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ean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cross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sectional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area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sub>
                              <m:sup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mean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volumetric</m:t>
                                    </m:r>
                                  </m:e>
                                </m:d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flow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rate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nary>
                          </m:e>
                        </m:mr>
                      </m:m>
                    </m:oMath>
                  </m:oMathPara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/>
                  <a:t> : the volume of the vessel compartment.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563D154-2B66-D0A0-6DC1-4E23A6142F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6" y="1956954"/>
                <a:ext cx="7574132" cy="2246128"/>
              </a:xfrm>
              <a:prstGeom prst="rect">
                <a:avLst/>
              </a:prstGeom>
              <a:blipFill>
                <a:blip r:embed="rId6"/>
                <a:stretch>
                  <a:fillRect l="-838" t="-41808" b="-6214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F0BD48-4742-4AEC-A9E3-A431441C9D09}"/>
                  </a:ext>
                </a:extLst>
              </p:cNvPr>
              <p:cNvSpPr txBox="1"/>
              <p:nvPr/>
            </p:nvSpPr>
            <p:spPr>
              <a:xfrm>
                <a:off x="8274963" y="2993605"/>
                <a:ext cx="3642084" cy="1089306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dirty="0">
                    <a:ea typeface="Calibri"/>
                    <a:cs typeface="Calibri"/>
                  </a:rPr>
                  <a:t>2) Mass conservation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F0BD48-4742-4AEC-A9E3-A431441C9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963" y="2993605"/>
                <a:ext cx="3642084" cy="108930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7ABD85-D6A1-670C-A427-EC696CD613CE}"/>
                  </a:ext>
                </a:extLst>
              </p:cNvPr>
              <p:cNvSpPr txBox="1"/>
              <p:nvPr/>
            </p:nvSpPr>
            <p:spPr>
              <a:xfrm>
                <a:off x="462556" y="4297772"/>
                <a:ext cx="10682964" cy="1124923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dirty="0">
                    <a:ea typeface="Calibri"/>
                    <a:cs typeface="Calibri"/>
                  </a:rPr>
                  <a:t>3) Momentum balance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𝑅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𝛼</m:t>
                                  </m:r>
                                  <m:f>
                                    <m:f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𝐴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 dirty="0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𝜌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𝑅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US" sz="200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d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=0</m:t>
                          </m:r>
                        </m:e>
                      </m:nary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07ABD85-D6A1-670C-A427-EC696CD61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6" y="4297772"/>
                <a:ext cx="10682964" cy="1124923"/>
              </a:xfrm>
              <a:prstGeom prst="rect">
                <a:avLst/>
              </a:prstGeom>
              <a:blipFill>
                <a:blip r:embed="rId8"/>
                <a:stretch>
                  <a:fillRect l="-594" t="-80000" b="-15666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6B0FD791-4A7A-F74E-AC63-D7E7A7BC5D1F}"/>
                  </a:ext>
                </a:extLst>
              </p:cNvPr>
              <p:cNvSpPr/>
              <p:nvPr/>
            </p:nvSpPr>
            <p:spPr>
              <a:xfrm>
                <a:off x="2057400" y="5517385"/>
                <a:ext cx="7493276" cy="1232441"/>
              </a:xfrm>
              <a:prstGeom prst="round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IT" b="1" dirty="0">
                    <a:solidFill>
                      <a:sysClr val="windowText" lastClr="000000"/>
                    </a:solidFill>
                  </a:rPr>
                  <a:t>Assumptions:</a:t>
                </a:r>
              </a:p>
              <a:p>
                <a:r>
                  <a:rPr lang="en-IT" b="1" dirty="0">
                    <a:solidFill>
                      <a:srgbClr val="FF40FF"/>
                    </a:solidFill>
                  </a:rPr>
                  <a:t>(A1)</a:t>
                </a:r>
                <a:r>
                  <a:rPr lang="en-IT" dirty="0">
                    <a:solidFill>
                      <a:srgbClr val="FF40FF"/>
                    </a:solidFill>
                  </a:rPr>
                  <a:t> </a:t>
                </a:r>
                <a:r>
                  <a:rPr lang="en-IT" dirty="0">
                    <a:solidFill>
                      <a:sysClr val="windowText" lastClr="000000"/>
                    </a:solidFill>
                  </a:rPr>
                  <a:t>the contribution of the convective term is neglected;</a:t>
                </a:r>
              </a:p>
              <a:p>
                <a:pPr>
                  <a:buNone/>
                </a:pPr>
                <a:r>
                  <a:rPr lang="en-IT" b="1" dirty="0">
                    <a:solidFill>
                      <a:schemeClr val="accent6"/>
                    </a:solidFill>
                  </a:rPr>
                  <a:t>(A2) </a:t>
                </a:r>
                <a:r>
                  <a:rPr lang="en-GB" dirty="0">
                    <a:solidFill>
                      <a:sysClr val="windowText" lastClr="000000"/>
                    </a:solidFill>
                  </a:rPr>
                  <a:t>the variation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GB" dirty="0">
                    <a:solidFill>
                      <a:sysClr val="windowText" lastClr="000000"/>
                    </a:solidFill>
                  </a:rPr>
                  <a:t> with respect to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>
                    <a:solidFill>
                      <a:sysClr val="windowText" lastClr="000000"/>
                    </a:solidFill>
                  </a:rPr>
                  <a:t> is small compared to that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>
                    <a:solidFill>
                      <a:sysClr val="windowText" lastClr="000000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dirty="0">
                    <a:solidFill>
                      <a:sysClr val="windowText" lastClr="000000"/>
                    </a:solidFill>
                  </a:rPr>
                  <a:t>, replacing</a:t>
                </a:r>
                <a:r>
                  <a:rPr lang="en-IT" dirty="0">
                    <a:solidFill>
                      <a:sysClr val="windowText" lastClr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>
                    <a:solidFill>
                      <a:sysClr val="windowText" lastClr="000000"/>
                    </a:solidFill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>
                    <a:solidFill>
                      <a:sysClr val="windowText" lastClr="000000"/>
                    </a:solidFill>
                  </a:rPr>
                  <a:t> (or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ysClr val="windowText" lastClr="000000"/>
                    </a:solidFill>
                  </a:rPr>
                  <a:t>).</a:t>
                </a:r>
              </a:p>
            </p:txBody>
          </p:sp>
        </mc:Choice>
        <mc:Fallback xmlns="">
          <p:sp>
            <p:nvSpPr>
              <p:cNvPr id="8" name="Rounded Rectangle 7">
                <a:extLst>
                  <a:ext uri="{FF2B5EF4-FFF2-40B4-BE49-F238E27FC236}">
                    <a16:creationId xmlns:a16="http://schemas.microsoft.com/office/drawing/2014/main" id="{6B0FD791-4A7A-F74E-AC63-D7E7A7BC5D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517385"/>
                <a:ext cx="7493276" cy="1232441"/>
              </a:xfrm>
              <a:prstGeom prst="roundRect">
                <a:avLst/>
              </a:prstGeom>
              <a:blipFill>
                <a:blip r:embed="rId9"/>
                <a:stretch>
                  <a:fillRect r="-169" b="-6000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98025FA-CCAF-A1F0-1AFD-D902419268DE}"/>
              </a:ext>
            </a:extLst>
          </p:cNvPr>
          <p:cNvCxnSpPr>
            <a:cxnSpLocks noChangeAspect="1"/>
          </p:cNvCxnSpPr>
          <p:nvPr/>
        </p:nvCxnSpPr>
        <p:spPr>
          <a:xfrm>
            <a:off x="4693920" y="4550850"/>
            <a:ext cx="922645" cy="922645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CB5EE48-EF27-C4C3-3A62-13F92B942B04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4693920" y="4550849"/>
            <a:ext cx="922645" cy="922645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275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6502664-B15B-99C1-4F17-E6AE2FAEB2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A539447D-FC37-4F8D-F7B5-5B17191CCCF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Derivation of 0D blood flow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D19B13-0C91-6256-4AB3-CE6DD408E87D}"/>
                  </a:ext>
                </a:extLst>
              </p:cNvPr>
              <p:cNvSpPr txBox="1"/>
              <p:nvPr/>
            </p:nvSpPr>
            <p:spPr>
              <a:xfrm>
                <a:off x="462556" y="1019434"/>
                <a:ext cx="7574132" cy="783193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dirty="0">
                    <a:ea typeface="Calibri"/>
                    <a:cs typeface="Calibri"/>
                  </a:rPr>
                  <a:t>A family of </a:t>
                </a:r>
                <a:r>
                  <a:rPr lang="en-US" sz="2000" b="1" dirty="0">
                    <a:ea typeface="Calibri"/>
                    <a:cs typeface="Calibri"/>
                  </a:rPr>
                  <a:t>zero-dimensional (0D) blood flow models</a:t>
                </a:r>
                <a:r>
                  <a:rPr lang="en-US" sz="2000" dirty="0">
                    <a:ea typeface="Calibri"/>
                    <a:cs typeface="Calibri"/>
                  </a:rPr>
                  <a:t> can be derived </a:t>
                </a:r>
                <a:r>
                  <a:rPr lang="en-US" sz="2000" b="1" dirty="0">
                    <a:ea typeface="Calibri"/>
                    <a:cs typeface="Calibri"/>
                  </a:rPr>
                  <a:t>by integrating in space</a:t>
                </a:r>
                <a:r>
                  <a:rPr lang="en-US" sz="2000" dirty="0">
                    <a:ea typeface="Calibri"/>
                    <a:cs typeface="Calibri"/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𝑥</m:t>
                    </m:r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the 1D equations.</a:t>
                </a:r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D19B13-0C91-6256-4AB3-CE6DD408E8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6" y="1019434"/>
                <a:ext cx="7574132" cy="783193"/>
              </a:xfrm>
              <a:prstGeom prst="roundRect">
                <a:avLst/>
              </a:prstGeom>
              <a:blipFill>
                <a:blip r:embed="rId4"/>
                <a:stretch>
                  <a:fillRect l="-167" b="-6154"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D6183DF7-030F-0984-C222-AA0958CCC5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96"/>
          <a:stretch/>
        </p:blipFill>
        <p:spPr>
          <a:xfrm>
            <a:off x="9268726" y="844135"/>
            <a:ext cx="2659922" cy="15120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997C83-0214-F42B-EAA9-C13B33412801}"/>
                  </a:ext>
                </a:extLst>
              </p:cNvPr>
              <p:cNvSpPr txBox="1"/>
              <p:nvPr/>
            </p:nvSpPr>
            <p:spPr>
              <a:xfrm>
                <a:off x="462556" y="1956954"/>
                <a:ext cx="7574132" cy="2246128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dirty="0">
                    <a:ea typeface="Calibri"/>
                    <a:cs typeface="Calibri"/>
                  </a:rPr>
                  <a:t>1) Integral averages </a:t>
                </a:r>
                <a:r>
                  <a:rPr lang="en-US" sz="2000" dirty="0">
                    <a:ea typeface="Calibri"/>
                    <a:cs typeface="Calibri"/>
                  </a:rPr>
                  <a:t>of the physical quantities of interest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acc>
                              <m:accPr>
                                <m:chr m:val="̂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sub>
                              <m:sup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nary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m:rPr>
                                <m:sty m:val="p"/>
                                <m:brk m:alnAt="7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ean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cross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sectional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area</m:t>
                            </m:r>
                            <m: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sub>
                              <m:sup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 :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mean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000" b="0" i="0" smtClean="0">
                                        <a:latin typeface="Cambria Math" panose="02040503050406030204" pitchFamily="18" charset="0"/>
                                      </a:rPr>
                                      <m:t>volumetric</m:t>
                                    </m:r>
                                  </m:e>
                                </m:d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flow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rate</m:t>
                                </m:r>
                                <m: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nary>
                          </m:e>
                        </m:mr>
                      </m:m>
                    </m:oMath>
                  </m:oMathPara>
                </a14:m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with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sz="2000" dirty="0"/>
                  <a:t> : the volume of the vessel compartment.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F997C83-0214-F42B-EAA9-C13B33412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6" y="1956954"/>
                <a:ext cx="7574132" cy="2246128"/>
              </a:xfrm>
              <a:prstGeom prst="rect">
                <a:avLst/>
              </a:prstGeom>
              <a:blipFill>
                <a:blip r:embed="rId6"/>
                <a:stretch>
                  <a:fillRect l="-838" t="-41808" b="-6214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4652BF-54C5-4601-0E89-8776BE9B90A2}"/>
                  </a:ext>
                </a:extLst>
              </p:cNvPr>
              <p:cNvSpPr txBox="1"/>
              <p:nvPr/>
            </p:nvSpPr>
            <p:spPr>
              <a:xfrm>
                <a:off x="8274963" y="2993605"/>
                <a:ext cx="3642084" cy="1089306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dirty="0">
                    <a:ea typeface="Calibri"/>
                    <a:cs typeface="Calibri"/>
                  </a:rPr>
                  <a:t>2) Mass conservation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C4652BF-54C5-4601-0E89-8776BE9B9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4963" y="2993605"/>
                <a:ext cx="3642084" cy="108930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539828-835B-85D1-6F60-C6CB68A1CCDF}"/>
                  </a:ext>
                </a:extLst>
              </p:cNvPr>
              <p:cNvSpPr txBox="1"/>
              <p:nvPr/>
            </p:nvSpPr>
            <p:spPr>
              <a:xfrm>
                <a:off x="421306" y="4321251"/>
                <a:ext cx="11315604" cy="208563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US" sz="2000" b="1" dirty="0">
                    <a:ea typeface="Calibri"/>
                    <a:cs typeface="Calibri"/>
                  </a:rPr>
                  <a:t>3) Momentum balance equation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000" i="1" smtClean="0">
                              <a:latin typeface="Cambria Math" panose="02040503050406030204" pitchFamily="18" charset="0"/>
                              <a:cs typeface="Calibri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  <m:t>𝑅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sz="2000" i="1">
                                  <a:latin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</m:num>
                                <m:den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𝛼</m:t>
                                  </m:r>
                                  <m:f>
                                    <m:fPr>
                                      <m:ctrlP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sz="20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Calibri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r>
                                        <a:rPr lang="en-US" sz="20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𝐴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sz="20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 dirty="0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𝐴</m:t>
                                  </m:r>
                                </m:num>
                                <m:den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𝜌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a:rPr lang="en-US" sz="20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𝑅</m:t>
                                  </m:r>
                                </m:sub>
                              </m:sSub>
                              <m:f>
                                <m:f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𝑞</m:t>
                                  </m:r>
                                </m:num>
                                <m:den>
                                  <m:r>
                                    <a:rPr lang="en-US" sz="2000" i="1" smtClean="0">
                                      <a:solidFill>
                                        <a:schemeClr val="accent6"/>
                                      </a:solidFill>
                                      <a:latin typeface="Cambria Math" panose="02040503050406030204" pitchFamily="18" charset="0"/>
                                      <a:cs typeface="Calibri"/>
                                    </a:rPr>
                                    <m:t>𝐴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cs typeface="Calibri"/>
                            </a:rPr>
                            <m:t>d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cs typeface="Calibri"/>
                            </a:rPr>
                            <m:t>=0  ⟹  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d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d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𝑡</m:t>
                              </m:r>
                            </m:den>
                          </m:f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𝑙</m:t>
                                  </m:r>
                                </m:den>
                              </m:f>
                              <m:nary>
                                <m:nary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𝐿</m:t>
                                      </m:r>
                                    </m:sub>
                                  </m:sSub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𝑅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𝑞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d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e>
                              </m:nary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𝐴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𝜌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𝑙</m:t>
                              </m:r>
                            </m:den>
                          </m:f>
                          <m:nary>
                            <m:nary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𝐿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𝑅</m:t>
                                  </m:r>
                                </m:sub>
                              </m:sSub>
                            </m:sup>
                            <m:e>
                              <m:f>
                                <m:f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𝑝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𝜕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d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</m:e>
                          </m:nary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𝑅</m:t>
                                  </m:r>
                                </m:sub>
                              </m:sSub>
                            </m:num>
                            <m:den>
                              <m:acc>
                                <m:accPr>
                                  <m:chr m:val="̂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𝐴</m:t>
                                  </m:r>
                                </m:e>
                              </m:acc>
                            </m:den>
                          </m:f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𝑙</m:t>
                              </m:r>
                            </m:den>
                          </m:f>
                          <m:nary>
                            <m:nary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𝐿</m:t>
                                  </m:r>
                                </m:sub>
                              </m:sSub>
                            </m:sub>
                            <m:sup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𝑅</m:t>
                                  </m:r>
                                </m:sub>
                              </m:sSub>
                            </m:sup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𝑞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d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𝑥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=0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⟹ </m:t>
                      </m:r>
                      <m:f>
                        <m:f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den>
                      </m:f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𝑄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acc>
                            <m:accPr>
                              <m:chr m:val="̂"/>
                              <m:ctrlPr>
                                <a:rPr lang="en-US" sz="20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𝐴</m:t>
                              </m:r>
                            </m:e>
                          </m:acc>
                        </m:num>
                        <m:den>
                          <m:r>
                            <a:rPr lang="en-US" sz="20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𝜌</m:t>
                          </m:r>
                          <m:r>
                            <a:rPr lang="en-US" sz="2000" i="1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𝑙</m:t>
                          </m:r>
                        </m:den>
                      </m:f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fPr>
                            <m:num>
                              <m:r>
                                <a:rPr lang="en-US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𝜌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𝑅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𝑙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</m:ctrlPr>
                                </m:s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sz="200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000" b="0" i="1" smtClean="0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𝐴</m:t>
                                      </m:r>
                                    </m:e>
                                  </m:acc>
                                </m:e>
                                <m:sup>
                                  <m:r>
                                    <a:rPr lang="en-US" sz="2000" b="0" i="1" smtClean="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𝑅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4539828-835B-85D1-6F60-C6CB68A1CC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306" y="4321251"/>
                <a:ext cx="11315604" cy="2085636"/>
              </a:xfrm>
              <a:prstGeom prst="rect">
                <a:avLst/>
              </a:prstGeom>
              <a:blipFill>
                <a:blip r:embed="rId8"/>
                <a:stretch>
                  <a:fillRect l="-8408" t="-39394" b="-4363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3D1047-ADBA-0FD5-AF0F-B72F270F786F}"/>
              </a:ext>
            </a:extLst>
          </p:cNvPr>
          <p:cNvCxnSpPr>
            <a:cxnSpLocks noChangeAspect="1"/>
          </p:cNvCxnSpPr>
          <p:nvPr/>
        </p:nvCxnSpPr>
        <p:spPr>
          <a:xfrm>
            <a:off x="1899920" y="4652450"/>
            <a:ext cx="922645" cy="922645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E5192C-3200-13C4-375D-782854DAC823}"/>
              </a:ext>
            </a:extLst>
          </p:cNvPr>
          <p:cNvCxnSpPr>
            <a:cxnSpLocks noChangeAspect="1"/>
          </p:cNvCxnSpPr>
          <p:nvPr/>
        </p:nvCxnSpPr>
        <p:spPr>
          <a:xfrm flipV="1">
            <a:off x="1899920" y="4652449"/>
            <a:ext cx="922645" cy="922645"/>
          </a:xfrm>
          <a:prstGeom prst="line">
            <a:avLst/>
          </a:prstGeom>
          <a:ln w="19050">
            <a:solidFill>
              <a:srgbClr val="FF4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Brace 7">
            <a:extLst>
              <a:ext uri="{FF2B5EF4-FFF2-40B4-BE49-F238E27FC236}">
                <a16:creationId xmlns:a16="http://schemas.microsoft.com/office/drawing/2014/main" id="{A6DFE386-AF20-1DE1-B680-782F2E01D806}"/>
              </a:ext>
            </a:extLst>
          </p:cNvPr>
          <p:cNvSpPr/>
          <p:nvPr/>
        </p:nvSpPr>
        <p:spPr>
          <a:xfrm rot="5400000" flipV="1">
            <a:off x="6420745" y="6017888"/>
            <a:ext cx="136532" cy="613156"/>
          </a:xfrm>
          <a:prstGeom prst="righ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77979395-AB7F-B277-D666-98EF6A951938}"/>
              </a:ext>
            </a:extLst>
          </p:cNvPr>
          <p:cNvSpPr/>
          <p:nvPr/>
        </p:nvSpPr>
        <p:spPr>
          <a:xfrm rot="5400000" flipV="1">
            <a:off x="4986193" y="6089254"/>
            <a:ext cx="136532" cy="476353"/>
          </a:xfrm>
          <a:prstGeom prst="rightBrac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381E98-2095-1A8F-D48A-3C6886F0C74D}"/>
                  </a:ext>
                </a:extLst>
              </p:cNvPr>
              <p:cNvSpPr txBox="1"/>
              <p:nvPr/>
            </p:nvSpPr>
            <p:spPr>
              <a:xfrm>
                <a:off x="5932059" y="6317734"/>
                <a:ext cx="133395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accent1"/>
                    </a:solidFill>
                  </a:rPr>
                  <a:t>r</a:t>
                </a:r>
                <a:r>
                  <a:rPr lang="en-IT" dirty="0">
                    <a:solidFill>
                      <a:schemeClr val="accent1"/>
                    </a:solidFill>
                  </a:rPr>
                  <a:t>esistance </a:t>
                </a:r>
                <a14:m>
                  <m:oMath xmlns:m="http://schemas.openxmlformats.org/officeDocument/2006/math">
                    <m:r>
                      <a:rPr lang="en-IT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endParaRPr lang="en-IT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6381E98-2095-1A8F-D48A-3C6886F0C7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059" y="6317734"/>
                <a:ext cx="1333955" cy="369332"/>
              </a:xfrm>
              <a:prstGeom prst="rect">
                <a:avLst/>
              </a:prstGeom>
              <a:blipFill>
                <a:blip r:embed="rId9"/>
                <a:stretch>
                  <a:fillRect l="-3774" t="-6667" b="-2666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FFBB9B-E570-3CE7-D243-45B185E97D82}"/>
                  </a:ext>
                </a:extLst>
              </p:cNvPr>
              <p:cNvSpPr txBox="1"/>
              <p:nvPr/>
            </p:nvSpPr>
            <p:spPr>
              <a:xfrm>
                <a:off x="3423211" y="6342058"/>
                <a:ext cx="23415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chemeClr val="accent2"/>
                    </a:solidFill>
                  </a:rPr>
                  <a:t>inverse of inductance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endParaRPr lang="en-IT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7FFBB9B-E570-3CE7-D243-45B185E97D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3211" y="6342058"/>
                <a:ext cx="2341538" cy="369332"/>
              </a:xfrm>
              <a:prstGeom prst="rect">
                <a:avLst/>
              </a:prstGeom>
              <a:blipFill>
                <a:blip r:embed="rId10"/>
                <a:stretch>
                  <a:fillRect l="-2151" t="-6667" b="-2666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85775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14">
          <a:extLst>
            <a:ext uri="{FF2B5EF4-FFF2-40B4-BE49-F238E27FC236}">
              <a16:creationId xmlns:a16="http://schemas.microsoft.com/office/drawing/2014/main" id="{98AE90F3-7992-8741-6E31-C5DF19041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4505D1E4-BAD7-CF7B-09C0-C551740C56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Derivation of 0D blood flow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D53268-F012-8D7E-A36D-80F2A67FED76}"/>
                  </a:ext>
                </a:extLst>
              </p:cNvPr>
              <p:cNvSpPr txBox="1"/>
              <p:nvPr/>
            </p:nvSpPr>
            <p:spPr>
              <a:xfrm>
                <a:off x="462556" y="812604"/>
                <a:ext cx="7574132" cy="783193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8575">
                <a:solidFill>
                  <a:schemeClr val="accent5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dirty="0">
                    <a:ea typeface="Calibri"/>
                    <a:cs typeface="Calibri"/>
                  </a:rPr>
                  <a:t>A family of </a:t>
                </a:r>
                <a:r>
                  <a:rPr lang="en-US" sz="2000" b="1" dirty="0">
                    <a:ea typeface="Calibri"/>
                    <a:cs typeface="Calibri"/>
                  </a:rPr>
                  <a:t>zero-dimensional (0D) blood flow models</a:t>
                </a:r>
                <a:r>
                  <a:rPr lang="en-US" sz="2000" dirty="0">
                    <a:ea typeface="Calibri"/>
                    <a:cs typeface="Calibri"/>
                  </a:rPr>
                  <a:t> can be derived </a:t>
                </a:r>
                <a:r>
                  <a:rPr lang="en-US" sz="2000" b="1" dirty="0">
                    <a:ea typeface="Calibri"/>
                    <a:cs typeface="Calibri"/>
                  </a:rPr>
                  <a:t>by integrating in space</a:t>
                </a:r>
                <a:r>
                  <a:rPr lang="en-US" sz="2000" dirty="0">
                    <a:ea typeface="Calibri"/>
                    <a:cs typeface="Calibri"/>
                  </a:rPr>
                  <a:t> over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𝑥</m:t>
                    </m:r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the 1D equations.</a:t>
                </a:r>
                <a:endParaRPr lang="en-US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D53268-F012-8D7E-A36D-80F2A67FE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6" y="812604"/>
                <a:ext cx="7574132" cy="783193"/>
              </a:xfrm>
              <a:prstGeom prst="roundRect">
                <a:avLst/>
              </a:prstGeom>
              <a:blipFill>
                <a:blip r:embed="rId4"/>
                <a:stretch>
                  <a:fillRect l="-167" b="-6061"/>
                </a:stretch>
              </a:blipFill>
              <a:ln w="28575">
                <a:solidFill>
                  <a:schemeClr val="accent5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E2553BE5-EF78-803E-EE07-33D2FAFDA4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796"/>
          <a:stretch/>
        </p:blipFill>
        <p:spPr>
          <a:xfrm>
            <a:off x="9268726" y="844135"/>
            <a:ext cx="2659922" cy="151200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2CF0A3-85F9-8331-430C-130DAB6C28D5}"/>
                  </a:ext>
                </a:extLst>
              </p:cNvPr>
              <p:cNvSpPr txBox="1"/>
              <p:nvPr/>
            </p:nvSpPr>
            <p:spPr>
              <a:xfrm>
                <a:off x="462556" y="1750124"/>
                <a:ext cx="7574132" cy="185095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dirty="0">
                    <a:ea typeface="Calibri"/>
                    <a:cs typeface="Calibri"/>
                  </a:rPr>
                  <a:t>1) Integral averages </a:t>
                </a:r>
                <a:r>
                  <a:rPr lang="en-US" sz="2000" dirty="0">
                    <a:ea typeface="Calibri"/>
                    <a:cs typeface="Calibri"/>
                  </a:rPr>
                  <a:t>of the physical quantities of interest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acc>
                              <m:accPr>
                                <m:chr m:val="̂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sub>
                              <m:sup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nary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mr>
                        <m:m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den>
                            </m:f>
                            <m:nary>
                              <m:nary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sub>
                                </m:sSub>
                              </m:sub>
                              <m:sup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b>
                                </m:sSub>
                              </m:sup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  <m:d>
                                  <m:d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nary>
                          </m:e>
                        </m:mr>
                      </m:m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2CF0A3-85F9-8331-430C-130DAB6C28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6" y="1750124"/>
                <a:ext cx="7574132" cy="1850956"/>
              </a:xfrm>
              <a:prstGeom prst="rect">
                <a:avLst/>
              </a:prstGeom>
              <a:blipFill>
                <a:blip r:embed="rId6"/>
                <a:stretch>
                  <a:fillRect l="-838" t="-49660" b="-95238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47374F-0457-4F3A-12AE-035D1A4B2041}"/>
                  </a:ext>
                </a:extLst>
              </p:cNvPr>
              <p:cNvSpPr txBox="1"/>
              <p:nvPr/>
            </p:nvSpPr>
            <p:spPr>
              <a:xfrm>
                <a:off x="462556" y="3605944"/>
                <a:ext cx="3642084" cy="1089306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dirty="0">
                    <a:ea typeface="Calibri"/>
                    <a:cs typeface="Calibri"/>
                  </a:rPr>
                  <a:t>2) Mass conservation equation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𝑉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𝐿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−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747374F-0457-4F3A-12AE-035D1A4B2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556" y="3605944"/>
                <a:ext cx="3642084" cy="1089306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A76006-0BAD-A984-29E9-F407DD77EA7B}"/>
                  </a:ext>
                </a:extLst>
              </p:cNvPr>
              <p:cNvSpPr txBox="1"/>
              <p:nvPr/>
            </p:nvSpPr>
            <p:spPr>
              <a:xfrm>
                <a:off x="5222516" y="3601647"/>
                <a:ext cx="5532570" cy="2744723"/>
              </a:xfrm>
              <a:prstGeom prst="round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b="1" dirty="0">
                    <a:ea typeface="Calibri"/>
                    <a:cs typeface="Calibri"/>
                  </a:rPr>
                  <a:t>3) Momentum balance equation</a:t>
                </a:r>
              </a:p>
              <a:p>
                <a:pPr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d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den>
                      </m:f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𝑄</m:t>
                      </m:r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=</m:t>
                      </m:r>
                      <m:f>
                        <m:fPr>
                          <m:ctrlP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fPr>
                        <m:num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1</m:t>
                          </m:r>
                        </m:num>
                        <m:den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𝐼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)</m:t>
                          </m:r>
                        </m:den>
                      </m:f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−</m:t>
                          </m:r>
                          <m:r>
                            <a:rPr 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𝑅</m:t>
                          </m:r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(</m:t>
                          </m:r>
                          <m:acc>
                            <m:accPr>
                              <m:chr m:val="̂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𝐴</m:t>
                              </m:r>
                            </m:e>
                          </m:acc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)</m:t>
                          </m:r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𝑄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𝑅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/>
                                </a:rPr>
                                <m:t>𝑡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dirty="0">
                  <a:ea typeface="Calibri"/>
                  <a:cs typeface="Calibri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US" sz="2000" dirty="0">
                    <a:ea typeface="Calibri"/>
                    <a:cs typeface="Calibri"/>
                  </a:rPr>
                  <a:t>with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𝐼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𝜌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𝑙</m:t>
                        </m:r>
                      </m:num>
                      <m:den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𝐴</m:t>
                            </m:r>
                          </m:e>
                        </m:acc>
                      </m:den>
                    </m:f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: inductance</a:t>
                </a:r>
              </a:p>
              <a:p>
                <a:pPr marL="342900" indent="-3429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𝑅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𝐴</m:t>
                            </m:r>
                          </m:e>
                        </m:acc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𝜌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/>
                              </a:rPr>
                              <m:t>𝑅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/>
                          </a:rPr>
                          <m:t>𝑙</m:t>
                        </m:r>
                      </m:num>
                      <m:den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acc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  <m:t>𝐴</m:t>
                                </m:r>
                              </m:e>
                            </m:acc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: resistance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A76006-0BAD-A984-29E9-F407DD77E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2516" y="3601647"/>
                <a:ext cx="5532570" cy="2744723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black and white image of a person&#10;&#10;AI-generated content may be incorrect.">
            <a:extLst>
              <a:ext uri="{FF2B5EF4-FFF2-40B4-BE49-F238E27FC236}">
                <a16:creationId xmlns:a16="http://schemas.microsoft.com/office/drawing/2014/main" id="{CFB4C53C-E7C1-68EB-C6B9-A2572A2603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457"/>
          <a:stretch/>
        </p:blipFill>
        <p:spPr>
          <a:xfrm>
            <a:off x="305079" y="4890183"/>
            <a:ext cx="4460239" cy="18000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DACF5BB-2C8D-016B-6A4A-F432EA4009FB}"/>
              </a:ext>
            </a:extLst>
          </p:cNvPr>
          <p:cNvSpPr/>
          <p:nvPr/>
        </p:nvSpPr>
        <p:spPr>
          <a:xfrm>
            <a:off x="333530" y="5156338"/>
            <a:ext cx="924792" cy="59228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C3CBA0-1263-8774-AB37-CEB3022F4D94}"/>
              </a:ext>
            </a:extLst>
          </p:cNvPr>
          <p:cNvSpPr/>
          <p:nvPr/>
        </p:nvSpPr>
        <p:spPr>
          <a:xfrm>
            <a:off x="4011911" y="5156338"/>
            <a:ext cx="722233" cy="59228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accent6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07AA12D-B6D3-245C-C37D-475F95251032}"/>
              </a:ext>
            </a:extLst>
          </p:cNvPr>
          <p:cNvSpPr/>
          <p:nvPr/>
        </p:nvSpPr>
        <p:spPr>
          <a:xfrm flipV="1">
            <a:off x="1165958" y="4942663"/>
            <a:ext cx="975360" cy="1706880"/>
          </a:xfrm>
          <a:prstGeom prst="ellipse">
            <a:avLst/>
          </a:prstGeom>
          <a:noFill/>
          <a:ln w="28575">
            <a:solidFill>
              <a:srgbClr val="FF40FF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FAAB2A-0028-DFC9-95BD-5463A5D52E1E}"/>
              </a:ext>
            </a:extLst>
          </p:cNvPr>
          <p:cNvSpPr txBox="1"/>
          <p:nvPr/>
        </p:nvSpPr>
        <p:spPr>
          <a:xfrm>
            <a:off x="2033404" y="6146643"/>
            <a:ext cx="684803" cy="52322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IT" sz="2800" dirty="0">
                <a:solidFill>
                  <a:srgbClr val="FF40FF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42659961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DFBAA66B-3478-0379-4DA2-CD531BC6B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2C4E94ED-A73A-758A-3BB9-045BA5617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0D blood flow models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912DA2-7191-2441-5EF0-2ABA7E9A0FE2}"/>
                  </a:ext>
                </a:extLst>
              </p:cNvPr>
              <p:cNvSpPr txBox="1"/>
              <p:nvPr/>
            </p:nvSpPr>
            <p:spPr>
              <a:xfrm>
                <a:off x="695960" y="1114664"/>
                <a:ext cx="10124440" cy="321376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dirty="0">
                    <a:ea typeface="Calibri"/>
                    <a:cs typeface="Calibri"/>
                  </a:rPr>
                  <a:t>Again, we need to specify a </a:t>
                </a:r>
                <a:r>
                  <a:rPr lang="en-US" sz="2000" b="1" dirty="0">
                    <a:ea typeface="Calibri"/>
                    <a:cs typeface="Calibri"/>
                  </a:rPr>
                  <a:t>constitutive law </a:t>
                </a:r>
                <a:r>
                  <a:rPr lang="en-US" sz="2000" dirty="0">
                    <a:ea typeface="Calibri"/>
                    <a:cs typeface="Calibri"/>
                  </a:rPr>
                  <a:t>relating pressure and volume(area):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libri"/>
                    <a:cs typeface="Calibri"/>
                  </a:rPr>
                  <a:t>Simple </a:t>
                </a:r>
                <a:r>
                  <a:rPr lang="en-US" sz="2000" b="1" dirty="0">
                    <a:ea typeface="Calibri"/>
                    <a:cs typeface="Calibri"/>
                  </a:rPr>
                  <a:t>linear</a:t>
                </a:r>
                <a:r>
                  <a:rPr lang="en-US" sz="2000" dirty="0">
                    <a:ea typeface="Calibri"/>
                    <a:cs typeface="Calibri"/>
                  </a:rPr>
                  <a:t> relation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𝑉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𝑡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𝑉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, via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𝐶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: vessel wall compliance;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ea typeface="Calibri"/>
                    <a:cs typeface="Calibri"/>
                  </a:rPr>
                  <a:t>Nonlinear elastic </a:t>
                </a:r>
                <a:r>
                  <a:rPr lang="en-US" sz="2000" dirty="0">
                    <a:ea typeface="Calibri"/>
                    <a:cs typeface="Calibri"/>
                  </a:rPr>
                  <a:t>relation (in arteries)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𝐾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𝐴</m:t>
                                    </m:r>
                                  </m:e>
                                </m:acc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, with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𝐾</m:t>
                    </m:r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: vessel wall stiffness (related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𝐶</m:t>
                    </m:r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);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ea typeface="Calibri"/>
                    <a:cs typeface="Calibri"/>
                  </a:rPr>
                  <a:t>Nonlinear viscoelastic </a:t>
                </a:r>
                <a:r>
                  <a:rPr lang="en-US" sz="2000" dirty="0">
                    <a:ea typeface="Calibri"/>
                    <a:cs typeface="Calibri"/>
                  </a:rPr>
                  <a:t>relation (in arteries)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libri"/>
                            <a:cs typeface="Calibri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𝑃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𝐾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  <a:cs typeface="Calibri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̂"/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𝐴</m:t>
                                    </m:r>
                                  </m:e>
                                </m:acc>
                              </m:num>
                              <m:den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  <a:cs typeface="Calibri"/>
                                      </a:rPr>
                                      <m:t>0</m:t>
                                    </m:r>
                                  </m:sub>
                                </m:sSub>
                              </m:den>
                            </m:f>
                          </m:e>
                        </m:rad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−1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𝑖𝑛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𝑄</m:t>
                        </m:r>
                      </m:e>
                    </m:d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,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: viscoelastic parameter;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>
                    <a:ea typeface="Calibri"/>
                    <a:cs typeface="Calibri"/>
                  </a:rPr>
                  <a:t>…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912DA2-7191-2441-5EF0-2ABA7E9A0F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" y="1114664"/>
                <a:ext cx="10124440" cy="3213765"/>
              </a:xfrm>
              <a:prstGeom prst="rect">
                <a:avLst/>
              </a:prstGeom>
              <a:blipFill>
                <a:blip r:embed="rId4"/>
                <a:stretch>
                  <a:fillRect l="-626" t="-1181" b="-1969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5D9B76-F72B-E198-B2D3-630DC917B7F9}"/>
                  </a:ext>
                </a:extLst>
              </p:cNvPr>
              <p:cNvSpPr txBox="1"/>
              <p:nvPr/>
            </p:nvSpPr>
            <p:spPr>
              <a:xfrm>
                <a:off x="695960" y="4666182"/>
                <a:ext cx="10124440" cy="1077154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000" dirty="0">
                    <a:ea typeface="Calibri"/>
                    <a:cs typeface="Calibri"/>
                  </a:rPr>
                  <a:t>Similarly, model parameters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𝑅</m:t>
                    </m:r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  <a:ea typeface="Calibri"/>
                        <a:cs typeface="Calibri"/>
                      </a:rPr>
                      <m:t>𝐼</m:t>
                    </m:r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) can be: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ea typeface="Calibri"/>
                    <a:cs typeface="Calibri"/>
                  </a:rPr>
                  <a:t>constant</a:t>
                </a:r>
                <a:r>
                  <a:rPr lang="en-US" sz="2000" dirty="0">
                    <a:ea typeface="Calibri"/>
                    <a:cs typeface="Calibri"/>
                  </a:rPr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𝑅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𝐼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;</m:t>
                    </m:r>
                  </m:oMath>
                </a14:m>
                <a:endParaRPr lang="en-US" sz="2000" dirty="0">
                  <a:ea typeface="Calibri"/>
                  <a:cs typeface="Calibri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ea typeface="Calibri"/>
                    <a:cs typeface="Calibri"/>
                  </a:rPr>
                  <a:t>time-/state-dependent </a:t>
                </a:r>
                <a:r>
                  <a:rPr lang="en-US" sz="2000" dirty="0">
                    <a:ea typeface="Calibri"/>
                    <a:cs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𝑅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  <a:cs typeface="Calibri"/>
                              </a:rPr>
                              <m:t>𝐴</m:t>
                            </m:r>
                          </m:e>
                        </m:acc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cs typeface="Calibri"/>
                      </a:rPr>
                      <m:t>𝐼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cs typeface="Calibri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cs typeface="Calibri"/>
                              </a:rPr>
                              <m:t>𝐴</m:t>
                            </m:r>
                          </m:e>
                        </m:acc>
                        <m: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  <m:t>(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cs typeface="Calibri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000" dirty="0">
                    <a:ea typeface="Calibri"/>
                    <a:cs typeface="Calibri"/>
                  </a:rPr>
                  <a:t>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85D9B76-F72B-E198-B2D3-630DC917B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60" y="4666182"/>
                <a:ext cx="10124440" cy="1077154"/>
              </a:xfrm>
              <a:prstGeom prst="rect">
                <a:avLst/>
              </a:prstGeom>
              <a:blipFill>
                <a:blip r:embed="rId5"/>
                <a:stretch>
                  <a:fillRect l="-626" t="-3488" b="-5814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7380268-A907-E1A1-16FB-FA3B61147087}"/>
              </a:ext>
            </a:extLst>
          </p:cNvPr>
          <p:cNvSpPr/>
          <p:nvPr/>
        </p:nvSpPr>
        <p:spPr>
          <a:xfrm>
            <a:off x="6574972" y="3829930"/>
            <a:ext cx="4539342" cy="19134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Nonlinear vs linear dynamics,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Time-/space-/state-dependent vs constant parameters,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</a:rPr>
              <a:t>…</a:t>
            </a:r>
          </a:p>
          <a:p>
            <a:r>
              <a:rPr lang="en-GB" dirty="0">
                <a:solidFill>
                  <a:schemeClr val="tx1"/>
                </a:solidFill>
                <a:sym typeface="Wingdings" pitchFamily="2" charset="2"/>
              </a:rPr>
              <a:t> </a:t>
            </a:r>
            <a:r>
              <a:rPr lang="en-GB" dirty="0">
                <a:solidFill>
                  <a:schemeClr val="tx1"/>
                </a:solidFill>
              </a:rPr>
              <a:t>Model sophistication for biological mechanisms and mechanical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13014427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69D042F5-C98C-A84B-7D6A-0D96FEC6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338AF919-5EC1-D544-6B5F-4A17F554E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How to use 0D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4DE79C-D032-333A-8792-47E876AD4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187" y="1582553"/>
            <a:ext cx="6959999" cy="5040000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4A69918-299D-FD0D-E406-E7C926BF4B87}"/>
              </a:ext>
            </a:extLst>
          </p:cNvPr>
          <p:cNvSpPr/>
          <p:nvPr/>
        </p:nvSpPr>
        <p:spPr>
          <a:xfrm>
            <a:off x="4707667" y="1047264"/>
            <a:ext cx="2058210" cy="76525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Model reduction</a:t>
            </a:r>
          </a:p>
          <a:p>
            <a:pPr algn="ctr"/>
            <a:r>
              <a:rPr lang="en-IT" dirty="0">
                <a:solidFill>
                  <a:schemeClr val="tx1"/>
                </a:solidFill>
              </a:rPr>
              <a:t>1D </a:t>
            </a:r>
            <a:r>
              <a:rPr lang="en-IT" dirty="0">
                <a:solidFill>
                  <a:schemeClr val="tx1"/>
                </a:solidFill>
                <a:sym typeface="Wingdings" pitchFamily="2" charset="2"/>
              </a:rPr>
              <a:t> 0D</a:t>
            </a:r>
            <a:endParaRPr lang="en-IT" dirty="0">
              <a:solidFill>
                <a:schemeClr val="tx1"/>
              </a:solidFill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2C433F3-0785-B3EF-9746-E388A43B8789}"/>
              </a:ext>
            </a:extLst>
          </p:cNvPr>
          <p:cNvSpPr/>
          <p:nvPr/>
        </p:nvSpPr>
        <p:spPr>
          <a:xfrm>
            <a:off x="9469579" y="3429000"/>
            <a:ext cx="2504707" cy="143147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One </a:t>
            </a:r>
            <a:r>
              <a:rPr lang="en-IT" dirty="0">
                <a:solidFill>
                  <a:schemeClr val="tx1"/>
                </a:solidFill>
                <a:sym typeface="Wingdings" pitchFamily="2" charset="2"/>
              </a:rPr>
              <a:t>0D lumped compartment with equivalent hemodynamic function</a:t>
            </a:r>
            <a:endParaRPr lang="en-IT" dirty="0">
              <a:solidFill>
                <a:schemeClr val="tx1"/>
              </a:solidFill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C76CF7B-265E-E95C-7782-D3ED3E648BA2}"/>
              </a:ext>
            </a:extLst>
          </p:cNvPr>
          <p:cNvSpPr/>
          <p:nvPr/>
        </p:nvSpPr>
        <p:spPr>
          <a:xfrm>
            <a:off x="199977" y="2375364"/>
            <a:ext cx="2058210" cy="76525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From micro- to macro-scale</a:t>
            </a:r>
          </a:p>
        </p:txBody>
      </p:sp>
      <p:sp>
        <p:nvSpPr>
          <p:cNvPr id="15" name="Folded Corner 14">
            <a:extLst>
              <a:ext uri="{FF2B5EF4-FFF2-40B4-BE49-F238E27FC236}">
                <a16:creationId xmlns:a16="http://schemas.microsoft.com/office/drawing/2014/main" id="{146C3819-43F6-B855-9056-381A66B5EC42}"/>
              </a:ext>
            </a:extLst>
          </p:cNvPr>
          <p:cNvSpPr/>
          <p:nvPr/>
        </p:nvSpPr>
        <p:spPr>
          <a:xfrm>
            <a:off x="141514" y="4170920"/>
            <a:ext cx="2198915" cy="1944615"/>
          </a:xfrm>
          <a:prstGeom prst="foldedCorner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rgbClr val="ED7D3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000" dirty="0">
                <a:solidFill>
                  <a:sysClr val="windowText" lastClr="000000"/>
                </a:solidFill>
              </a:rPr>
              <a:t>More details in tomorrow’s lecture on </a:t>
            </a:r>
            <a:r>
              <a:rPr lang="en-IT" sz="2000" b="1" dirty="0">
                <a:solidFill>
                  <a:sysClr val="windowText" lastClr="000000"/>
                </a:solidFill>
              </a:rPr>
              <a:t>multiscale modelling </a:t>
            </a:r>
            <a:r>
              <a:rPr lang="en-IT" sz="2000" dirty="0">
                <a:solidFill>
                  <a:sysClr val="windowText" lastClr="000000"/>
                </a:solidFill>
              </a:rPr>
              <a:t>by G. Maso Talou!!!</a:t>
            </a:r>
          </a:p>
        </p:txBody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2C74286D-AAD4-86BC-0785-C2F3081A3EBB}"/>
              </a:ext>
            </a:extLst>
          </p:cNvPr>
          <p:cNvSpPr/>
          <p:nvPr/>
        </p:nvSpPr>
        <p:spPr>
          <a:xfrm>
            <a:off x="8741227" y="4865914"/>
            <a:ext cx="2079172" cy="1283698"/>
          </a:xfrm>
          <a:custGeom>
            <a:avLst/>
            <a:gdLst>
              <a:gd name="csX0" fmla="*/ 0 w 2079172"/>
              <a:gd name="csY0" fmla="*/ 370114 h 1283698"/>
              <a:gd name="csX1" fmla="*/ 326572 w 2079172"/>
              <a:gd name="csY1" fmla="*/ 1045029 h 1283698"/>
              <a:gd name="csX2" fmla="*/ 1186543 w 2079172"/>
              <a:gd name="csY2" fmla="*/ 1262743 h 1283698"/>
              <a:gd name="csX3" fmla="*/ 1469572 w 2079172"/>
              <a:gd name="csY3" fmla="*/ 587829 h 1283698"/>
              <a:gd name="csX4" fmla="*/ 925286 w 2079172"/>
              <a:gd name="csY4" fmla="*/ 478971 h 1283698"/>
              <a:gd name="csX5" fmla="*/ 968829 w 2079172"/>
              <a:gd name="csY5" fmla="*/ 1034143 h 1283698"/>
              <a:gd name="csX6" fmla="*/ 1763486 w 2079172"/>
              <a:gd name="csY6" fmla="*/ 990600 h 1283698"/>
              <a:gd name="csX7" fmla="*/ 2079172 w 2079172"/>
              <a:gd name="csY7" fmla="*/ 0 h 12836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2079172" h="1283698">
                <a:moveTo>
                  <a:pt x="0" y="370114"/>
                </a:moveTo>
                <a:cubicBezTo>
                  <a:pt x="64407" y="633186"/>
                  <a:pt x="128815" y="896258"/>
                  <a:pt x="326572" y="1045029"/>
                </a:cubicBezTo>
                <a:cubicBezTo>
                  <a:pt x="524329" y="1193800"/>
                  <a:pt x="996043" y="1338943"/>
                  <a:pt x="1186543" y="1262743"/>
                </a:cubicBezTo>
                <a:cubicBezTo>
                  <a:pt x="1377043" y="1186543"/>
                  <a:pt x="1513115" y="718458"/>
                  <a:pt x="1469572" y="587829"/>
                </a:cubicBezTo>
                <a:cubicBezTo>
                  <a:pt x="1426029" y="457200"/>
                  <a:pt x="1008743" y="404585"/>
                  <a:pt x="925286" y="478971"/>
                </a:cubicBezTo>
                <a:cubicBezTo>
                  <a:pt x="841829" y="553357"/>
                  <a:pt x="829129" y="948872"/>
                  <a:pt x="968829" y="1034143"/>
                </a:cubicBezTo>
                <a:cubicBezTo>
                  <a:pt x="1108529" y="1119415"/>
                  <a:pt x="1578429" y="1162957"/>
                  <a:pt x="1763486" y="990600"/>
                </a:cubicBezTo>
                <a:cubicBezTo>
                  <a:pt x="1948543" y="818243"/>
                  <a:pt x="2013857" y="409121"/>
                  <a:pt x="2079172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76E78D3B-1F3E-195C-9009-E6F1AA64D0CB}"/>
              </a:ext>
            </a:extLst>
          </p:cNvPr>
          <p:cNvSpPr/>
          <p:nvPr/>
        </p:nvSpPr>
        <p:spPr>
          <a:xfrm>
            <a:off x="6172834" y="1817914"/>
            <a:ext cx="703031" cy="1045029"/>
          </a:xfrm>
          <a:custGeom>
            <a:avLst/>
            <a:gdLst>
              <a:gd name="csX0" fmla="*/ 282395 w 703031"/>
              <a:gd name="csY0" fmla="*/ 1045029 h 1045029"/>
              <a:gd name="csX1" fmla="*/ 663395 w 703031"/>
              <a:gd name="csY1" fmla="*/ 740229 h 1045029"/>
              <a:gd name="csX2" fmla="*/ 619852 w 703031"/>
              <a:gd name="csY2" fmla="*/ 457200 h 1045029"/>
              <a:gd name="csX3" fmla="*/ 32023 w 703031"/>
              <a:gd name="csY3" fmla="*/ 359229 h 1045029"/>
              <a:gd name="csX4" fmla="*/ 129995 w 703031"/>
              <a:gd name="csY4" fmla="*/ 0 h 10450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703031" h="1045029">
                <a:moveTo>
                  <a:pt x="282395" y="1045029"/>
                </a:moveTo>
                <a:cubicBezTo>
                  <a:pt x="444773" y="941614"/>
                  <a:pt x="607152" y="838200"/>
                  <a:pt x="663395" y="740229"/>
                </a:cubicBezTo>
                <a:cubicBezTo>
                  <a:pt x="719638" y="642258"/>
                  <a:pt x="725081" y="520700"/>
                  <a:pt x="619852" y="457200"/>
                </a:cubicBezTo>
                <a:cubicBezTo>
                  <a:pt x="514623" y="393700"/>
                  <a:pt x="113666" y="435429"/>
                  <a:pt x="32023" y="359229"/>
                </a:cubicBezTo>
                <a:cubicBezTo>
                  <a:pt x="-49620" y="283029"/>
                  <a:pt x="40187" y="141514"/>
                  <a:pt x="129995" y="0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737E2833-0BF0-0D6E-56D4-B0F8405CB512}"/>
              </a:ext>
            </a:extLst>
          </p:cNvPr>
          <p:cNvSpPr/>
          <p:nvPr/>
        </p:nvSpPr>
        <p:spPr>
          <a:xfrm>
            <a:off x="1082843" y="1195298"/>
            <a:ext cx="2041357" cy="1166904"/>
          </a:xfrm>
          <a:custGeom>
            <a:avLst/>
            <a:gdLst>
              <a:gd name="csX0" fmla="*/ 2041357 w 2041357"/>
              <a:gd name="csY0" fmla="*/ 415790 h 1166904"/>
              <a:gd name="csX1" fmla="*/ 1801871 w 2041357"/>
              <a:gd name="csY1" fmla="*/ 45676 h 1166904"/>
              <a:gd name="csX2" fmla="*/ 658871 w 2041357"/>
              <a:gd name="csY2" fmla="*/ 78333 h 1166904"/>
              <a:gd name="csX3" fmla="*/ 582671 w 2041357"/>
              <a:gd name="csY3" fmla="*/ 698819 h 1166904"/>
              <a:gd name="csX4" fmla="*/ 1181386 w 2041357"/>
              <a:gd name="csY4" fmla="*/ 383133 h 1166904"/>
              <a:gd name="csX5" fmla="*/ 103700 w 2041357"/>
              <a:gd name="csY5" fmla="*/ 100104 h 1166904"/>
              <a:gd name="csX6" fmla="*/ 103700 w 2041357"/>
              <a:gd name="csY6" fmla="*/ 1166904 h 11669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041357" h="1166904">
                <a:moveTo>
                  <a:pt x="2041357" y="415790"/>
                </a:moveTo>
                <a:cubicBezTo>
                  <a:pt x="2036821" y="258854"/>
                  <a:pt x="2032285" y="101919"/>
                  <a:pt x="1801871" y="45676"/>
                </a:cubicBezTo>
                <a:cubicBezTo>
                  <a:pt x="1571457" y="-10567"/>
                  <a:pt x="862071" y="-30524"/>
                  <a:pt x="658871" y="78333"/>
                </a:cubicBezTo>
                <a:cubicBezTo>
                  <a:pt x="455671" y="187190"/>
                  <a:pt x="495585" y="648019"/>
                  <a:pt x="582671" y="698819"/>
                </a:cubicBezTo>
                <a:cubicBezTo>
                  <a:pt x="669757" y="749619"/>
                  <a:pt x="1261214" y="482919"/>
                  <a:pt x="1181386" y="383133"/>
                </a:cubicBezTo>
                <a:cubicBezTo>
                  <a:pt x="1101557" y="283347"/>
                  <a:pt x="283314" y="-30524"/>
                  <a:pt x="103700" y="100104"/>
                </a:cubicBezTo>
                <a:cubicBezTo>
                  <a:pt x="-75914" y="230732"/>
                  <a:pt x="13893" y="698818"/>
                  <a:pt x="103700" y="1166904"/>
                </a:cubicBezTo>
              </a:path>
            </a:pathLst>
          </a:custGeom>
          <a:noFill/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705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AFD408AC-61A8-4CB6-5662-4F76B9B3E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413C653D-E1A9-7741-5790-57F72A7CC7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4957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Comparing 0D &amp; BG-0D models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43751A8-ECDA-C6EF-E7B0-BC670376F446}"/>
              </a:ext>
            </a:extLst>
          </p:cNvPr>
          <p:cNvGrpSpPr/>
          <p:nvPr/>
        </p:nvGrpSpPr>
        <p:grpSpPr>
          <a:xfrm>
            <a:off x="1997323" y="2024269"/>
            <a:ext cx="8133293" cy="2347255"/>
            <a:chOff x="2029353" y="993897"/>
            <a:chExt cx="8133293" cy="2347255"/>
          </a:xfrm>
        </p:grpSpPr>
        <p:pic>
          <p:nvPicPr>
            <p:cNvPr id="10" name="Picture 9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667BBB82-F0EC-321D-B13B-76F5ACB227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722"/>
            <a:stretch/>
          </p:blipFill>
          <p:spPr>
            <a:xfrm>
              <a:off x="2029353" y="1001152"/>
              <a:ext cx="8109739" cy="2340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B27BF28-4484-90B2-CC08-4544CE5A9CE4}"/>
                </a:ext>
              </a:extLst>
            </p:cNvPr>
            <p:cNvSpPr/>
            <p:nvPr/>
          </p:nvSpPr>
          <p:spPr>
            <a:xfrm>
              <a:off x="2034647" y="993897"/>
              <a:ext cx="3373120" cy="1058932"/>
            </a:xfrm>
            <a:prstGeom prst="rect">
              <a:avLst/>
            </a:prstGeom>
            <a:noFill/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7D8C555-5882-1ACC-B338-7F6BF95FA653}"/>
                </a:ext>
              </a:extLst>
            </p:cNvPr>
            <p:cNvSpPr/>
            <p:nvPr/>
          </p:nvSpPr>
          <p:spPr>
            <a:xfrm>
              <a:off x="2029353" y="2244700"/>
              <a:ext cx="3373120" cy="1058932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accent6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F48099D-236F-ABBE-E5CB-37A77AA4B652}"/>
                </a:ext>
              </a:extLst>
            </p:cNvPr>
            <p:cNvSpPr/>
            <p:nvPr/>
          </p:nvSpPr>
          <p:spPr>
            <a:xfrm>
              <a:off x="5946247" y="993897"/>
              <a:ext cx="3799840" cy="1058932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91F2987-257E-7BD0-83B4-2E20D4DB62B7}"/>
                </a:ext>
              </a:extLst>
            </p:cNvPr>
            <p:cNvSpPr/>
            <p:nvPr/>
          </p:nvSpPr>
          <p:spPr>
            <a:xfrm>
              <a:off x="5651607" y="2244700"/>
              <a:ext cx="4511039" cy="1058932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4E0FE45-8B47-EFD9-D3AF-738EC685AC54}"/>
                  </a:ext>
                </a:extLst>
              </p:cNvPr>
              <p:cNvSpPr/>
              <p:nvPr/>
            </p:nvSpPr>
            <p:spPr>
              <a:xfrm>
                <a:off x="10555487" y="2446012"/>
                <a:ext cx="1447919" cy="1358526"/>
              </a:xfrm>
              <a:prstGeom prst="roundRect">
                <a:avLst/>
              </a:prstGeom>
              <a:solidFill>
                <a:srgbClr val="D6D6D6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⇄</m:t>
                      </m:r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T" sz="2000" dirty="0">
                  <a:solidFill>
                    <a:sysClr val="windowText" lastClr="0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⇄</m:t>
                      </m:r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T" sz="2000" dirty="0">
                  <a:solidFill>
                    <a:sysClr val="windowText" lastClr="0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⇄</m:t>
                      </m:r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IT" sz="20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4E0FE45-8B47-EFD9-D3AF-738EC685AC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5487" y="2446012"/>
                <a:ext cx="1447919" cy="135852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36907512-F114-E594-106B-BEDD66468A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20"/>
          <a:stretch/>
        </p:blipFill>
        <p:spPr>
          <a:xfrm>
            <a:off x="68605" y="4053570"/>
            <a:ext cx="2469777" cy="1358526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6" name="Picture 5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442EED45-5F1C-9348-E6CE-AED6AB30D60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468"/>
          <a:stretch/>
        </p:blipFill>
        <p:spPr>
          <a:xfrm>
            <a:off x="36662" y="759169"/>
            <a:ext cx="2500685" cy="1358526"/>
          </a:xfrm>
          <a:prstGeom prst="rect">
            <a:avLst/>
          </a:prstGeom>
          <a:ln w="19050">
            <a:solidFill>
              <a:schemeClr val="accent5"/>
            </a:solidFill>
          </a:ln>
        </p:spPr>
      </p:pic>
      <p:pic>
        <p:nvPicPr>
          <p:cNvPr id="7" name="Picture 6" descr="A close-up of a person's face&#10;&#10;AI-generated content may be incorrect.">
            <a:extLst>
              <a:ext uri="{FF2B5EF4-FFF2-40B4-BE49-F238E27FC236}">
                <a16:creationId xmlns:a16="http://schemas.microsoft.com/office/drawing/2014/main" id="{6A127CBD-AF14-942C-DE7E-9020F743C3A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94"/>
          <a:stretch/>
        </p:blipFill>
        <p:spPr>
          <a:xfrm>
            <a:off x="8255307" y="689320"/>
            <a:ext cx="3102098" cy="1373486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pic>
        <p:nvPicPr>
          <p:cNvPr id="9" name="Picture 8" descr="A close-up of a person's face&#10;&#10;AI-generated content may be incorrect.">
            <a:extLst>
              <a:ext uri="{FF2B5EF4-FFF2-40B4-BE49-F238E27FC236}">
                <a16:creationId xmlns:a16="http://schemas.microsoft.com/office/drawing/2014/main" id="{451FDE0F-9084-011A-218A-618D415179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418"/>
          <a:stretch/>
        </p:blipFill>
        <p:spPr>
          <a:xfrm>
            <a:off x="8959836" y="4311077"/>
            <a:ext cx="3191302" cy="1358526"/>
          </a:xfrm>
          <a:prstGeom prst="rect">
            <a:avLst/>
          </a:prstGeom>
          <a:ln w="19050">
            <a:solidFill>
              <a:srgbClr val="7030A0"/>
            </a:solidFill>
          </a:ln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D0DB374-9A85-690F-B3E2-6A0F1CB1A159}"/>
              </a:ext>
            </a:extLst>
          </p:cNvPr>
          <p:cNvSpPr/>
          <p:nvPr/>
        </p:nvSpPr>
        <p:spPr>
          <a:xfrm>
            <a:off x="4068528" y="913805"/>
            <a:ext cx="3102098" cy="76525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Refreshing what we’ve learnt from P. Hunter’s lecture…</a:t>
            </a:r>
          </a:p>
        </p:txBody>
      </p:sp>
    </p:spTree>
    <p:extLst>
      <p:ext uri="{BB962C8B-B14F-4D97-AF65-F5344CB8AC3E}">
        <p14:creationId xmlns:p14="http://schemas.microsoft.com/office/powerpoint/2010/main" val="33560634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9BA2BC7D-1374-193E-C11B-C7AAE179B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EA5E3142-3071-6FE2-7DD5-98C28B7025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4957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Comparing 0D &amp; BG-0D models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45FF7A-9604-C278-69C7-6CEB348E9E67}"/>
              </a:ext>
            </a:extLst>
          </p:cNvPr>
          <p:cNvGrpSpPr/>
          <p:nvPr/>
        </p:nvGrpSpPr>
        <p:grpSpPr>
          <a:xfrm>
            <a:off x="1997323" y="2024269"/>
            <a:ext cx="8133293" cy="2347255"/>
            <a:chOff x="2029353" y="993897"/>
            <a:chExt cx="8133293" cy="2347255"/>
          </a:xfrm>
        </p:grpSpPr>
        <p:pic>
          <p:nvPicPr>
            <p:cNvPr id="10" name="Picture 9" descr="A diagram of a circuit&#10;&#10;AI-generated content may be incorrect.">
              <a:extLst>
                <a:ext uri="{FF2B5EF4-FFF2-40B4-BE49-F238E27FC236}">
                  <a16:creationId xmlns:a16="http://schemas.microsoft.com/office/drawing/2014/main" id="{0D9418EC-412D-6101-6836-F8642AF5D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722"/>
            <a:stretch/>
          </p:blipFill>
          <p:spPr>
            <a:xfrm>
              <a:off x="2029353" y="1001152"/>
              <a:ext cx="8109739" cy="2340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ED476C-AB88-88F1-3952-28180D48EE35}"/>
                </a:ext>
              </a:extLst>
            </p:cNvPr>
            <p:cNvSpPr/>
            <p:nvPr/>
          </p:nvSpPr>
          <p:spPr>
            <a:xfrm>
              <a:off x="2034647" y="993897"/>
              <a:ext cx="3373120" cy="1058932"/>
            </a:xfrm>
            <a:prstGeom prst="rect">
              <a:avLst/>
            </a:prstGeom>
            <a:noFill/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C426BB8-9E76-2D43-39C8-D6D2E141EC36}"/>
                </a:ext>
              </a:extLst>
            </p:cNvPr>
            <p:cNvSpPr/>
            <p:nvPr/>
          </p:nvSpPr>
          <p:spPr>
            <a:xfrm>
              <a:off x="2029353" y="2244700"/>
              <a:ext cx="3373120" cy="1058932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>
                <a:solidFill>
                  <a:schemeClr val="accent6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BF589E4-A4C6-1E08-EC1F-FEFA44AEF023}"/>
                </a:ext>
              </a:extLst>
            </p:cNvPr>
            <p:cNvSpPr/>
            <p:nvPr/>
          </p:nvSpPr>
          <p:spPr>
            <a:xfrm>
              <a:off x="5946247" y="993897"/>
              <a:ext cx="3799840" cy="1058932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4D09AC0-2E47-0221-AF28-F6E69250A175}"/>
                </a:ext>
              </a:extLst>
            </p:cNvPr>
            <p:cNvSpPr/>
            <p:nvPr/>
          </p:nvSpPr>
          <p:spPr>
            <a:xfrm>
              <a:off x="5651607" y="2244700"/>
              <a:ext cx="4511039" cy="1058932"/>
            </a:xfrm>
            <a:prstGeom prst="rect">
              <a:avLst/>
            </a:prstGeom>
            <a:noFill/>
            <a:ln w="19050"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A339F7E-8A70-4E18-EED8-FAC7719E4570}"/>
                  </a:ext>
                </a:extLst>
              </p:cNvPr>
              <p:cNvSpPr/>
              <p:nvPr/>
            </p:nvSpPr>
            <p:spPr>
              <a:xfrm>
                <a:off x="10555487" y="2446012"/>
                <a:ext cx="1447919" cy="1358526"/>
              </a:xfrm>
              <a:prstGeom prst="roundRect">
                <a:avLst/>
              </a:prstGeom>
              <a:solidFill>
                <a:srgbClr val="D6D6D6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⇄</m:t>
                      </m:r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IT" sz="2000" dirty="0">
                  <a:solidFill>
                    <a:sysClr val="windowText" lastClr="0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⇄</m:t>
                      </m:r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IT" sz="2000" dirty="0">
                  <a:solidFill>
                    <a:sysClr val="windowText" lastClr="000000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⇄</m:t>
                      </m:r>
                      <m:r>
                        <a:rPr lang="en-US" sz="200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IT" sz="2000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A339F7E-8A70-4E18-EED8-FAC7719E45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5487" y="2446012"/>
                <a:ext cx="1447919" cy="1358526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>
                <a:solidFill>
                  <a:schemeClr val="bg1">
                    <a:lumMod val="50000"/>
                  </a:schemeClr>
                </a:solidFill>
              </a:ln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3561AD77-4122-64F3-61FA-882456119E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320"/>
          <a:stretch/>
        </p:blipFill>
        <p:spPr>
          <a:xfrm>
            <a:off x="68605" y="4053570"/>
            <a:ext cx="2469777" cy="1358526"/>
          </a:xfrm>
          <a:prstGeom prst="rect">
            <a:avLst/>
          </a:prstGeom>
          <a:ln w="19050">
            <a:solidFill>
              <a:schemeClr val="accent6"/>
            </a:solidFill>
          </a:ln>
        </p:spPr>
      </p:pic>
      <p:pic>
        <p:nvPicPr>
          <p:cNvPr id="6" name="Picture 5" descr="A white background with black and white clouds&#10;&#10;AI-generated content may be incorrect.">
            <a:extLst>
              <a:ext uri="{FF2B5EF4-FFF2-40B4-BE49-F238E27FC236}">
                <a16:creationId xmlns:a16="http://schemas.microsoft.com/office/drawing/2014/main" id="{B4BE144B-9363-4EFA-2D0E-72EDE4503F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468"/>
          <a:stretch/>
        </p:blipFill>
        <p:spPr>
          <a:xfrm>
            <a:off x="36662" y="759169"/>
            <a:ext cx="2500685" cy="1358526"/>
          </a:xfrm>
          <a:prstGeom prst="rect">
            <a:avLst/>
          </a:prstGeom>
          <a:ln w="19050">
            <a:solidFill>
              <a:schemeClr val="accent5"/>
            </a:solidFill>
          </a:ln>
        </p:spPr>
      </p:pic>
      <p:pic>
        <p:nvPicPr>
          <p:cNvPr id="7" name="Picture 6" descr="A close-up of a person's face&#10;&#10;AI-generated content may be incorrect.">
            <a:extLst>
              <a:ext uri="{FF2B5EF4-FFF2-40B4-BE49-F238E27FC236}">
                <a16:creationId xmlns:a16="http://schemas.microsoft.com/office/drawing/2014/main" id="{0747BDEB-18B8-4E63-C682-4B4D65BA3AE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694"/>
          <a:stretch/>
        </p:blipFill>
        <p:spPr>
          <a:xfrm>
            <a:off x="8255307" y="689320"/>
            <a:ext cx="3102098" cy="1373486"/>
          </a:xfrm>
          <a:prstGeom prst="rect">
            <a:avLst/>
          </a:prstGeom>
          <a:ln w="19050">
            <a:solidFill>
              <a:schemeClr val="accent2"/>
            </a:solidFill>
          </a:ln>
        </p:spPr>
      </p:pic>
      <p:pic>
        <p:nvPicPr>
          <p:cNvPr id="9" name="Picture 8" descr="A close-up of a person's face&#10;&#10;AI-generated content may be incorrect.">
            <a:extLst>
              <a:ext uri="{FF2B5EF4-FFF2-40B4-BE49-F238E27FC236}">
                <a16:creationId xmlns:a16="http://schemas.microsoft.com/office/drawing/2014/main" id="{D25FE276-7140-1B37-00A0-A436DD310B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418"/>
          <a:stretch/>
        </p:blipFill>
        <p:spPr>
          <a:xfrm>
            <a:off x="8959836" y="4311077"/>
            <a:ext cx="3191302" cy="1358526"/>
          </a:xfrm>
          <a:prstGeom prst="rect">
            <a:avLst/>
          </a:prstGeom>
          <a:ln w="19050">
            <a:solidFill>
              <a:srgbClr val="7030A0"/>
            </a:solidFill>
          </a:ln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499A286-4A85-BF87-29C8-5A77FB345B2F}"/>
              </a:ext>
            </a:extLst>
          </p:cNvPr>
          <p:cNvSpPr/>
          <p:nvPr/>
        </p:nvSpPr>
        <p:spPr>
          <a:xfrm>
            <a:off x="4068528" y="913805"/>
            <a:ext cx="3102098" cy="765251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dirty="0">
                <a:solidFill>
                  <a:schemeClr val="tx1"/>
                </a:solidFill>
              </a:rPr>
              <a:t>Refreshing what we’ve learnt from P. Hunter’s lecture…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F9C3DC0-E1B6-7510-B15B-C0A7F4A0E882}"/>
              </a:ext>
            </a:extLst>
          </p:cNvPr>
          <p:cNvSpPr/>
          <p:nvPr/>
        </p:nvSpPr>
        <p:spPr>
          <a:xfrm>
            <a:off x="3937255" y="5094142"/>
            <a:ext cx="3066014" cy="9144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A </a:t>
            </a:r>
            <a:r>
              <a:rPr lang="en-GB" sz="2000" b="1" dirty="0">
                <a:solidFill>
                  <a:schemeClr val="tx1"/>
                </a:solidFill>
              </a:rPr>
              <a:t>modular framework</a:t>
            </a:r>
            <a:r>
              <a:rPr lang="en-GB" sz="2000" dirty="0">
                <a:solidFill>
                  <a:schemeClr val="tx1"/>
                </a:solidFill>
              </a:rPr>
              <a:t> for CVS modelling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43D38164-5B70-8B46-4727-38A14FE6BF2D}"/>
              </a:ext>
            </a:extLst>
          </p:cNvPr>
          <p:cNvSpPr/>
          <p:nvPr/>
        </p:nvSpPr>
        <p:spPr>
          <a:xfrm>
            <a:off x="7170626" y="5796067"/>
            <a:ext cx="3228947" cy="914400"/>
          </a:xfrm>
          <a:prstGeom prst="round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sz="1800" dirty="0">
                <a:solidFill>
                  <a:schemeClr val="tx1"/>
                </a:solidFill>
              </a:rPr>
              <a:t>Integrated whole-body physiology models from cellular to organ and system levels</a:t>
            </a:r>
          </a:p>
        </p:txBody>
      </p:sp>
      <p:sp>
        <p:nvSpPr>
          <p:cNvPr id="13" name="Down Arrow 12">
            <a:extLst>
              <a:ext uri="{FF2B5EF4-FFF2-40B4-BE49-F238E27FC236}">
                <a16:creationId xmlns:a16="http://schemas.microsoft.com/office/drawing/2014/main" id="{742F3DB5-DEAE-1A6A-AB5A-150E23EB7A3C}"/>
              </a:ext>
            </a:extLst>
          </p:cNvPr>
          <p:cNvSpPr/>
          <p:nvPr/>
        </p:nvSpPr>
        <p:spPr>
          <a:xfrm>
            <a:off x="5320947" y="4440402"/>
            <a:ext cx="298630" cy="584862"/>
          </a:xfrm>
          <a:prstGeom prst="downArrow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2000">
              <a:solidFill>
                <a:schemeClr val="tx1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161303BC-3707-26A3-72D0-E1251B5852FA}"/>
              </a:ext>
            </a:extLst>
          </p:cNvPr>
          <p:cNvSpPr/>
          <p:nvPr/>
        </p:nvSpPr>
        <p:spPr>
          <a:xfrm>
            <a:off x="5211339" y="6041571"/>
            <a:ext cx="1951461" cy="741528"/>
          </a:xfrm>
          <a:custGeom>
            <a:avLst/>
            <a:gdLst>
              <a:gd name="csX0" fmla="*/ 329490 w 1951461"/>
              <a:gd name="csY0" fmla="*/ 0 h 741528"/>
              <a:gd name="csX1" fmla="*/ 786690 w 1951461"/>
              <a:gd name="csY1" fmla="*/ 293914 h 741528"/>
              <a:gd name="csX2" fmla="*/ 253290 w 1951461"/>
              <a:gd name="csY2" fmla="*/ 740228 h 741528"/>
              <a:gd name="csX3" fmla="*/ 2918 w 1951461"/>
              <a:gd name="csY3" fmla="*/ 424543 h 741528"/>
              <a:gd name="csX4" fmla="*/ 405690 w 1951461"/>
              <a:gd name="csY4" fmla="*/ 261257 h 741528"/>
              <a:gd name="csX5" fmla="*/ 1004404 w 1951461"/>
              <a:gd name="csY5" fmla="*/ 511628 h 741528"/>
              <a:gd name="csX6" fmla="*/ 1537804 w 1951461"/>
              <a:gd name="csY6" fmla="*/ 566057 h 741528"/>
              <a:gd name="csX7" fmla="*/ 1951461 w 1951461"/>
              <a:gd name="csY7" fmla="*/ 304800 h 7415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951461" h="741528">
                <a:moveTo>
                  <a:pt x="329490" y="0"/>
                </a:moveTo>
                <a:cubicBezTo>
                  <a:pt x="564440" y="85271"/>
                  <a:pt x="799390" y="170543"/>
                  <a:pt x="786690" y="293914"/>
                </a:cubicBezTo>
                <a:cubicBezTo>
                  <a:pt x="773990" y="417285"/>
                  <a:pt x="383919" y="718457"/>
                  <a:pt x="253290" y="740228"/>
                </a:cubicBezTo>
                <a:cubicBezTo>
                  <a:pt x="122661" y="761999"/>
                  <a:pt x="-22482" y="504371"/>
                  <a:pt x="2918" y="424543"/>
                </a:cubicBezTo>
                <a:cubicBezTo>
                  <a:pt x="28318" y="344715"/>
                  <a:pt x="238776" y="246743"/>
                  <a:pt x="405690" y="261257"/>
                </a:cubicBezTo>
                <a:cubicBezTo>
                  <a:pt x="572604" y="275771"/>
                  <a:pt x="815718" y="460828"/>
                  <a:pt x="1004404" y="511628"/>
                </a:cubicBezTo>
                <a:cubicBezTo>
                  <a:pt x="1193090" y="562428"/>
                  <a:pt x="1379961" y="600528"/>
                  <a:pt x="1537804" y="566057"/>
                </a:cubicBezTo>
                <a:cubicBezTo>
                  <a:pt x="1695647" y="531586"/>
                  <a:pt x="1823554" y="418193"/>
                  <a:pt x="1951461" y="304800"/>
                </a:cubicBezTo>
              </a:path>
            </a:pathLst>
          </a:custGeom>
          <a:noFill/>
          <a:ln w="28575">
            <a:prstDash val="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33831075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7F74F380-5C16-4432-D834-482BCC686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01871214-69F6-E8A3-3CF2-9CFB034702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0D heart and valve models</a:t>
            </a:r>
          </a:p>
        </p:txBody>
      </p:sp>
      <p:sp>
        <p:nvSpPr>
          <p:cNvPr id="2" name="Footer Placeholder 14">
            <a:extLst>
              <a:ext uri="{FF2B5EF4-FFF2-40B4-BE49-F238E27FC236}">
                <a16:creationId xmlns:a16="http://schemas.microsoft.com/office/drawing/2014/main" id="{03496D6D-83F6-C552-F901-E564BCCDA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7715" y="6353619"/>
            <a:ext cx="3132651" cy="428946"/>
          </a:xfrm>
        </p:spPr>
        <p:txBody>
          <a:bodyPr/>
          <a:lstStyle/>
          <a:p>
            <a:r>
              <a:rPr lang="en-IT" dirty="0"/>
              <a:t>Maynard et al. (2012), doi: </a:t>
            </a:r>
            <a:r>
              <a:rPr lang="en-GB" dirty="0">
                <a:hlinkClick r:id="rId3"/>
              </a:rPr>
              <a:t>10.1002/cnm.1466</a:t>
            </a:r>
            <a:endParaRPr lang="en-GB" dirty="0"/>
          </a:p>
        </p:txBody>
      </p:sp>
      <p:pic>
        <p:nvPicPr>
          <p:cNvPr id="4" name="Picture 3" descr="A diagram of a heart&#10;&#10;AI-generated content may be incorrect.">
            <a:extLst>
              <a:ext uri="{FF2B5EF4-FFF2-40B4-BE49-F238E27FC236}">
                <a16:creationId xmlns:a16="http://schemas.microsoft.com/office/drawing/2014/main" id="{70F01E8A-72A6-2D4C-40BB-C32B58C782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780"/>
          <a:stretch>
            <a:fillRect/>
          </a:stretch>
        </p:blipFill>
        <p:spPr>
          <a:xfrm>
            <a:off x="3221756" y="789800"/>
            <a:ext cx="5447511" cy="2160000"/>
          </a:xfrm>
          <a:prstGeom prst="rect">
            <a:avLst/>
          </a:prstGeom>
        </p:spPr>
      </p:pic>
      <p:pic>
        <p:nvPicPr>
          <p:cNvPr id="6" name="Picture 5" descr="A diagram of a heart&#10;&#10;AI-generated content may be incorrect.">
            <a:extLst>
              <a:ext uri="{FF2B5EF4-FFF2-40B4-BE49-F238E27FC236}">
                <a16:creationId xmlns:a16="http://schemas.microsoft.com/office/drawing/2014/main" id="{5BD54F4C-4C02-0755-F274-ADECD02A012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02" r="52325"/>
          <a:stretch>
            <a:fillRect/>
          </a:stretch>
        </p:blipFill>
        <p:spPr>
          <a:xfrm>
            <a:off x="3800009" y="3031709"/>
            <a:ext cx="4591982" cy="3240000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97A7549-ED5D-7A56-A004-24D3691A14A3}"/>
              </a:ext>
            </a:extLst>
          </p:cNvPr>
          <p:cNvSpPr/>
          <p:nvPr/>
        </p:nvSpPr>
        <p:spPr>
          <a:xfrm flipV="1">
            <a:off x="6429959" y="4232975"/>
            <a:ext cx="1000988" cy="83746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9E8D0C0-7B59-91E2-921E-B9178DF77C69}"/>
              </a:ext>
            </a:extLst>
          </p:cNvPr>
          <p:cNvSpPr/>
          <p:nvPr/>
        </p:nvSpPr>
        <p:spPr>
          <a:xfrm flipV="1">
            <a:off x="4371595" y="4232975"/>
            <a:ext cx="1000988" cy="83746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EEC791-8F91-3D68-DD8C-2E5A6FCEDED1}"/>
              </a:ext>
            </a:extLst>
          </p:cNvPr>
          <p:cNvSpPr txBox="1"/>
          <p:nvPr/>
        </p:nvSpPr>
        <p:spPr>
          <a:xfrm>
            <a:off x="7430947" y="4451654"/>
            <a:ext cx="39756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000" dirty="0">
                <a:solidFill>
                  <a:srgbClr val="FF0000"/>
                </a:solidFill>
              </a:rPr>
              <a:t>Pressure-dependent</a:t>
            </a:r>
            <a:r>
              <a:rPr lang="en-IT" dirty="0">
                <a:solidFill>
                  <a:srgbClr val="FF0000"/>
                </a:solidFill>
              </a:rPr>
              <a:t> source resistance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BD8E60F-9CF4-BDD8-C88B-1E3F56FA47F2}"/>
              </a:ext>
            </a:extLst>
          </p:cNvPr>
          <p:cNvSpPr/>
          <p:nvPr/>
        </p:nvSpPr>
        <p:spPr>
          <a:xfrm flipV="1">
            <a:off x="4371595" y="4965539"/>
            <a:ext cx="1000988" cy="708304"/>
          </a:xfrm>
          <a:prstGeom prst="ellips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accent6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B20CCC3-D4CE-63A9-A1FB-DBD0EB91C8E8}"/>
              </a:ext>
            </a:extLst>
          </p:cNvPr>
          <p:cNvSpPr/>
          <p:nvPr/>
        </p:nvSpPr>
        <p:spPr>
          <a:xfrm flipV="1">
            <a:off x="6453628" y="4965539"/>
            <a:ext cx="1000988" cy="708304"/>
          </a:xfrm>
          <a:prstGeom prst="ellips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accent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FEEE3A-205B-E1AD-BEDA-B61C8D9EEB2E}"/>
              </a:ext>
            </a:extLst>
          </p:cNvPr>
          <p:cNvSpPr txBox="1"/>
          <p:nvPr/>
        </p:nvSpPr>
        <p:spPr>
          <a:xfrm>
            <a:off x="1791593" y="5070443"/>
            <a:ext cx="25800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000" dirty="0">
                <a:solidFill>
                  <a:schemeClr val="accent6"/>
                </a:solidFill>
              </a:rPr>
              <a:t>Time-varying elastance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4717C81-D6ED-8339-456B-2516CA01F884}"/>
              </a:ext>
            </a:extLst>
          </p:cNvPr>
          <p:cNvSpPr/>
          <p:nvPr/>
        </p:nvSpPr>
        <p:spPr>
          <a:xfrm>
            <a:off x="5413094" y="3193369"/>
            <a:ext cx="1496992" cy="837468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0ACDBF-465D-2234-7CB4-2AF3D76C475F}"/>
                  </a:ext>
                </a:extLst>
              </p:cNvPr>
              <p:cNvSpPr txBox="1"/>
              <p:nvPr/>
            </p:nvSpPr>
            <p:spPr>
              <a:xfrm>
                <a:off x="6973239" y="2884108"/>
                <a:ext cx="3787127" cy="5356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T" dirty="0">
                    <a:solidFill>
                      <a:schemeClr val="accent1"/>
                    </a:solidFill>
                  </a:rPr>
                  <a:t>Valve model </a:t>
                </a:r>
                <a14:m>
                  <m:oMath xmlns:m="http://schemas.openxmlformats.org/officeDocument/2006/math">
                    <m:r>
                      <a:rPr lang="en-IT" sz="200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av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d>
                      <m:dPr>
                        <m:begChr m:val="|"/>
                        <m:endChr m:val="|"/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av</m:t>
                        </m:r>
                      </m:sub>
                    </m:sSub>
                    <m:f>
                      <m:fPr>
                        <m:ctrlP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𝑑𝑞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endParaRPr lang="en-IT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C0ACDBF-465D-2234-7CB4-2AF3D76C47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3239" y="2884108"/>
                <a:ext cx="3787127" cy="535659"/>
              </a:xfrm>
              <a:prstGeom prst="rect">
                <a:avLst/>
              </a:prstGeom>
              <a:blipFill>
                <a:blip r:embed="rId5"/>
                <a:stretch>
                  <a:fillRect l="-1672" b="-232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605675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E851B-9065-793A-A24C-353E95C6D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5FB1F71-3E06-52E0-BE68-2002932FA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Geometric multiscale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9A12DB-9518-769C-4649-632537064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554"/>
          <a:stretch>
            <a:fillRect/>
          </a:stretch>
        </p:blipFill>
        <p:spPr>
          <a:xfrm>
            <a:off x="1495776" y="2496041"/>
            <a:ext cx="9200448" cy="1800000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9466B466-10C2-5FD1-BEC2-FD795D9757C8}"/>
              </a:ext>
            </a:extLst>
          </p:cNvPr>
          <p:cNvSpPr/>
          <p:nvPr/>
        </p:nvSpPr>
        <p:spPr>
          <a:xfrm flipV="1">
            <a:off x="8154587" y="2496041"/>
            <a:ext cx="975360" cy="1706880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2DFDB8-61A0-2A77-200B-1E81B27A1AAB}"/>
                  </a:ext>
                </a:extLst>
              </p:cNvPr>
              <p:cNvSpPr txBox="1"/>
              <p:nvPr/>
            </p:nvSpPr>
            <p:spPr>
              <a:xfrm>
                <a:off x="7927133" y="4342601"/>
                <a:ext cx="412414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T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IT" dirty="0">
                    <a:solidFill>
                      <a:srgbClr val="FF0000"/>
                    </a:solidFill>
                  </a:rPr>
                  <a:t> (</a:t>
                </a:r>
                <a:r>
                  <a:rPr lang="en-GB" dirty="0">
                    <a:solidFill>
                      <a:srgbClr val="FF0000"/>
                    </a:solidFill>
                  </a:rPr>
                  <a:t>m</a:t>
                </a:r>
                <a:r>
                  <a:rPr lang="en-IT" dirty="0">
                    <a:solidFill>
                      <a:srgbClr val="FF0000"/>
                    </a:solidFill>
                  </a:rPr>
                  <a:t>ass conservation 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T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en-IT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acc>
                      </m:e>
                      <m:sub>
                        <m: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sub>
                    </m:sSub>
                  </m:oMath>
                </a14:m>
                <a:r>
                  <a:rPr lang="en-IT" dirty="0">
                    <a:solidFill>
                      <a:srgbClr val="FF0000"/>
                    </a:solidFill>
                  </a:rPr>
                  <a:t> (continuity of –total– pressure)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22DFDB8-61A0-2A77-200B-1E81B27A1A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7133" y="4342601"/>
                <a:ext cx="4124142" cy="646331"/>
              </a:xfrm>
              <a:prstGeom prst="rect">
                <a:avLst/>
              </a:prstGeom>
              <a:blipFill>
                <a:blip r:embed="rId3"/>
                <a:stretch>
                  <a:fillRect l="-308" t="-3846" r="-923" b="-1538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311442EB-E348-FE22-961B-B79942272A33}"/>
              </a:ext>
            </a:extLst>
          </p:cNvPr>
          <p:cNvSpPr/>
          <p:nvPr/>
        </p:nvSpPr>
        <p:spPr>
          <a:xfrm flipV="1">
            <a:off x="2569029" y="2496041"/>
            <a:ext cx="631371" cy="1706880"/>
          </a:xfrm>
          <a:prstGeom prst="ellipse">
            <a:avLst/>
          </a:prstGeom>
          <a:noFill/>
          <a:ln w="28575">
            <a:solidFill>
              <a:schemeClr val="accent6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E78FB9-273D-80BC-5959-17709729EF7A}"/>
                  </a:ext>
                </a:extLst>
              </p:cNvPr>
              <p:cNvSpPr txBox="1"/>
              <p:nvPr/>
            </p:nvSpPr>
            <p:spPr>
              <a:xfrm>
                <a:off x="257429" y="4296041"/>
                <a:ext cx="3079130" cy="1732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T" dirty="0">
                    <a:solidFill>
                      <a:schemeClr val="accent6"/>
                    </a:solidFill>
                  </a:rPr>
                  <a:t>0D models as BC to 3D models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T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i="1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−0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b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</m:nary>
                    </m:oMath>
                  </m:oMathPara>
                </a14:m>
                <a:endParaRPr lang="en-IT" dirty="0">
                  <a:solidFill>
                    <a:schemeClr val="accent6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0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den>
                      </m:f>
                      <m:nary>
                        <m:naryPr>
                          <m:ctrlP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−0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solidFill>
                                    <a:schemeClr val="accent6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</m:nary>
                    </m:oMath>
                  </m:oMathPara>
                </a14:m>
                <a:endParaRPr lang="en-IT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E78FB9-273D-80BC-5959-17709729E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429" y="4296041"/>
                <a:ext cx="3079130" cy="1732141"/>
              </a:xfrm>
              <a:prstGeom prst="rect">
                <a:avLst/>
              </a:prstGeom>
              <a:blipFill>
                <a:blip r:embed="rId4"/>
                <a:stretch>
                  <a:fillRect l="-1646" t="-45985" b="-92701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AFD46507-5733-2C87-2EFF-E23C796DC022}"/>
              </a:ext>
            </a:extLst>
          </p:cNvPr>
          <p:cNvSpPr/>
          <p:nvPr/>
        </p:nvSpPr>
        <p:spPr>
          <a:xfrm flipV="1">
            <a:off x="5743579" y="2496041"/>
            <a:ext cx="844731" cy="1706880"/>
          </a:xfrm>
          <a:prstGeom prst="ellipse">
            <a:avLst/>
          </a:prstGeom>
          <a:noFill/>
          <a:ln w="28575">
            <a:solidFill>
              <a:schemeClr val="accent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758318-F280-B3C0-F12D-6FC3CC7C7137}"/>
                  </a:ext>
                </a:extLst>
              </p:cNvPr>
              <p:cNvSpPr txBox="1"/>
              <p:nvPr/>
            </p:nvSpPr>
            <p:spPr>
              <a:xfrm>
                <a:off x="3686676" y="4202921"/>
                <a:ext cx="4117794" cy="12950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T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0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US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</m:acc>
                        </m:e>
                        <m:sub>
                          <m:r>
                            <a:rPr lang="en-US" sz="20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sz="20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0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20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sz="2000" b="1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𝐧</m:t>
                          </m:r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m:rPr>
                              <m:sty m:val="p"/>
                            </m:rPr>
                            <a:rPr lang="el-GR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</m:nary>
                    </m:oMath>
                  </m:oMathPara>
                </a14:m>
                <a:endParaRPr lang="en-US" sz="2000" b="0" dirty="0">
                  <a:solidFill>
                    <a:schemeClr val="accent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T" sz="200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en-IT" sz="200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e>
                        <m:sub>
                          <m:r>
                            <a:rPr lang="en-US" sz="20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2000" b="1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  <m:r>
                                <a:rPr lang="en-US" sz="20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e>
                      </m:acc>
                      <m:r>
                        <a:rPr lang="en-US" sz="20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  <m:r>
                                    <a:rPr lang="en-US" sz="2000" i="1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𝜇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accent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/>
                                    </a:rPr>
                                    <m:t>D</m:t>
                                  </m:r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>
                                          <a:solidFill>
                                            <a:schemeClr val="accent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Calibri"/>
                                        </a:rPr>
                                        <m:t>𝐮</m:t>
                                      </m:r>
                                    </m:e>
                                  </m:d>
                                </m:e>
                              </m:d>
                              <m:r>
                                <a:rPr lang="en-US" sz="2000" b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𝐧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20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Γ</m:t>
                              </m:r>
                            </m:e>
                            <m:sub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IT" sz="2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E758318-F280-B3C0-F12D-6FC3CC7C71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6676" y="4202921"/>
                <a:ext cx="4117794" cy="1295098"/>
              </a:xfrm>
              <a:prstGeom prst="rect">
                <a:avLst/>
              </a:prstGeom>
              <a:blipFill>
                <a:blip r:embed="rId5"/>
                <a:stretch>
                  <a:fillRect l="-923" t="-94175" r="-1231" b="-10679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A2BAE5-FB29-D7CC-829A-CF41A59C967F}"/>
                  </a:ext>
                </a:extLst>
              </p:cNvPr>
              <p:cNvSpPr txBox="1"/>
              <p:nvPr/>
            </p:nvSpPr>
            <p:spPr>
              <a:xfrm>
                <a:off x="5669526" y="1961037"/>
                <a:ext cx="9928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0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IT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DA2BAE5-FB29-D7CC-829A-CF41A59C9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9526" y="1961037"/>
                <a:ext cx="992836" cy="400110"/>
              </a:xfrm>
              <a:prstGeom prst="rect">
                <a:avLst/>
              </a:prstGeom>
              <a:blipFill>
                <a:blip r:embed="rId6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32112E-34DA-A540-9F98-76D7ABC55C14}"/>
                  </a:ext>
                </a:extLst>
              </p:cNvPr>
              <p:cNvSpPr txBox="1"/>
              <p:nvPr/>
            </p:nvSpPr>
            <p:spPr>
              <a:xfrm>
                <a:off x="2388296" y="1961037"/>
                <a:ext cx="99283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00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0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0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−0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IT" sz="200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232112E-34DA-A540-9F98-76D7ABC55C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8296" y="1961037"/>
                <a:ext cx="992836" cy="400110"/>
              </a:xfrm>
              <a:prstGeom prst="rect">
                <a:avLst/>
              </a:prstGeom>
              <a:blipFill>
                <a:blip r:embed="rId7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E43A59-A238-4248-B98A-31C0D308F4FF}"/>
                  </a:ext>
                </a:extLst>
              </p:cNvPr>
              <p:cNvSpPr txBox="1"/>
              <p:nvPr/>
            </p:nvSpPr>
            <p:spPr>
              <a:xfrm>
                <a:off x="8127030" y="1961037"/>
                <a:ext cx="103047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−0</m:t>
                          </m:r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sub>
                      </m:sSub>
                    </m:oMath>
                  </m:oMathPara>
                </a14:m>
                <a:endParaRPr lang="en-IT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EE43A59-A238-4248-B98A-31C0D308F4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7030" y="1961037"/>
                <a:ext cx="1030474" cy="400110"/>
              </a:xfrm>
              <a:prstGeom prst="rect">
                <a:avLst/>
              </a:prstGeom>
              <a:blipFill>
                <a:blip r:embed="rId8"/>
                <a:stretch>
                  <a:fillRect b="-312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C1920D5-CB32-D20C-71CC-B0642A750B71}"/>
              </a:ext>
            </a:extLst>
          </p:cNvPr>
          <p:cNvSpPr/>
          <p:nvPr/>
        </p:nvSpPr>
        <p:spPr>
          <a:xfrm>
            <a:off x="1920687" y="979188"/>
            <a:ext cx="8293829" cy="745219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T" sz="2000" dirty="0">
                <a:solidFill>
                  <a:schemeClr val="tx1"/>
                </a:solidFill>
              </a:rPr>
              <a:t>Coupling 0D, 1D and 3D models to construct hetero-dimensional CVS models.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82AB5669-5C76-3C18-DB22-B79AD54BD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3692" y="6353619"/>
            <a:ext cx="5266675" cy="428946"/>
          </a:xfrm>
        </p:spPr>
        <p:txBody>
          <a:bodyPr/>
          <a:lstStyle/>
          <a:p>
            <a:pPr algn="l"/>
            <a:r>
              <a:rPr lang="en-GB" dirty="0" err="1"/>
              <a:t>Formaggia</a:t>
            </a:r>
            <a:r>
              <a:rPr lang="en-GB" dirty="0"/>
              <a:t>, </a:t>
            </a:r>
            <a:r>
              <a:rPr lang="en-GB" dirty="0" err="1"/>
              <a:t>Quarteroni</a:t>
            </a:r>
            <a:r>
              <a:rPr lang="en-GB" dirty="0"/>
              <a:t> &amp; </a:t>
            </a:r>
            <a:r>
              <a:rPr lang="en-GB" dirty="0" err="1"/>
              <a:t>Veneziani</a:t>
            </a:r>
            <a:r>
              <a:rPr lang="en-GB" dirty="0"/>
              <a:t>, Eds, (2009),  </a:t>
            </a:r>
            <a:r>
              <a:rPr lang="en-GB" dirty="0" err="1"/>
              <a:t>doi</a:t>
            </a:r>
            <a:r>
              <a:rPr lang="en-GB" dirty="0"/>
              <a:t>: </a:t>
            </a:r>
            <a:r>
              <a:rPr lang="en-GB" dirty="0">
                <a:ea typeface="+mn-lt"/>
                <a:cs typeface="+mn-lt"/>
                <a:hlinkClick r:id="rId9"/>
              </a:rPr>
              <a:t>10.1007/978-88-470-1152-6</a:t>
            </a:r>
            <a:endParaRPr lang="en-GB" dirty="0">
              <a:ea typeface="+mn-lt"/>
              <a:cs typeface="+mn-lt"/>
            </a:endParaRPr>
          </a:p>
          <a:p>
            <a:pPr algn="l"/>
            <a:r>
              <a:rPr lang="en-IT" dirty="0"/>
              <a:t>Blanco &amp; Feijóo (2013), doi: </a:t>
            </a:r>
            <a:r>
              <a:rPr lang="en-GB" dirty="0">
                <a:hlinkClick r:id="rId10" tooltip="Persistent link using digital object identifier"/>
              </a:rPr>
              <a:t>10.1016/j.medengphy.2012.07.011</a:t>
            </a:r>
            <a:endParaRPr lang="en-IT" dirty="0"/>
          </a:p>
        </p:txBody>
      </p:sp>
    </p:spTree>
    <p:extLst>
      <p:ext uri="{BB962C8B-B14F-4D97-AF65-F5344CB8AC3E}">
        <p14:creationId xmlns:p14="http://schemas.microsoft.com/office/powerpoint/2010/main" val="39188128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CCA98CBC-3333-E5D8-A859-593732A7D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48443406-30A7-6081-8415-4107DA0BB8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Numerical schemes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28D677-9F6A-6AC4-B849-EE384DD34745}"/>
              </a:ext>
            </a:extLst>
          </p:cNvPr>
          <p:cNvSpPr txBox="1"/>
          <p:nvPr/>
        </p:nvSpPr>
        <p:spPr>
          <a:xfrm>
            <a:off x="545472" y="1008430"/>
            <a:ext cx="10800080" cy="783193"/>
          </a:xfrm>
          <a:prstGeom prst="roundRect">
            <a:avLst/>
          </a:prstGeom>
          <a:noFill/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Calibri"/>
                <a:cs typeface="Calibri"/>
              </a:rPr>
              <a:t>99% of cases, we need </a:t>
            </a:r>
            <a:r>
              <a:rPr lang="en-US" sz="2000" b="1" dirty="0">
                <a:ea typeface="Calibri"/>
                <a:cs typeface="Calibri"/>
              </a:rPr>
              <a:t>numerical schemes</a:t>
            </a:r>
            <a:r>
              <a:rPr lang="en-US" sz="2000" dirty="0">
                <a:ea typeface="Calibri"/>
                <a:cs typeface="Calibri"/>
              </a:rPr>
              <a:t> to </a:t>
            </a:r>
            <a:r>
              <a:rPr lang="en-US" sz="2000" dirty="0" err="1">
                <a:ea typeface="Calibri"/>
                <a:cs typeface="Calibri"/>
              </a:rPr>
              <a:t>discretise</a:t>
            </a:r>
            <a:r>
              <a:rPr lang="en-US" sz="2000" dirty="0">
                <a:ea typeface="Calibri"/>
                <a:cs typeface="Calibri"/>
              </a:rPr>
              <a:t> and numerically solve our models, to predict the </a:t>
            </a:r>
            <a:r>
              <a:rPr lang="en-US" sz="2000" dirty="0" err="1">
                <a:ea typeface="Calibri"/>
                <a:cs typeface="Calibri"/>
              </a:rPr>
              <a:t>behaviour</a:t>
            </a:r>
            <a:r>
              <a:rPr lang="en-US" sz="2000" dirty="0">
                <a:ea typeface="Calibri"/>
                <a:cs typeface="Calibri"/>
              </a:rPr>
              <a:t> of the system.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222EF-2078-705A-630B-534F329878FA}"/>
              </a:ext>
            </a:extLst>
          </p:cNvPr>
          <p:cNvSpPr txBox="1"/>
          <p:nvPr/>
        </p:nvSpPr>
        <p:spPr>
          <a:xfrm>
            <a:off x="545472" y="2613849"/>
            <a:ext cx="3274688" cy="783193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Calibri"/>
                <a:cs typeface="Calibri"/>
              </a:rPr>
              <a:t>0D models </a:t>
            </a:r>
            <a:r>
              <a:rPr lang="en-US" sz="2000" dirty="0">
                <a:ea typeface="Calibri"/>
                <a:cs typeface="Calibri"/>
                <a:sym typeface="Wingdings" pitchFamily="2" charset="2"/>
              </a:rPr>
              <a:t></a:t>
            </a:r>
            <a:r>
              <a:rPr lang="en-US" sz="2000" dirty="0">
                <a:ea typeface="Calibri"/>
                <a:cs typeface="Calibri"/>
              </a:rPr>
              <a:t> ODEs</a:t>
            </a:r>
          </a:p>
          <a:p>
            <a:r>
              <a:rPr lang="en-US" sz="2000" dirty="0">
                <a:ea typeface="Calibri"/>
                <a:cs typeface="Calibri"/>
                <a:sym typeface="Wingdings" pitchFamily="2" charset="2"/>
              </a:rPr>
              <a:t> time integration schemes</a:t>
            </a:r>
            <a:endParaRPr lang="en-US" sz="2000" dirty="0"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7FCA2C-4779-B53D-C615-A66E31E9A32C}"/>
              </a:ext>
            </a:extLst>
          </p:cNvPr>
          <p:cNvSpPr txBox="1"/>
          <p:nvPr/>
        </p:nvSpPr>
        <p:spPr>
          <a:xfrm>
            <a:off x="6235072" y="2108589"/>
            <a:ext cx="5110480" cy="214526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ea typeface="Calibri"/>
                <a:cs typeface="Calibri"/>
              </a:rPr>
              <a:t>1D &amp; 3D models </a:t>
            </a:r>
            <a:r>
              <a:rPr lang="en-US" sz="2000" dirty="0">
                <a:ea typeface="Calibri"/>
                <a:cs typeface="Calibri"/>
                <a:sym typeface="Wingdings" pitchFamily="2" charset="2"/>
              </a:rPr>
              <a:t></a:t>
            </a:r>
            <a:r>
              <a:rPr lang="en-US" sz="2000" dirty="0">
                <a:ea typeface="Calibri"/>
                <a:cs typeface="Calibri"/>
              </a:rPr>
              <a:t> PDEs</a:t>
            </a:r>
          </a:p>
          <a:p>
            <a:pPr marL="342900" indent="-342900">
              <a:buFont typeface="Wingdings" pitchFamily="2" charset="2"/>
              <a:buChar char="à"/>
            </a:pPr>
            <a:r>
              <a:rPr lang="en-US" sz="2000" dirty="0">
                <a:ea typeface="Calibri"/>
                <a:cs typeface="Calibri"/>
                <a:sym typeface="Wingdings" pitchFamily="2" charset="2"/>
              </a:rPr>
              <a:t>space + time discretization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  <a:sym typeface="Wingdings" pitchFamily="2" charset="2"/>
              </a:rPr>
              <a:t>Finite Difference (FD) schemes,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  <a:sym typeface="Wingdings" pitchFamily="2" charset="2"/>
              </a:rPr>
              <a:t>Finite Volume (FV) methods (e.g., 1D),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  <a:sym typeface="Wingdings" pitchFamily="2" charset="2"/>
              </a:rPr>
              <a:t>Finite Element (FE) methods (e.g., 3D FSI),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  <a:sym typeface="Wingdings" pitchFamily="2" charset="2"/>
              </a:rPr>
              <a:t>…</a:t>
            </a:r>
          </a:p>
        </p:txBody>
      </p:sp>
      <p:sp>
        <p:nvSpPr>
          <p:cNvPr id="7" name="Freeform 38">
            <a:extLst>
              <a:ext uri="{FF2B5EF4-FFF2-40B4-BE49-F238E27FC236}">
                <a16:creationId xmlns:a16="http://schemas.microsoft.com/office/drawing/2014/main" id="{7B44ECA2-B276-6200-0531-584302D05392}"/>
              </a:ext>
            </a:extLst>
          </p:cNvPr>
          <p:cNvSpPr/>
          <p:nvPr/>
        </p:nvSpPr>
        <p:spPr>
          <a:xfrm>
            <a:off x="3820160" y="1805574"/>
            <a:ext cx="1036320" cy="1231540"/>
          </a:xfrm>
          <a:custGeom>
            <a:avLst/>
            <a:gdLst>
              <a:gd name="connsiteX0" fmla="*/ 386222 w 386222"/>
              <a:gd name="connsiteY0" fmla="*/ 0 h 457200"/>
              <a:gd name="connsiteX1" fmla="*/ 294782 w 386222"/>
              <a:gd name="connsiteY1" fmla="*/ 355600 h 457200"/>
              <a:gd name="connsiteX2" fmla="*/ 142 w 386222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222" h="457200">
                <a:moveTo>
                  <a:pt x="386222" y="0"/>
                </a:moveTo>
                <a:cubicBezTo>
                  <a:pt x="372675" y="139700"/>
                  <a:pt x="359129" y="279400"/>
                  <a:pt x="294782" y="355600"/>
                </a:cubicBezTo>
                <a:cubicBezTo>
                  <a:pt x="230435" y="431800"/>
                  <a:pt x="-6631" y="436880"/>
                  <a:pt x="142" y="457200"/>
                </a:cubicBezTo>
              </a:path>
            </a:pathLst>
          </a:custGeom>
          <a:noFill/>
          <a:ln w="31750">
            <a:solidFill>
              <a:schemeClr val="accent6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accent6"/>
              </a:solidFill>
            </a:endParaRPr>
          </a:p>
        </p:txBody>
      </p:sp>
      <p:sp>
        <p:nvSpPr>
          <p:cNvPr id="8" name="Freeform 38">
            <a:extLst>
              <a:ext uri="{FF2B5EF4-FFF2-40B4-BE49-F238E27FC236}">
                <a16:creationId xmlns:a16="http://schemas.microsoft.com/office/drawing/2014/main" id="{94578BF5-E142-A6C7-F13E-7545C9F1FB79}"/>
              </a:ext>
            </a:extLst>
          </p:cNvPr>
          <p:cNvSpPr/>
          <p:nvPr/>
        </p:nvSpPr>
        <p:spPr>
          <a:xfrm flipH="1">
            <a:off x="5300352" y="1805573"/>
            <a:ext cx="934720" cy="1144456"/>
          </a:xfrm>
          <a:custGeom>
            <a:avLst/>
            <a:gdLst>
              <a:gd name="connsiteX0" fmla="*/ 386222 w 386222"/>
              <a:gd name="connsiteY0" fmla="*/ 0 h 457200"/>
              <a:gd name="connsiteX1" fmla="*/ 294782 w 386222"/>
              <a:gd name="connsiteY1" fmla="*/ 355600 h 457200"/>
              <a:gd name="connsiteX2" fmla="*/ 142 w 386222"/>
              <a:gd name="connsiteY2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6222" h="457200">
                <a:moveTo>
                  <a:pt x="386222" y="0"/>
                </a:moveTo>
                <a:cubicBezTo>
                  <a:pt x="372675" y="139700"/>
                  <a:pt x="359129" y="279400"/>
                  <a:pt x="294782" y="355600"/>
                </a:cubicBezTo>
                <a:cubicBezTo>
                  <a:pt x="230435" y="431800"/>
                  <a:pt x="-6631" y="436880"/>
                  <a:pt x="142" y="457200"/>
                </a:cubicBezTo>
              </a:path>
            </a:pathLst>
          </a:custGeom>
          <a:noFill/>
          <a:ln w="31750">
            <a:solidFill>
              <a:schemeClr val="accent2"/>
            </a:solidFill>
            <a:headEnd type="none"/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1CAC58-9109-9689-A42E-DAF0F7A861BE}"/>
              </a:ext>
            </a:extLst>
          </p:cNvPr>
          <p:cNvSpPr txBox="1"/>
          <p:nvPr/>
        </p:nvSpPr>
        <p:spPr>
          <a:xfrm>
            <a:off x="112864" y="3874068"/>
            <a:ext cx="5784485" cy="282630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ea typeface="Calibri"/>
                <a:cs typeface="Calibri"/>
              </a:rPr>
              <a:t>⚠️ Some numerical challenges ⚠️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stability of the numerical methods and couplings;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convergence;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stiffness;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accuracy of the predicted numerical solution;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computational cost of simulations;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Calibri"/>
                <a:cs typeface="Calibri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43016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1F3D27-2F26-8E72-B3AB-83BD201AB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BBDCDA-85A4-E76C-5551-F5B14836F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What else?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C3A901-F429-FC22-D016-A8C8CF17F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1950" y="1019175"/>
            <a:ext cx="5951764" cy="5526003"/>
          </a:xfrm>
        </p:spPr>
        <p:txBody>
          <a:bodyPr anchor="ctr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200" dirty="0"/>
              <a:t>Autonomic nervous system [rapid/short-term]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1800" dirty="0"/>
              <a:t>Baroreceptors – ”top-down” </a:t>
            </a:r>
            <a:r>
              <a:rPr lang="en-GB" sz="1800" u="sng" dirty="0"/>
              <a:t>systemic</a:t>
            </a:r>
            <a:r>
              <a:rPr lang="en-GB" sz="1800" dirty="0"/>
              <a:t> controller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1800" dirty="0"/>
              <a:t>Chemoreceptors (O2, CO2, pH)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1800" dirty="0"/>
              <a:t>Sympathetic activity (vasoconstriction)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GB" sz="2200" dirty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200" dirty="0"/>
              <a:t>Humoral/endocrine regulation [intermediate/long-term]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GB" sz="2200" dirty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200" dirty="0"/>
              <a:t>Local/autoregulatory mechanisms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1800" dirty="0"/>
              <a:t>Cerebral autoregulation – </a:t>
            </a:r>
            <a:r>
              <a:rPr lang="en-GB" sz="1800" u="sng" dirty="0"/>
              <a:t>local</a:t>
            </a:r>
            <a:r>
              <a:rPr lang="en-GB" sz="1800" dirty="0"/>
              <a:t> protective mechanism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1800" dirty="0"/>
              <a:t>Metabolic control and myogenic response</a:t>
            </a:r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endParaRPr lang="en-GB" sz="2200" dirty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200" dirty="0"/>
              <a:t>Respiration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n-GB" sz="2200" dirty="0"/>
          </a:p>
          <a:p>
            <a:pPr>
              <a:lnSpc>
                <a:spcPct val="100000"/>
              </a:lnSpc>
              <a:spcBef>
                <a:spcPts val="0"/>
              </a:spcBef>
              <a:defRPr/>
            </a:pPr>
            <a:r>
              <a:rPr lang="en-GB" sz="2200" dirty="0"/>
              <a:t>…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DE2266E6-DAF2-9176-896F-7557FEA58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39701" y="0"/>
            <a:ext cx="4641245" cy="7200000"/>
          </a:xfrm>
          <a:prstGeom prst="rect">
            <a:avLst/>
          </a:prstGeom>
        </p:spPr>
      </p:pic>
      <p:sp>
        <p:nvSpPr>
          <p:cNvPr id="3" name="Footer Placeholder 11">
            <a:extLst>
              <a:ext uri="{FF2B5EF4-FFF2-40B4-BE49-F238E27FC236}">
                <a16:creationId xmlns:a16="http://schemas.microsoft.com/office/drawing/2014/main" id="{981327AF-278B-7C96-C8E7-1CC8C438D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67942" y="6374563"/>
            <a:ext cx="3572609" cy="451857"/>
          </a:xfrm>
        </p:spPr>
        <p:txBody>
          <a:bodyPr/>
          <a:lstStyle/>
          <a:p>
            <a:pPr algn="l"/>
            <a:r>
              <a:rPr lang="en-US" dirty="0"/>
              <a:t>Picture courtesy of F. Argus, M. Gee, and R. </a:t>
            </a:r>
            <a:r>
              <a:rPr lang="en-US" dirty="0" err="1"/>
              <a:t>Vadigepalli</a:t>
            </a:r>
            <a:endParaRPr lang="en-GB" sz="1200" b="0" i="0" u="none" strike="noStrike" dirty="0">
              <a:effectLst/>
              <a:latin typeface="MuseoSans"/>
            </a:endParaRPr>
          </a:p>
        </p:txBody>
      </p:sp>
    </p:spTree>
    <p:extLst>
      <p:ext uri="{BB962C8B-B14F-4D97-AF65-F5344CB8AC3E}">
        <p14:creationId xmlns:p14="http://schemas.microsoft.com/office/powerpoint/2010/main" val="1659562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804A4-2A96-909A-E263-8226E828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4C6CDC-3220-2FD3-5B99-6169E5710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Context of Use – Brainstorm!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ADDEA86-60F5-16B8-1F74-297F58638CFF}"/>
              </a:ext>
            </a:extLst>
          </p:cNvPr>
          <p:cNvSpPr/>
          <p:nvPr/>
        </p:nvSpPr>
        <p:spPr>
          <a:xfrm>
            <a:off x="2011987" y="2787760"/>
            <a:ext cx="8168026" cy="128248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4000" b="1" dirty="0">
                <a:solidFill>
                  <a:sysClr val="windowText" lastClr="000000"/>
                </a:solidFill>
              </a:rPr>
              <a:t>💡🤔 </a:t>
            </a:r>
            <a:r>
              <a:rPr lang="en-GB" sz="3000" dirty="0">
                <a:solidFill>
                  <a:sysClr val="windowText" lastClr="000000"/>
                </a:solidFill>
              </a:rPr>
              <a:t>…what is your context of use then, and what CVS model do you need?</a:t>
            </a:r>
            <a:endParaRPr lang="en-IT" sz="30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78550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1903-767E-7B8C-783B-B6481BD88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40D265-6C7E-9B5F-B1FA-A452336C6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PART III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CADBA5-EE01-8815-86E2-AE04563928E1}"/>
              </a:ext>
            </a:extLst>
          </p:cNvPr>
          <p:cNvSpPr txBox="1"/>
          <p:nvPr/>
        </p:nvSpPr>
        <p:spPr>
          <a:xfrm>
            <a:off x="4523678" y="631956"/>
            <a:ext cx="32156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T" sz="2800" b="1" dirty="0"/>
              <a:t>Does one size fit all?</a:t>
            </a:r>
          </a:p>
        </p:txBody>
      </p:sp>
      <p:pic>
        <p:nvPicPr>
          <p:cNvPr id="41" name="Picture 40" descr="A blue and red medical diagram&#10;&#10;AI-generated content may be incorrect.">
            <a:extLst>
              <a:ext uri="{FF2B5EF4-FFF2-40B4-BE49-F238E27FC236}">
                <a16:creationId xmlns:a16="http://schemas.microsoft.com/office/drawing/2014/main" id="{5692702D-3F9D-0403-5779-751F2E15E3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0540" y="57485"/>
            <a:ext cx="1920000" cy="2880000"/>
          </a:xfrm>
          <a:prstGeom prst="rect">
            <a:avLst/>
          </a:prstGeom>
        </p:spPr>
      </p:pic>
      <p:grpSp>
        <p:nvGrpSpPr>
          <p:cNvPr id="37" name="Group 36">
            <a:extLst>
              <a:ext uri="{FF2B5EF4-FFF2-40B4-BE49-F238E27FC236}">
                <a16:creationId xmlns:a16="http://schemas.microsoft.com/office/drawing/2014/main" id="{93687F20-4B85-5C7E-6E09-51E2E609AE53}"/>
              </a:ext>
            </a:extLst>
          </p:cNvPr>
          <p:cNvGrpSpPr/>
          <p:nvPr/>
        </p:nvGrpSpPr>
        <p:grpSpPr>
          <a:xfrm>
            <a:off x="301083" y="1921230"/>
            <a:ext cx="11567532" cy="3863030"/>
            <a:chOff x="288539" y="1545312"/>
            <a:chExt cx="11567532" cy="386303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8A02035D-349B-C805-2A40-F98C363FE6C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8539" y="2263698"/>
              <a:ext cx="3144644" cy="314464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800" b="1" dirty="0">
                  <a:solidFill>
                    <a:schemeClr val="accent1"/>
                  </a:solidFill>
                </a:rPr>
                <a:t>1. </a:t>
              </a:r>
            </a:p>
            <a:p>
              <a:pPr algn="ctr"/>
              <a:r>
                <a:rPr lang="en-IT" sz="2800" b="1" dirty="0">
                  <a:solidFill>
                    <a:schemeClr val="accent1"/>
                  </a:solidFill>
                </a:rPr>
                <a:t>Sensitivity Analysis</a:t>
              </a:r>
              <a:br>
                <a:rPr lang="en-IT" sz="2800" b="1" dirty="0">
                  <a:solidFill>
                    <a:schemeClr val="accent1"/>
                  </a:solidFill>
                </a:rPr>
              </a:br>
              <a:r>
                <a:rPr lang="en-IT" sz="2000" dirty="0">
                  <a:solidFill>
                    <a:schemeClr val="tx1"/>
                  </a:solidFill>
                </a:rPr>
                <a:t>Which parameters matter and drive model output?</a:t>
              </a:r>
            </a:p>
          </p:txBody>
        </p:sp>
        <p:sp>
          <p:nvSpPr>
            <p:cNvPr id="8" name="Right Arrow 7">
              <a:extLst>
                <a:ext uri="{FF2B5EF4-FFF2-40B4-BE49-F238E27FC236}">
                  <a16:creationId xmlns:a16="http://schemas.microsoft.com/office/drawing/2014/main" id="{0E2DB0C2-36C2-C78C-EFC4-62311EF74A6B}"/>
                </a:ext>
              </a:extLst>
            </p:cNvPr>
            <p:cNvSpPr/>
            <p:nvPr/>
          </p:nvSpPr>
          <p:spPr>
            <a:xfrm>
              <a:off x="3444334" y="3593704"/>
              <a:ext cx="978408" cy="484632"/>
            </a:xfrm>
            <a:prstGeom prst="rightArrow">
              <a:avLst/>
            </a:prstGeom>
            <a:noFill/>
            <a:ln w="5715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79CB742-9774-F4FB-B5DF-BC07633E88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499983" y="2263698"/>
              <a:ext cx="3144644" cy="314464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800" b="1" dirty="0">
                  <a:solidFill>
                    <a:schemeClr val="accent1"/>
                  </a:solidFill>
                </a:rPr>
                <a:t>2. Identifiability Analysis</a:t>
              </a:r>
              <a:br>
                <a:rPr lang="en-IT" sz="2800" b="1" dirty="0">
                  <a:solidFill>
                    <a:schemeClr val="accent1"/>
                  </a:solidFill>
                </a:rPr>
              </a:br>
              <a:r>
                <a:rPr lang="en-IT" sz="2000" dirty="0">
                  <a:solidFill>
                    <a:schemeClr val="tx1"/>
                  </a:solidFill>
                </a:rPr>
                <a:t>Can we determine them uniquely using the available data?</a:t>
              </a:r>
            </a:p>
          </p:txBody>
        </p:sp>
        <p:sp>
          <p:nvSpPr>
            <p:cNvPr id="10" name="Right Arrow 9">
              <a:extLst>
                <a:ext uri="{FF2B5EF4-FFF2-40B4-BE49-F238E27FC236}">
                  <a16:creationId xmlns:a16="http://schemas.microsoft.com/office/drawing/2014/main" id="{FEFE4599-7766-D7A1-F8C1-DB8619DCEE73}"/>
                </a:ext>
              </a:extLst>
            </p:cNvPr>
            <p:cNvSpPr/>
            <p:nvPr/>
          </p:nvSpPr>
          <p:spPr>
            <a:xfrm>
              <a:off x="7655778" y="3593704"/>
              <a:ext cx="978408" cy="484632"/>
            </a:xfrm>
            <a:prstGeom prst="rightArrow">
              <a:avLst/>
            </a:prstGeom>
            <a:noFill/>
            <a:ln w="57150">
              <a:solidFill>
                <a:schemeClr val="accent1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DC81900-11D6-0684-02E3-1CD6FDC84F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11427" y="2263698"/>
              <a:ext cx="3144644" cy="3144644"/>
            </a:xfrm>
            <a:prstGeom prst="ellipse">
              <a:avLst/>
            </a:prstGeom>
            <a:solidFill>
              <a:schemeClr val="accent5">
                <a:lumMod val="20000"/>
                <a:lumOff val="80000"/>
              </a:schemeClr>
            </a:solidFill>
            <a:ln w="57150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T" sz="2800" b="1" dirty="0">
                  <a:solidFill>
                    <a:schemeClr val="accent1"/>
                  </a:solidFill>
                </a:rPr>
                <a:t>3. </a:t>
              </a:r>
            </a:p>
            <a:p>
              <a:pPr algn="ctr"/>
              <a:r>
                <a:rPr lang="en-IT" sz="2800" b="1" dirty="0">
                  <a:solidFill>
                    <a:schemeClr val="accent1"/>
                  </a:solidFill>
                </a:rPr>
                <a:t>Model Calibration</a:t>
              </a:r>
              <a:br>
                <a:rPr lang="en-IT" sz="2800" b="1" dirty="0">
                  <a:solidFill>
                    <a:schemeClr val="accent1"/>
                  </a:solidFill>
                </a:rPr>
              </a:br>
              <a:r>
                <a:rPr lang="en-IT" sz="2000" dirty="0">
                  <a:solidFill>
                    <a:schemeClr val="tx1"/>
                  </a:solidFill>
                </a:rPr>
                <a:t>Finding subject-specific parameter values</a:t>
              </a: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FEB6501-6749-D9D4-71BC-3E6114B4B0B0}"/>
                </a:ext>
              </a:extLst>
            </p:cNvPr>
            <p:cNvSpPr/>
            <p:nvPr/>
          </p:nvSpPr>
          <p:spPr>
            <a:xfrm rot="21395708" flipH="1">
              <a:off x="1936509" y="1884555"/>
              <a:ext cx="762086" cy="341631"/>
            </a:xfrm>
            <a:custGeom>
              <a:avLst/>
              <a:gdLst>
                <a:gd name="connsiteX0" fmla="*/ 0 w 650240"/>
                <a:gd name="connsiteY0" fmla="*/ 28522 h 404442"/>
                <a:gd name="connsiteX1" fmla="*/ 447040 w 650240"/>
                <a:gd name="connsiteY1" fmla="*/ 38682 h 404442"/>
                <a:gd name="connsiteX2" fmla="*/ 650240 w 650240"/>
                <a:gd name="connsiteY2" fmla="*/ 404442 h 404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0240" h="404442">
                  <a:moveTo>
                    <a:pt x="0" y="28522"/>
                  </a:moveTo>
                  <a:cubicBezTo>
                    <a:pt x="169333" y="2275"/>
                    <a:pt x="338667" y="-23971"/>
                    <a:pt x="447040" y="38682"/>
                  </a:cubicBezTo>
                  <a:cubicBezTo>
                    <a:pt x="555413" y="101335"/>
                    <a:pt x="602826" y="252888"/>
                    <a:pt x="650240" y="40444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FA5D46C-503C-B07B-D37E-B3D19E0A7346}"/>
                </a:ext>
              </a:extLst>
            </p:cNvPr>
            <p:cNvSpPr txBox="1"/>
            <p:nvPr/>
          </p:nvSpPr>
          <p:spPr>
            <a:xfrm>
              <a:off x="2708068" y="1545312"/>
              <a:ext cx="2520980" cy="64633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dirty="0"/>
                <a:t>Filtering non-influential parameters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145F68-2FA1-AB82-38D8-4D8843B65A87}"/>
                </a:ext>
              </a:extLst>
            </p:cNvPr>
            <p:cNvSpPr txBox="1"/>
            <p:nvPr/>
          </p:nvSpPr>
          <p:spPr>
            <a:xfrm>
              <a:off x="6998732" y="1551318"/>
              <a:ext cx="2364058" cy="646331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IT" dirty="0"/>
                <a:t>Refining parameters or data?</a:t>
              </a:r>
            </a:p>
          </p:txBody>
        </p:sp>
        <p:sp>
          <p:nvSpPr>
            <p:cNvPr id="26" name="Freeform 34">
              <a:extLst>
                <a:ext uri="{FF2B5EF4-FFF2-40B4-BE49-F238E27FC236}">
                  <a16:creationId xmlns:a16="http://schemas.microsoft.com/office/drawing/2014/main" id="{4E4D0042-6CA5-9036-3F94-D84C31E3CDFC}"/>
                </a:ext>
              </a:extLst>
            </p:cNvPr>
            <p:cNvSpPr/>
            <p:nvPr/>
          </p:nvSpPr>
          <p:spPr>
            <a:xfrm rot="21395708" flipH="1">
              <a:off x="6245250" y="1884554"/>
              <a:ext cx="762086" cy="341631"/>
            </a:xfrm>
            <a:custGeom>
              <a:avLst/>
              <a:gdLst>
                <a:gd name="connsiteX0" fmla="*/ 0 w 650240"/>
                <a:gd name="connsiteY0" fmla="*/ 28522 h 404442"/>
                <a:gd name="connsiteX1" fmla="*/ 447040 w 650240"/>
                <a:gd name="connsiteY1" fmla="*/ 38682 h 404442"/>
                <a:gd name="connsiteX2" fmla="*/ 650240 w 650240"/>
                <a:gd name="connsiteY2" fmla="*/ 404442 h 404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0240" h="404442">
                  <a:moveTo>
                    <a:pt x="0" y="28522"/>
                  </a:moveTo>
                  <a:cubicBezTo>
                    <a:pt x="169333" y="2275"/>
                    <a:pt x="338667" y="-23971"/>
                    <a:pt x="447040" y="38682"/>
                  </a:cubicBezTo>
                  <a:cubicBezTo>
                    <a:pt x="555413" y="101335"/>
                    <a:pt x="602826" y="252888"/>
                    <a:pt x="650240" y="40444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  <p:sp>
          <p:nvSpPr>
            <p:cNvPr id="27" name="Freeform 34">
              <a:extLst>
                <a:ext uri="{FF2B5EF4-FFF2-40B4-BE49-F238E27FC236}">
                  <a16:creationId xmlns:a16="http://schemas.microsoft.com/office/drawing/2014/main" id="{E6694626-472C-AF2B-36BC-5D3F19ACF5C0}"/>
                </a:ext>
              </a:extLst>
            </p:cNvPr>
            <p:cNvSpPr/>
            <p:nvPr/>
          </p:nvSpPr>
          <p:spPr>
            <a:xfrm rot="11004292" flipH="1" flipV="1">
              <a:off x="9372262" y="1884553"/>
              <a:ext cx="762086" cy="341631"/>
            </a:xfrm>
            <a:custGeom>
              <a:avLst/>
              <a:gdLst>
                <a:gd name="connsiteX0" fmla="*/ 0 w 650240"/>
                <a:gd name="connsiteY0" fmla="*/ 28522 h 404442"/>
                <a:gd name="connsiteX1" fmla="*/ 447040 w 650240"/>
                <a:gd name="connsiteY1" fmla="*/ 38682 h 404442"/>
                <a:gd name="connsiteX2" fmla="*/ 650240 w 650240"/>
                <a:gd name="connsiteY2" fmla="*/ 404442 h 404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0240" h="404442">
                  <a:moveTo>
                    <a:pt x="0" y="28522"/>
                  </a:moveTo>
                  <a:cubicBezTo>
                    <a:pt x="169333" y="2275"/>
                    <a:pt x="338667" y="-23971"/>
                    <a:pt x="447040" y="38682"/>
                  </a:cubicBezTo>
                  <a:cubicBezTo>
                    <a:pt x="555413" y="101335"/>
                    <a:pt x="602826" y="252888"/>
                    <a:pt x="650240" y="404442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T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A453EB32-B567-E2CB-F60B-A1F019920DAB}"/>
              </a:ext>
            </a:extLst>
          </p:cNvPr>
          <p:cNvSpPr txBox="1"/>
          <p:nvPr/>
        </p:nvSpPr>
        <p:spPr>
          <a:xfrm>
            <a:off x="7250617" y="5846191"/>
            <a:ext cx="2113565" cy="646331"/>
          </a:xfrm>
          <a:prstGeom prst="rect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IT" dirty="0"/>
              <a:t>Subject-specific Digital Twin</a:t>
            </a:r>
          </a:p>
        </p:txBody>
      </p:sp>
      <p:sp>
        <p:nvSpPr>
          <p:cNvPr id="44" name="Freeform 34">
            <a:extLst>
              <a:ext uri="{FF2B5EF4-FFF2-40B4-BE49-F238E27FC236}">
                <a16:creationId xmlns:a16="http://schemas.microsoft.com/office/drawing/2014/main" id="{005E5AFC-9302-364C-6623-E973CBC5D169}"/>
              </a:ext>
            </a:extLst>
          </p:cNvPr>
          <p:cNvSpPr/>
          <p:nvPr/>
        </p:nvSpPr>
        <p:spPr>
          <a:xfrm rot="10800000" flipH="1">
            <a:off x="9375333" y="5799444"/>
            <a:ext cx="762086" cy="369912"/>
          </a:xfrm>
          <a:custGeom>
            <a:avLst/>
            <a:gdLst>
              <a:gd name="connsiteX0" fmla="*/ 0 w 650240"/>
              <a:gd name="connsiteY0" fmla="*/ 28522 h 404442"/>
              <a:gd name="connsiteX1" fmla="*/ 447040 w 650240"/>
              <a:gd name="connsiteY1" fmla="*/ 38682 h 404442"/>
              <a:gd name="connsiteX2" fmla="*/ 650240 w 650240"/>
              <a:gd name="connsiteY2" fmla="*/ 404442 h 404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50240" h="404442">
                <a:moveTo>
                  <a:pt x="0" y="28522"/>
                </a:moveTo>
                <a:cubicBezTo>
                  <a:pt x="169333" y="2275"/>
                  <a:pt x="338667" y="-23971"/>
                  <a:pt x="447040" y="38682"/>
                </a:cubicBezTo>
                <a:cubicBezTo>
                  <a:pt x="555413" y="101335"/>
                  <a:pt x="602826" y="252888"/>
                  <a:pt x="650240" y="404442"/>
                </a:cubicBezTo>
              </a:path>
            </a:pathLst>
          </a:custGeom>
          <a:noFill/>
          <a:ln w="38100">
            <a:solidFill>
              <a:schemeClr val="accent1"/>
            </a:solidFill>
            <a:prstDash val="solid"/>
            <a:headEnd type="triangl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/>
          </a:p>
        </p:txBody>
      </p:sp>
    </p:spTree>
    <p:extLst>
      <p:ext uri="{BB962C8B-B14F-4D97-AF65-F5344CB8AC3E}">
        <p14:creationId xmlns:p14="http://schemas.microsoft.com/office/powerpoint/2010/main" val="2565962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F77B0-3676-AC33-A587-5F9936B2E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200" b="1" dirty="0">
                <a:solidFill>
                  <a:srgbClr val="0070C0"/>
                </a:solidFill>
              </a:rPr>
              <a:t>Model Calibration</a:t>
            </a:r>
            <a:endParaRPr lang="en-NZ" sz="42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7DF58E-BFBC-7E2A-3DF0-4BD550A668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Let’s define a model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400" dirty="0"/>
                  <a:t> with inputs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US" sz="2400" dirty="0"/>
                  <a:t> and parameters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dirty="0"/>
                  <a:t>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Experimental measurements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are available, which relate to the model predictions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US" sz="2400" dirty="0"/>
                  <a:t>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𝐳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is the observation operator.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defines the post-processing of the model predictions to compare with the experimental data – It extracts features from the model outputs.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7DF58E-BFBC-7E2A-3DF0-4BD550A668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7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4985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C982EC-024A-F914-3849-14B28E341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22EBB-CFA3-89D0-9ED5-30875C452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200" b="1" dirty="0">
                <a:solidFill>
                  <a:srgbClr val="0070C0"/>
                </a:solidFill>
              </a:rPr>
              <a:t>Model Calibration</a:t>
            </a:r>
            <a:endParaRPr lang="en-NZ" sz="42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99FCC8-B755-79EB-DF0E-2390204E84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5779" y="990372"/>
                <a:ext cx="11429999" cy="5604252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Find the parameters </a:t>
                </a:r>
                <a14:m>
                  <m:oMath xmlns:m="http://schemas.openxmlformats.org/officeDocument/2006/math"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dirty="0"/>
                  <a:t> that for a given set of measurements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r>
                  <a:rPr lang="en-US" sz="2400" dirty="0"/>
                  <a:t> satisfy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arg</m:t>
                          </m:r>
                          <m: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l-G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lim>
                          </m:limLow>
                        </m:fName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ℱ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arg</m:t>
                      </m:r>
                      <m:r>
                        <a:rPr lang="en-US" sz="2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min</m:t>
                          </m:r>
                        </m:e>
                        <m:li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lim>
                      </m:limLow>
                      <m:r>
                        <a:rPr lang="el-GR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𝒟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𝐳</m:t>
                              </m:r>
                            </m:e>
                          </m:acc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𝐳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NZ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en-NZ" sz="2400" dirty="0"/>
                  <a:t> quantifies the disagreement between the model observations and the measurements.</a:t>
                </a:r>
              </a:p>
              <a:p>
                <a14:m>
                  <m:oMath xmlns:m="http://schemas.openxmlformats.org/officeDocument/2006/math">
                    <m:r>
                      <a:rPr lang="en-NZ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NZ" sz="2400" dirty="0"/>
                  <a:t> impose restrictions to the model parameters, such as priors or constraints. Key for ill-posed problems or incorporating priors.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: regularization weight.</a:t>
                </a:r>
                <a:endParaRPr lang="en-NZ" sz="240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NZ" sz="2400" dirty="0"/>
                  <a:t> is the set of admissible parameters for the model. Note that constraints such as algebraic relationships between parameters,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NZ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NZ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NZ" sz="2400" dirty="0"/>
                  <a:t>, can be modelled in the definition of this set (instead of as constraints in </a:t>
                </a:r>
                <a14:m>
                  <m:oMath xmlns:m="http://schemas.openxmlformats.org/officeDocument/2006/math">
                    <m:r>
                      <a:rPr lang="en-NZ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ℛ</m:t>
                    </m:r>
                  </m:oMath>
                </a14:m>
                <a:r>
                  <a:rPr lang="en-NZ" sz="2400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299FCC8-B755-79EB-DF0E-2390204E84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779" y="990372"/>
                <a:ext cx="11429999" cy="5604252"/>
              </a:xfrm>
              <a:blipFill>
                <a:blip r:embed="rId2"/>
                <a:stretch>
                  <a:fillRect l="-888" r="-222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06830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9207F-0030-E26A-8DE2-CA32A6EFB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C7AAF-6BCC-05B2-4A43-D25FB5828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200" b="1" dirty="0">
                <a:solidFill>
                  <a:srgbClr val="0070C0"/>
                </a:solidFill>
              </a:rPr>
              <a:t>Model Calibration</a:t>
            </a:r>
            <a:endParaRPr lang="en-NZ" sz="4200" b="1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5E97A1-5F86-48E8-A841-F34ED87E80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5779" y="990372"/>
                <a:ext cx="11429999" cy="5604252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NZ" sz="2400" dirty="0"/>
                  <a:t>Example of formulation for the data term </a:t>
                </a:r>
                <a14:m>
                  <m:oMath xmlns:m="http://schemas.openxmlformats.org/officeDocument/2006/math">
                    <m:r>
                      <a:rPr lang="en-NZ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</m:oMath>
                </a14:m>
                <a:endParaRPr lang="en-NZ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NZ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NZ" sz="2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𝒟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𝑊𝑀𝑆𝐸</m:t>
                          </m:r>
                        </m:sub>
                      </m:sSub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𝐳</m:t>
                              </m:r>
                            </m:e>
                          </m:ac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𝐳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Sup>
                                <m:sSubSup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NZ" sz="2400" dirty="0"/>
              </a:p>
              <a:p>
                <a:r>
                  <a:rPr lang="en-GB" sz="2400" dirty="0"/>
                  <a:t>standard deviations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NZ" sz="2400" dirty="0"/>
                  <a:t> to </a:t>
                </a:r>
                <a:r>
                  <a:rPr lang="en-GB" sz="2400" dirty="0"/>
                  <a:t>reduce bias towards observations with higher variability;</a:t>
                </a:r>
              </a:p>
              <a:p>
                <a:r>
                  <a:rPr lang="en-GB" sz="2400" dirty="0"/>
                  <a:t>empirical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2400" dirty="0"/>
                  <a:t> to bias calibration towards the most reliable measurements.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5E97A1-5F86-48E8-A841-F34ED87E80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5779" y="990372"/>
                <a:ext cx="11429999" cy="5604252"/>
              </a:xfrm>
              <a:blipFill>
                <a:blip r:embed="rId2"/>
                <a:stretch>
                  <a:fillRect l="-888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11269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69FB4-5A94-0891-BB76-BFF953D2B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493CB8-0CF5-9401-BC86-D2B55C25E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Sensitivity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ACF84C0-FACF-A454-CCF7-C63067CEFB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49" y="1019176"/>
                <a:ext cx="11429999" cy="5532095"/>
              </a:xfrm>
            </p:spPr>
            <p:txBody>
              <a:bodyPr anchor="ctr">
                <a:normAutofit/>
              </a:bodyPr>
              <a:lstStyle/>
              <a:p>
                <a:r>
                  <a:rPr lang="en-GB" sz="2200" dirty="0"/>
                  <a:t>Sensitivity analysis (SA) allows the identification of the parameter or set of parameters that have the greatest influence on the model output 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sz="2200" dirty="0"/>
                  <a:t> It provides useful insight into which model input contributes most to the variability of the model output.</a:t>
                </a:r>
              </a:p>
              <a:p>
                <a:r>
                  <a:rPr lang="en-GB" sz="2200" dirty="0"/>
                  <a:t>Two types of SA: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GB" sz="2200" b="1" dirty="0"/>
                  <a:t>Local</a:t>
                </a:r>
                <a:r>
                  <a:rPr lang="en-GB" sz="2200" dirty="0"/>
                  <a:t> SA (OAT = one at a time): evaluates changes in the model outputs with respect to variations in a single parameter (while holding other parameters constant)</a:t>
                </a:r>
              </a:p>
              <a:p>
                <a:pPr lvl="2">
                  <a:buFont typeface="Wingdings" pitchFamily="2" charset="2"/>
                  <a:buChar char="Ø"/>
                </a:pPr>
                <a:r>
                  <a:rPr lang="en-GB" dirty="0"/>
                  <a:t>Local sensitivity indices: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GB" dirty="0"/>
                  <a:t> .</a:t>
                </a:r>
              </a:p>
              <a:p>
                <a:pPr marL="457200" lvl="1" indent="0">
                  <a:buNone/>
                </a:pPr>
                <a:r>
                  <a:rPr lang="en-GB" sz="2200" dirty="0"/>
                  <a:t>Limitation: the interaction between parameters cannot be evaluated.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GB" sz="2200" b="1" dirty="0"/>
                  <a:t>Global</a:t>
                </a:r>
                <a:r>
                  <a:rPr lang="en-GB" sz="2200" dirty="0"/>
                  <a:t> SA.</a:t>
                </a:r>
                <a:endParaRPr lang="en-IT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ACF84C0-FACF-A454-CCF7-C63067CEFB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49" y="1019176"/>
                <a:ext cx="11429999" cy="5532095"/>
              </a:xfrm>
              <a:blipFill>
                <a:blip r:embed="rId2"/>
                <a:stretch>
                  <a:fillRect l="-666" r="-222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075523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8F9C4-2E15-BD52-1AA2-C99D0482B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2E6513-B6A7-7426-76EA-423FEF67C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Sensitivity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CC07B3F-AEB8-0D07-8A64-C1AFCC8E76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49" y="1019176"/>
                <a:ext cx="11429999" cy="5532095"/>
              </a:xfrm>
            </p:spPr>
            <p:txBody>
              <a:bodyPr anchor="ctr">
                <a:normAutofit/>
              </a:bodyPr>
              <a:lstStyle/>
              <a:p>
                <a:r>
                  <a:rPr lang="en-GB" sz="2200" dirty="0"/>
                  <a:t>Sensitivity analysis (SA) allows the identification of the parameter or set of parameters that have the greatest influence on the model output </a:t>
                </a:r>
                <a14:m>
                  <m:oMath xmlns:m="http://schemas.openxmlformats.org/officeDocument/2006/math">
                    <m:r>
                      <a:rPr lang="en-GB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sz="2200" dirty="0"/>
                  <a:t> It provides useful insight into which model input contributes most to the variability of the model output.</a:t>
                </a:r>
              </a:p>
              <a:p>
                <a:r>
                  <a:rPr lang="en-GB" sz="2200" dirty="0"/>
                  <a:t>Two types of SA:</a:t>
                </a:r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GB" sz="2200" b="1" dirty="0"/>
                  <a:t>Local</a:t>
                </a:r>
                <a:r>
                  <a:rPr lang="en-GB" sz="2200" dirty="0"/>
                  <a:t> SA.</a:t>
                </a:r>
                <a:endParaRPr lang="en-GB" dirty="0"/>
              </a:p>
              <a:p>
                <a:pPr lvl="1">
                  <a:buFont typeface="Courier New" panose="02070309020205020404" pitchFamily="49" charset="0"/>
                  <a:buChar char="o"/>
                </a:pPr>
                <a:r>
                  <a:rPr lang="en-GB" sz="2200" b="1" dirty="0"/>
                  <a:t>Global</a:t>
                </a:r>
                <a:r>
                  <a:rPr lang="en-GB" sz="2200" dirty="0"/>
                  <a:t> SA: all parameters are varied simultaneously over the entire parameter space, for the simultaneous evaluation of (</a:t>
                </a:r>
                <a:r>
                  <a:rPr lang="en-GB" sz="2200" dirty="0" err="1"/>
                  <a:t>i</a:t>
                </a:r>
                <a:r>
                  <a:rPr lang="en-GB" sz="2200" dirty="0"/>
                  <a:t>) the relative contributions of each individual parameter, as well as (ii) the interactions between parameters to the model output variance</a:t>
                </a:r>
              </a:p>
              <a:p>
                <a:pPr lvl="2">
                  <a:buFont typeface="Wingdings" pitchFamily="2" charset="2"/>
                  <a:buChar char="Ø"/>
                </a:pPr>
                <a:r>
                  <a:rPr lang="en-GB" dirty="0"/>
                  <a:t>Sobol Indices</a:t>
                </a:r>
              </a:p>
              <a:p>
                <a:pPr lvl="3"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/>
                  <a:t> : first‐order contribution from the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 input parameter to the output variance,</a:t>
                </a:r>
              </a:p>
              <a:p>
                <a:pPr lvl="3"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IT" dirty="0"/>
                  <a:t> : </a:t>
                </a:r>
                <a:r>
                  <a:rPr lang="en-GB" dirty="0"/>
                  <a:t> second‐order contribution from the interaction between the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 and 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GB" dirty="0"/>
                  <a:t>-</a:t>
                </a:r>
                <a:r>
                  <a:rPr lang="en-GB" dirty="0" err="1"/>
                  <a:t>th</a:t>
                </a:r>
                <a:r>
                  <a:rPr lang="en-GB" dirty="0"/>
                  <a:t> parameters,</a:t>
                </a:r>
              </a:p>
              <a:p>
                <a:pPr lvl="3">
                  <a:buFont typeface="Wingdings" pitchFamily="2" charset="2"/>
                  <a:buChar char="§"/>
                </a:pPr>
                <a:r>
                  <a:rPr lang="en-GB" dirty="0"/>
                  <a:t>…</a:t>
                </a:r>
              </a:p>
              <a:p>
                <a:pPr lvl="3"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𝑇𝑖</m:t>
                        </m:r>
                      </m:sub>
                    </m:sSub>
                  </m:oMath>
                </a14:m>
                <a:r>
                  <a:rPr lang="en-IT" dirty="0"/>
                  <a:t> : </a:t>
                </a:r>
                <a:r>
                  <a:rPr lang="en-GB" dirty="0"/>
                  <a:t> total‐order sensitivity indices (overall effects of one parameter on the model output).</a:t>
                </a:r>
                <a:endParaRPr lang="en-IT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7CC07B3F-AEB8-0D07-8A64-C1AFCC8E76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49" y="1019176"/>
                <a:ext cx="11429999" cy="5532095"/>
              </a:xfrm>
              <a:blipFill>
                <a:blip r:embed="rId2"/>
                <a:stretch>
                  <a:fillRect l="-666" r="-55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1600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5FF68-6F38-7C2C-0C30-89B912F0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3057E58-C047-D767-D8D5-73F332A3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(Local) Identifiability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1E78663-1847-166C-ED22-7C17E2034D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49" y="919472"/>
                <a:ext cx="11429999" cy="5407815"/>
              </a:xfrm>
            </p:spPr>
            <p:txBody>
              <a:bodyPr anchor="ctr">
                <a:normAutofit/>
              </a:bodyPr>
              <a:lstStyle/>
              <a:p>
                <a:pPr marL="0" indent="0">
                  <a:buNone/>
                </a:pPr>
                <a:r>
                  <a:rPr lang="en-NZ" sz="2200" dirty="0"/>
                  <a:t>Calibration yields a set of parameters </a:t>
                </a:r>
                <a14:m>
                  <m:oMath xmlns:m="http://schemas.openxmlformats.org/officeDocument/2006/math">
                    <m:r>
                      <a:rPr lang="en-GB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NZ" sz="2200" dirty="0"/>
                  <a:t> that optimise the agreement with the observations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r>
                  <a:rPr lang="en-GB" sz="2200" dirty="0"/>
                  <a:t> </a:t>
                </a:r>
                <a:r>
                  <a:rPr lang="en-NZ" sz="2200" dirty="0"/>
                  <a:t>and other constraints.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NZ" sz="22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NZ" sz="2200" dirty="0">
                    <a:solidFill>
                      <a:srgbClr val="FF0000"/>
                    </a:solidFill>
                  </a:rPr>
                  <a:t> Are these the “</a:t>
                </a:r>
                <a:r>
                  <a:rPr lang="en-NZ" sz="2200" b="1" dirty="0">
                    <a:solidFill>
                      <a:srgbClr val="FF0000"/>
                    </a:solidFill>
                  </a:rPr>
                  <a:t>unique” parameters </a:t>
                </a:r>
                <a:r>
                  <a:rPr lang="en-NZ" sz="2200" dirty="0">
                    <a:solidFill>
                      <a:srgbClr val="FF0000"/>
                    </a:solidFill>
                  </a:rPr>
                  <a:t>that optimise/calibrate our model?</a:t>
                </a:r>
              </a:p>
              <a:p>
                <a:pPr marL="0" indent="0">
                  <a:buNone/>
                </a:pPr>
                <a:endParaRPr lang="en-NZ" sz="2200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NZ" sz="2200" dirty="0"/>
                  <a:t>For a given model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NZ" sz="2200" dirty="0"/>
                  <a:t> and experimental measurements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r>
                  <a:rPr lang="en-NZ" sz="2200" dirty="0"/>
                  <a:t> with a given uncertainty (or noise), we analyse the reliability of the obtained optimal parameters </a:t>
                </a:r>
                <a14:m>
                  <m:oMath xmlns:m="http://schemas.openxmlformats.org/officeDocument/2006/math">
                    <m:r>
                      <a:rPr lang="en-GB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NZ" sz="2200" dirty="0"/>
                  <a:t>.</a:t>
                </a:r>
              </a:p>
              <a:p>
                <a:pPr marL="0" indent="0">
                  <a:buNone/>
                </a:pPr>
                <a:r>
                  <a:rPr lang="en-NZ" sz="2200" dirty="0"/>
                  <a:t>Two main identifiability analyses:</a:t>
                </a:r>
              </a:p>
              <a:p>
                <a:r>
                  <a:rPr lang="en-NZ" sz="2200" b="1" dirty="0"/>
                  <a:t>Structural identifiability;</a:t>
                </a:r>
                <a:endParaRPr lang="en-NZ" sz="2200" dirty="0"/>
              </a:p>
              <a:p>
                <a:r>
                  <a:rPr lang="en-NZ" sz="2200" b="1" dirty="0"/>
                  <a:t>Practical identifiability.</a:t>
                </a:r>
                <a:endParaRPr lang="en-NZ" sz="22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81E78663-1847-166C-ED22-7C17E2034D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49" y="919472"/>
                <a:ext cx="11429999" cy="5407815"/>
              </a:xfrm>
              <a:blipFill>
                <a:blip r:embed="rId3"/>
                <a:stretch>
                  <a:fillRect l="-666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070951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05794-C60C-F7C1-2DA5-E96430CE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diagram of a model&#10;&#10;AI-generated content may be incorrect.">
            <a:extLst>
              <a:ext uri="{FF2B5EF4-FFF2-40B4-BE49-F238E27FC236}">
                <a16:creationId xmlns:a16="http://schemas.microsoft.com/office/drawing/2014/main" id="{019EF1A0-C1CF-BDE7-0B28-4068A3711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415" y="3159938"/>
            <a:ext cx="6760630" cy="324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DC7EEF7-9819-9ED3-C748-CDB91633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(Local) Identifiability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8B089F9-DDFA-98A1-9796-57E5996169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49" y="919472"/>
                <a:ext cx="11429999" cy="5407815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NZ" sz="2200" dirty="0"/>
                  <a:t>Two main identifiability analyses:</a:t>
                </a:r>
              </a:p>
              <a:p>
                <a:r>
                  <a:rPr lang="en-NZ" sz="2200" b="1" dirty="0"/>
                  <a:t>Structural identifiability</a:t>
                </a:r>
                <a:r>
                  <a:rPr lang="en-NZ" sz="2200" dirty="0"/>
                  <a:t>: analysis of the </a:t>
                </a:r>
                <a:r>
                  <a:rPr lang="en-NZ" sz="2200" b="1" dirty="0"/>
                  <a:t>structure of the model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NZ" sz="2200" dirty="0"/>
                  <a:t>, assuming infinite, continuous and noise free measurements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r>
                  <a:rPr lang="en-NZ" sz="2200" dirty="0"/>
                  <a:t>.</a:t>
                </a:r>
              </a:p>
              <a:p>
                <a:r>
                  <a:rPr lang="en-NZ" sz="2200" b="1" dirty="0"/>
                  <a:t>Practical identifiability</a:t>
                </a:r>
                <a:r>
                  <a:rPr lang="en-NZ" sz="2200" dirty="0"/>
                  <a:t>: analysis of the impact of the </a:t>
                </a:r>
                <a:r>
                  <a:rPr lang="en-NZ" sz="2200" b="1" dirty="0"/>
                  <a:t>practical constraints related to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2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200" b="1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r>
                  <a:rPr lang="en-NZ" sz="2200" dirty="0"/>
                  <a:t> (noise/uncertainty) and their impact on the uncertainty of the estimated </a:t>
                </a:r>
                <a14:m>
                  <m:oMath xmlns:m="http://schemas.openxmlformats.org/officeDocument/2006/math">
                    <m:r>
                      <a:rPr lang="en-GB" sz="2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endParaRPr lang="en-NZ" sz="2200" dirty="0"/>
              </a:p>
              <a:p>
                <a:pPr lvl="1"/>
                <a:r>
                  <a:rPr lang="en-NZ" sz="2200" dirty="0"/>
                  <a:t>Bayesian approaches (MCMC);</a:t>
                </a:r>
              </a:p>
              <a:p>
                <a:pPr lvl="1"/>
                <a:r>
                  <a:rPr lang="en-NZ" sz="2200" dirty="0"/>
                  <a:t>Profile likelihood.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8B089F9-DDFA-98A1-9796-57E5996169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49" y="919472"/>
                <a:ext cx="11429999" cy="5407815"/>
              </a:xfrm>
              <a:blipFill>
                <a:blip r:embed="rId4"/>
                <a:stretch>
                  <a:fillRect l="-666" t="-140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24">
            <a:extLst>
              <a:ext uri="{FF2B5EF4-FFF2-40B4-BE49-F238E27FC236}">
                <a16:creationId xmlns:a16="http://schemas.microsoft.com/office/drawing/2014/main" id="{39B479D2-4AD9-E6F3-8A0D-C6B604C16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42908" y="6492875"/>
            <a:ext cx="4830184" cy="365125"/>
          </a:xfrm>
        </p:spPr>
        <p:txBody>
          <a:bodyPr/>
          <a:lstStyle/>
          <a:p>
            <a:r>
              <a:rPr lang="en-GB" dirty="0"/>
              <a:t>Picture taken from Wieland et al. (2021), </a:t>
            </a:r>
            <a:r>
              <a:rPr lang="en-GB" dirty="0" err="1"/>
              <a:t>doi</a:t>
            </a:r>
            <a:r>
              <a:rPr lang="en-GB" dirty="0"/>
              <a:t>: </a:t>
            </a:r>
            <a:r>
              <a:rPr lang="en-GB" dirty="0">
                <a:hlinkClick r:id="rId5" tooltip="Persistent link using digital object identifier"/>
              </a:rPr>
              <a:t>10.1016/j.coisb.2021.03.005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08986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B2AC6-A560-EFB0-1357-BC2FE0B77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diagram of a model&#10;&#10;AI-generated content may be incorrect.">
            <a:extLst>
              <a:ext uri="{FF2B5EF4-FFF2-40B4-BE49-F238E27FC236}">
                <a16:creationId xmlns:a16="http://schemas.microsoft.com/office/drawing/2014/main" id="{020C8F09-466D-CA19-A679-BB8A54B3C8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942" y="1757507"/>
            <a:ext cx="9014173" cy="43200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0446A73B-56BF-AB5B-974B-FBE0C8BDA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>
                <a:solidFill>
                  <a:srgbClr val="0070C0"/>
                </a:solidFill>
              </a:rPr>
              <a:t>(Local) Identifiability Analysis</a:t>
            </a:r>
            <a:endParaRPr lang="en-GB" sz="4200" b="1" dirty="0">
              <a:solidFill>
                <a:srgbClr val="0070C0"/>
              </a:solidFill>
            </a:endParaRPr>
          </a:p>
        </p:txBody>
      </p:sp>
      <p:sp>
        <p:nvSpPr>
          <p:cNvPr id="3" name="Footer Placeholder 24">
            <a:extLst>
              <a:ext uri="{FF2B5EF4-FFF2-40B4-BE49-F238E27FC236}">
                <a16:creationId xmlns:a16="http://schemas.microsoft.com/office/drawing/2014/main" id="{F531CE1D-90A0-3EB4-D258-3FBF9D20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09129" y="6492875"/>
            <a:ext cx="4948518" cy="365125"/>
          </a:xfrm>
        </p:spPr>
        <p:txBody>
          <a:bodyPr/>
          <a:lstStyle/>
          <a:p>
            <a:r>
              <a:rPr lang="en-GB" dirty="0"/>
              <a:t>Picture taken from Wieland et al. (2021), </a:t>
            </a:r>
            <a:r>
              <a:rPr lang="en-GB" dirty="0" err="1"/>
              <a:t>doi</a:t>
            </a:r>
            <a:r>
              <a:rPr lang="en-GB" dirty="0"/>
              <a:t>: </a:t>
            </a:r>
            <a:r>
              <a:rPr lang="en-GB" dirty="0">
                <a:hlinkClick r:id="rId4" tooltip="Persistent link using digital object identifier"/>
              </a:rPr>
              <a:t>10.1016/j.coisb.2021.03.005</a:t>
            </a:r>
            <a:endParaRPr lang="en-GB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199341-2BA6-0836-BDDA-D443E66DFD9D}"/>
              </a:ext>
            </a:extLst>
          </p:cNvPr>
          <p:cNvSpPr/>
          <p:nvPr/>
        </p:nvSpPr>
        <p:spPr>
          <a:xfrm>
            <a:off x="3690265" y="1240539"/>
            <a:ext cx="5087976" cy="116721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T" sz="2200" dirty="0">
                <a:solidFill>
                  <a:schemeClr val="tx1"/>
                </a:solidFill>
              </a:rPr>
              <a:t>Decrease in complexity to </a:t>
            </a:r>
            <a:r>
              <a:rPr lang="en-IT" sz="2200" b="1" dirty="0">
                <a:solidFill>
                  <a:schemeClr val="tx1"/>
                </a:solidFill>
              </a:rPr>
              <a:t>ensure models can be calibrated</a:t>
            </a:r>
            <a:r>
              <a:rPr lang="en-IT" sz="2200" dirty="0">
                <a:solidFill>
                  <a:schemeClr val="tx1"/>
                </a:solidFill>
              </a:rPr>
              <a:t> to clinically available, subject-specific data.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496147-78A6-1546-DBD4-AF13981074B4}"/>
              </a:ext>
            </a:extLst>
          </p:cNvPr>
          <p:cNvSpPr/>
          <p:nvPr/>
        </p:nvSpPr>
        <p:spPr>
          <a:xfrm>
            <a:off x="6293225" y="3075333"/>
            <a:ext cx="2259104" cy="3385267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220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61CEB21-4EE4-292C-FB4F-212A7656C1B4}"/>
              </a:ext>
            </a:extLst>
          </p:cNvPr>
          <p:cNvSpPr/>
          <p:nvPr/>
        </p:nvSpPr>
        <p:spPr>
          <a:xfrm>
            <a:off x="6180466" y="2440031"/>
            <a:ext cx="541185" cy="1021244"/>
          </a:xfrm>
          <a:custGeom>
            <a:avLst/>
            <a:gdLst>
              <a:gd name="csX0" fmla="*/ 719360 w 719360"/>
              <a:gd name="csY0" fmla="*/ 806823 h 820018"/>
              <a:gd name="csX1" fmla="*/ 63144 w 719360"/>
              <a:gd name="csY1" fmla="*/ 710005 h 820018"/>
              <a:gd name="csX2" fmla="*/ 63144 w 719360"/>
              <a:gd name="csY2" fmla="*/ 0 h 82001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19360" h="820018">
                <a:moveTo>
                  <a:pt x="719360" y="806823"/>
                </a:moveTo>
                <a:cubicBezTo>
                  <a:pt x="445936" y="825649"/>
                  <a:pt x="172513" y="844476"/>
                  <a:pt x="63144" y="710005"/>
                </a:cubicBezTo>
                <a:cubicBezTo>
                  <a:pt x="-46225" y="575534"/>
                  <a:pt x="8459" y="287767"/>
                  <a:pt x="63144" y="0"/>
                </a:cubicBezTo>
              </a:path>
            </a:pathLst>
          </a:custGeom>
          <a:noFill/>
          <a:ln w="3810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T" sz="2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28170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CBEEE-5A4C-2510-B33E-5AFCA184C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A41EA1-CFE6-9636-DAAE-F8121F8C6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Model Calibration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479FEEB-2F94-3167-F7BD-E7AADFE6CE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49" y="1256813"/>
                <a:ext cx="11429999" cy="51218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And now we can calibrate!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In our case: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400" dirty="0"/>
                  <a:t> :</a:t>
                </a:r>
              </a:p>
              <a:p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GB" sz="2400" dirty="0"/>
                  <a:t> :</a:t>
                </a:r>
              </a:p>
              <a:p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sz="2400" dirty="0"/>
                  <a:t> : </a:t>
                </a:r>
              </a:p>
              <a:p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GB" sz="2400" dirty="0"/>
                  <a:t> : </a:t>
                </a:r>
              </a:p>
              <a:p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𝐳</m:t>
                    </m:r>
                  </m:oMath>
                </a14:m>
                <a:r>
                  <a:rPr lang="en-GB" sz="2400" dirty="0"/>
                  <a:t> :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r>
                  <a:rPr lang="en-GB" sz="2400" dirty="0"/>
                  <a:t> :</a:t>
                </a:r>
              </a:p>
              <a:p>
                <a:endParaRPr lang="en-IT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479FEEB-2F94-3167-F7BD-E7AADFE6CE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49" y="1256813"/>
                <a:ext cx="11429999" cy="5121833"/>
              </a:xfrm>
              <a:blipFill>
                <a:blip r:embed="rId2"/>
                <a:stretch>
                  <a:fillRect l="-777" t="-123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diagram of a human body&#10;&#10;AI-generated content may be incorrect.">
            <a:extLst>
              <a:ext uri="{FF2B5EF4-FFF2-40B4-BE49-F238E27FC236}">
                <a16:creationId xmlns:a16="http://schemas.microsoft.com/office/drawing/2014/main" id="{B6E42473-A126-2E5B-8B41-822FA27FD4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640" y="1256813"/>
            <a:ext cx="392307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695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DF8A5-36D9-03D1-D8F6-B05BE4F1A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2115B1-B3CF-C0EE-CC06-15E5B73C2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GB" sz="4200" b="1" dirty="0">
                <a:solidFill>
                  <a:srgbClr val="0070C0"/>
                </a:solidFill>
              </a:rPr>
              <a:t>Model Calibration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CB86ACC-268E-DA06-F175-29C88938DE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49" y="1256813"/>
                <a:ext cx="11429999" cy="5121833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And now we can calibrate!</a:t>
                </a:r>
              </a:p>
              <a:p>
                <a:pPr marL="0" indent="0">
                  <a:buNone/>
                </a:pPr>
                <a:endParaRPr lang="en-GB" sz="2400" dirty="0"/>
              </a:p>
              <a:p>
                <a:pPr marL="0" indent="0">
                  <a:buNone/>
                </a:pPr>
                <a:r>
                  <a:rPr lang="en-GB" sz="2400" dirty="0"/>
                  <a:t>In our case: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GB" sz="2400" dirty="0"/>
                  <a:t> : CVS model;</a:t>
                </a:r>
              </a:p>
              <a:p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</m:oMath>
                </a14:m>
                <a:r>
                  <a:rPr lang="en-GB" sz="2400" dirty="0"/>
                  <a:t> : pressure, volume, flow rate in each model compartment at the current time step;</a:t>
                </a:r>
              </a:p>
              <a:p>
                <a14:m>
                  <m:oMath xmlns:m="http://schemas.openxmlformats.org/officeDocument/2006/math">
                    <m:r>
                      <a:rPr lang="en-GB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GB" sz="2400" dirty="0"/>
                  <a:t> : elastic modulus of arterial walls, capacitance of venous compartments, resistance of arterial compartment, elastances of heart ventricles, total stressed blood volume, etc.;</a:t>
                </a:r>
              </a:p>
              <a:p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en-GB" sz="2400" dirty="0"/>
                  <a:t> : pressure, volume, flow rate in each model compartment at the next time step, i.e., </a:t>
                </a:r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𝐲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;</a:t>
                </a:r>
              </a:p>
              <a:p>
                <a14:m>
                  <m:oMath xmlns:m="http://schemas.openxmlformats.org/officeDocument/2006/math"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𝐳</m:t>
                    </m:r>
                  </m:oMath>
                </a14:m>
                <a:r>
                  <a:rPr lang="en-GB" sz="2400" dirty="0"/>
                  <a:t> : systolic and diastolic pressure in the brachial artery, mean and max flow in the aortic root, predicted by the model;</a:t>
                </a:r>
              </a:p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sz="24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𝐳</m:t>
                        </m:r>
                      </m:e>
                    </m:acc>
                  </m:oMath>
                </a14:m>
                <a:r>
                  <a:rPr lang="en-GB" sz="2400" dirty="0"/>
                  <a:t> : systolic and diastolic cuff pressure at the brachial artery level, and aortic root mean and max flow measured with Doppler ultrasound.</a:t>
                </a:r>
              </a:p>
              <a:p>
                <a:endParaRPr lang="en-GB" sz="2400" b="1" dirty="0"/>
              </a:p>
              <a:p>
                <a:endParaRPr lang="en-GB" sz="2400" dirty="0"/>
              </a:p>
              <a:p>
                <a:endParaRPr lang="en-IT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CB86ACC-268E-DA06-F175-29C88938DE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49" y="1256813"/>
                <a:ext cx="11429999" cy="5121833"/>
              </a:xfrm>
              <a:blipFill>
                <a:blip r:embed="rId2"/>
                <a:stretch>
                  <a:fillRect l="-777" t="-1975"/>
                </a:stretch>
              </a:blipFill>
            </p:spPr>
            <p:txBody>
              <a:bodyPr/>
              <a:lstStyle/>
              <a:p>
                <a:r>
                  <a:rPr lang="en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diagram of a human body&#10;&#10;AI-generated content may be incorrect.">
            <a:extLst>
              <a:ext uri="{FF2B5EF4-FFF2-40B4-BE49-F238E27FC236}">
                <a16:creationId xmlns:a16="http://schemas.microsoft.com/office/drawing/2014/main" id="{3806D181-2590-0587-6053-EF71AA7CDB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0546" y="0"/>
            <a:ext cx="2241758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0089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337C2F-F4B9-764C-45E5-86A1306E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176" y="5338644"/>
            <a:ext cx="12202176" cy="1519355"/>
            <a:chOff x="-10176" y="5338644"/>
            <a:chExt cx="12202176" cy="15193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E1E11FF-4A87-A65F-DAEC-E20057A3F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5331238" y="-2767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719AAC3-64F6-CEDF-0B56-5C0C6BD3C6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8906919" y="3566802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A0DE637-E8FB-63A7-A5E2-E28DBE1A4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V="1">
              <a:off x="3921534" y="1406934"/>
              <a:ext cx="1519355" cy="9382775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Titel 1">
            <a:extLst>
              <a:ext uri="{FF2B5EF4-FFF2-40B4-BE49-F238E27FC236}">
                <a16:creationId xmlns:a16="http://schemas.microsoft.com/office/drawing/2014/main" id="{1EDF96A2-D86F-5D79-90BD-A5C92968BB1E}"/>
              </a:ext>
            </a:extLst>
          </p:cNvPr>
          <p:cNvSpPr>
            <a:spLocks noGrp="1"/>
          </p:cNvSpPr>
          <p:nvPr>
            <p:ph type="ctrTitle" sz="quarter"/>
          </p:nvPr>
        </p:nvSpPr>
        <p:spPr>
          <a:xfrm>
            <a:off x="1295398" y="1473718"/>
            <a:ext cx="8077201" cy="845768"/>
          </a:xfrm>
        </p:spPr>
        <p:txBody>
          <a:bodyPr>
            <a:normAutofit fontScale="90000"/>
          </a:bodyPr>
          <a:lstStyle/>
          <a:p>
            <a:br>
              <a:rPr lang="en-GB" b="1" noProof="0" dirty="0"/>
            </a:br>
            <a:r>
              <a:rPr lang="en-GB" b="1" i="1" noProof="0" dirty="0"/>
              <a:t>Thank you!</a:t>
            </a:r>
            <a:endParaRPr lang="en-GB" b="1" noProof="0" dirty="0"/>
          </a:p>
        </p:txBody>
      </p:sp>
      <p:sp>
        <p:nvSpPr>
          <p:cNvPr id="9" name="Untertitel 3">
            <a:extLst>
              <a:ext uri="{FF2B5EF4-FFF2-40B4-BE49-F238E27FC236}">
                <a16:creationId xmlns:a16="http://schemas.microsoft.com/office/drawing/2014/main" id="{441B1AE5-2051-383D-79BF-F348C6DC633A}"/>
              </a:ext>
            </a:extLst>
          </p:cNvPr>
          <p:cNvSpPr txBox="1">
            <a:spLocks/>
          </p:cNvSpPr>
          <p:nvPr/>
        </p:nvSpPr>
        <p:spPr>
          <a:xfrm>
            <a:off x="1077785" y="3429000"/>
            <a:ext cx="8074025" cy="6007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/>
          </a:p>
        </p:txBody>
      </p:sp>
      <p:pic>
        <p:nvPicPr>
          <p:cNvPr id="5" name="Picture 4" descr="A blue logo with a black background&#10;&#10;Description automatically generated">
            <a:extLst>
              <a:ext uri="{FF2B5EF4-FFF2-40B4-BE49-F238E27FC236}">
                <a16:creationId xmlns:a16="http://schemas.microsoft.com/office/drawing/2014/main" id="{A43AFB3B-8436-467E-696A-C6B5044EB5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543" y="262992"/>
            <a:ext cx="2479376" cy="247937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28D6D216-492B-19A0-61D5-C3C40BADE3C5}"/>
              </a:ext>
            </a:extLst>
          </p:cNvPr>
          <p:cNvSpPr txBox="1">
            <a:spLocks/>
          </p:cNvSpPr>
          <p:nvPr/>
        </p:nvSpPr>
        <p:spPr>
          <a:xfrm>
            <a:off x="1077785" y="2669324"/>
            <a:ext cx="9554772" cy="15193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5400" b="1" dirty="0"/>
              <a:t>Time for Q&amp;As! </a:t>
            </a:r>
          </a:p>
          <a:p>
            <a:r>
              <a:rPr lang="en-GB" sz="5400" b="1" dirty="0"/>
              <a:t>And our tutorial!</a:t>
            </a:r>
          </a:p>
        </p:txBody>
      </p:sp>
    </p:spTree>
    <p:extLst>
      <p:ext uri="{BB962C8B-B14F-4D97-AF65-F5344CB8AC3E}">
        <p14:creationId xmlns:p14="http://schemas.microsoft.com/office/powerpoint/2010/main" val="34096424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83838447-0935-8A59-EA40-11A007217D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>
            <a:extLst>
              <a:ext uri="{FF2B5EF4-FFF2-40B4-BE49-F238E27FC236}">
                <a16:creationId xmlns:a16="http://schemas.microsoft.com/office/drawing/2014/main" id="{F2F2A534-BED2-6A8F-CCBF-68635FF078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2864" y="104000"/>
            <a:ext cx="1166529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400"/>
            </a:pPr>
            <a:r>
              <a:rPr lang="en-NZ" sz="4200" b="1" dirty="0">
                <a:solidFill>
                  <a:srgbClr val="0070C0"/>
                </a:solidFill>
              </a:rPr>
              <a:t>Some useful references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62B2FC-1101-4FD0-3B99-BD638BD2DCA3}"/>
              </a:ext>
            </a:extLst>
          </p:cNvPr>
          <p:cNvSpPr txBox="1"/>
          <p:nvPr/>
        </p:nvSpPr>
        <p:spPr>
          <a:xfrm>
            <a:off x="620156" y="1166137"/>
            <a:ext cx="1095283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L. </a:t>
            </a:r>
            <a:r>
              <a:rPr lang="en-US" dirty="0" err="1">
                <a:ea typeface="+mn-lt"/>
                <a:cs typeface="+mn-lt"/>
              </a:rPr>
              <a:t>Formaggia</a:t>
            </a:r>
            <a:r>
              <a:rPr lang="en-US" dirty="0">
                <a:ea typeface="+mn-lt"/>
                <a:cs typeface="+mn-lt"/>
              </a:rPr>
              <a:t>, A. </a:t>
            </a:r>
            <a:r>
              <a:rPr lang="en-US" dirty="0" err="1">
                <a:ea typeface="+mn-lt"/>
                <a:cs typeface="+mn-lt"/>
              </a:rPr>
              <a:t>Quarteroni</a:t>
            </a:r>
            <a:r>
              <a:rPr lang="en-US" dirty="0">
                <a:ea typeface="+mn-lt"/>
                <a:cs typeface="+mn-lt"/>
              </a:rPr>
              <a:t>, and A. </a:t>
            </a:r>
            <a:r>
              <a:rPr lang="en-US" dirty="0" err="1">
                <a:ea typeface="+mn-lt"/>
                <a:cs typeface="+mn-lt"/>
              </a:rPr>
              <a:t>Veneziani</a:t>
            </a:r>
            <a:r>
              <a:rPr lang="en-US" dirty="0">
                <a:ea typeface="+mn-lt"/>
                <a:cs typeface="+mn-lt"/>
              </a:rPr>
              <a:t>, Eds. “Cardiovascular Mathematics: Modeling and Simulation of the Circulatory System.” Vol. 1. MS&amp;A: Modeling, Simulation &amp; Applications. Milano: Springer, 2009. </a:t>
            </a:r>
            <a:r>
              <a:rPr lang="en-GB" dirty="0">
                <a:ea typeface="+mn-lt"/>
                <a:cs typeface="+mn-lt"/>
                <a:hlinkClick r:id="rId3"/>
              </a:rPr>
              <a:t>https://doi.org/10.1007/978-88-470-1152-6</a:t>
            </a:r>
            <a:r>
              <a:rPr lang="en-GB" dirty="0">
                <a:ea typeface="+mn-lt"/>
                <a:cs typeface="+mn-lt"/>
              </a:rPr>
              <a:t>.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P. J. Blanco, and L. O. Müller. “One‐Dimensional Blood Flow Modeling in the Cardiovascular System. From the Conventional Physiological Setting to Real‐Life Hemodynamics.” </a:t>
            </a:r>
            <a:r>
              <a:rPr lang="en-US" i="1" dirty="0">
                <a:ea typeface="+mn-lt"/>
                <a:cs typeface="+mn-lt"/>
              </a:rPr>
              <a:t>Int J </a:t>
            </a:r>
            <a:r>
              <a:rPr lang="en-US" i="1" dirty="0" err="1">
                <a:ea typeface="+mn-lt"/>
                <a:cs typeface="+mn-lt"/>
              </a:rPr>
              <a:t>Numer</a:t>
            </a:r>
            <a:r>
              <a:rPr lang="en-US" i="1" dirty="0">
                <a:ea typeface="+mn-lt"/>
                <a:cs typeface="+mn-lt"/>
              </a:rPr>
              <a:t> Meth Biomed </a:t>
            </a:r>
            <a:r>
              <a:rPr lang="en-US" i="1" dirty="0" err="1">
                <a:ea typeface="+mn-lt"/>
                <a:cs typeface="+mn-lt"/>
              </a:rPr>
              <a:t>Engng</a:t>
            </a:r>
            <a:r>
              <a:rPr lang="en-US" i="1" dirty="0">
                <a:ea typeface="+mn-lt"/>
                <a:cs typeface="+mn-lt"/>
              </a:rPr>
              <a:t>,</a:t>
            </a:r>
            <a:r>
              <a:rPr lang="en-US" dirty="0">
                <a:ea typeface="+mn-lt"/>
                <a:cs typeface="+mn-lt"/>
              </a:rPr>
              <a:t> 41:e70020, 2025. </a:t>
            </a:r>
            <a:r>
              <a:rPr lang="en-US" dirty="0">
                <a:ea typeface="+mn-lt"/>
                <a:cs typeface="+mn-lt"/>
                <a:hlinkClick r:id="rId4"/>
              </a:rPr>
              <a:t>https://doi.org/10.1002/cnm.70020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B. Ghitti. “Numerical methods for computationally efficient and accurate blood flow simulations in complex vascular networks: Application to cerebral blood flow.” PhD Thesis. University of Trento, 2023.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B. </a:t>
            </a:r>
            <a:r>
              <a:rPr lang="en-US" dirty="0" err="1">
                <a:ea typeface="+mn-lt"/>
                <a:cs typeface="+mn-lt"/>
              </a:rPr>
              <a:t>Ghitti</a:t>
            </a:r>
            <a:r>
              <a:rPr lang="en-US" dirty="0">
                <a:ea typeface="+mn-lt"/>
                <a:cs typeface="+mn-lt"/>
              </a:rPr>
              <a:t>, E. F. Toro, and L. O. Müller. “Nonlinear lumped-parameter models for blood flow simulations in networks of vessels.” </a:t>
            </a:r>
            <a:r>
              <a:rPr lang="en-US" i="1" dirty="0">
                <a:ea typeface="+mn-lt"/>
                <a:cs typeface="+mn-lt"/>
              </a:rPr>
              <a:t>ESAIM: Mathematical Modelling and Numerical Analysis,</a:t>
            </a:r>
            <a:r>
              <a:rPr lang="en-US" dirty="0">
                <a:ea typeface="+mn-lt"/>
                <a:cs typeface="+mn-lt"/>
              </a:rPr>
              <a:t> 56(5):1579–1627, 2022. </a:t>
            </a:r>
            <a:r>
              <a:rPr lang="en-US" dirty="0">
                <a:ea typeface="+mn-lt"/>
                <a:cs typeface="+mn-lt"/>
                <a:hlinkClick r:id="rId5"/>
              </a:rPr>
              <a:t>https://doi.org/10.1051/m2an/2022052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A. Sharifzadeh-Kermani, J. Shen, F. Argus, et al. “Semi-automated pipeline for generating </a:t>
            </a:r>
            <a:r>
              <a:rPr lang="en-US" dirty="0" err="1">
                <a:ea typeface="+mn-lt"/>
                <a:cs typeface="+mn-lt"/>
              </a:rPr>
              <a:t>personalised</a:t>
            </a:r>
            <a:r>
              <a:rPr lang="en-US" dirty="0">
                <a:ea typeface="+mn-lt"/>
                <a:cs typeface="+mn-lt"/>
              </a:rPr>
              <a:t> cerebrovascular models.” </a:t>
            </a:r>
            <a:r>
              <a:rPr lang="en-US" i="1" dirty="0" err="1">
                <a:ea typeface="+mn-lt"/>
                <a:cs typeface="+mn-lt"/>
              </a:rPr>
              <a:t>Biomech</a:t>
            </a:r>
            <a:r>
              <a:rPr lang="en-US" i="1" dirty="0">
                <a:ea typeface="+mn-lt"/>
                <a:cs typeface="+mn-lt"/>
              </a:rPr>
              <a:t> Model </a:t>
            </a:r>
            <a:r>
              <a:rPr lang="en-US" i="1" dirty="0" err="1">
                <a:ea typeface="+mn-lt"/>
                <a:cs typeface="+mn-lt"/>
              </a:rPr>
              <a:t>Mechanobiol</a:t>
            </a:r>
            <a:r>
              <a:rPr lang="en-US" i="1" dirty="0">
                <a:ea typeface="+mn-lt"/>
                <a:cs typeface="+mn-lt"/>
              </a:rPr>
              <a:t>,</a:t>
            </a:r>
            <a:r>
              <a:rPr lang="en-US" dirty="0">
                <a:ea typeface="+mn-lt"/>
                <a:cs typeface="+mn-lt"/>
              </a:rPr>
              <a:t> 24:251–264, 2025. </a:t>
            </a:r>
            <a:r>
              <a:rPr lang="en-US" dirty="0">
                <a:ea typeface="+mn-lt"/>
                <a:cs typeface="+mn-lt"/>
                <a:hlinkClick r:id="rId6"/>
              </a:rPr>
              <a:t>https://doi.org/10.1007/s10237-024-01908-5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E.F. Toro. “Riemann Solvers and Numerical Methods for Fluid Dynamics: A Practical Introduction.” 3rd </a:t>
            </a:r>
            <a:r>
              <a:rPr lang="en-US" dirty="0" err="1">
                <a:ea typeface="+mn-lt"/>
                <a:cs typeface="+mn-lt"/>
              </a:rPr>
              <a:t>edn</a:t>
            </a:r>
            <a:r>
              <a:rPr lang="en-US" dirty="0">
                <a:ea typeface="+mn-lt"/>
                <a:cs typeface="+mn-lt"/>
              </a:rPr>
              <a:t>. Springer-Verlag Berlin Heidelberg, 2009.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614087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6472F9BCB2335438FD2987C080340E8" ma:contentTypeVersion="14" ma:contentTypeDescription="Create a new document." ma:contentTypeScope="" ma:versionID="8a45e8f2194de1afec2c0d9d9f7836ab">
  <xsd:schema xmlns:xsd="http://www.w3.org/2001/XMLSchema" xmlns:xs="http://www.w3.org/2001/XMLSchema" xmlns:p="http://schemas.microsoft.com/office/2006/metadata/properties" xmlns:ns2="383c046b-be39-43b0-8602-9678373d7545" xmlns:ns3="46e6dd45-dc0c-4449-9f13-3936c694fe1a" targetNamespace="http://schemas.microsoft.com/office/2006/metadata/properties" ma:root="true" ma:fieldsID="1f90321940ecd57c5d5c002dd45725e7" ns2:_="" ns3:_="">
    <xsd:import namespace="383c046b-be39-43b0-8602-9678373d7545"/>
    <xsd:import namespace="46e6dd45-dc0c-4449-9f13-3936c694fe1a"/>
    <xsd:element name="properties">
      <xsd:complexType>
        <xsd:sequence>
          <xsd:element name="documentManagement">
            <xsd:complexType>
              <xsd:all>
                <xsd:element ref="ns2:gce1a0dcbf834c08a9bff69d6bcbc0aa" minOccurs="0"/>
                <xsd:element ref="ns2:Date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3c046b-be39-43b0-8602-9678373d7545" elementFormDefault="qualified">
    <xsd:import namespace="http://schemas.microsoft.com/office/2006/documentManagement/types"/>
    <xsd:import namespace="http://schemas.microsoft.com/office/infopath/2007/PartnerControls"/>
    <xsd:element name="gce1a0dcbf834c08a9bff69d6bcbc0aa" ma:index="8" nillable="true" ma:taxonomy="true" ma:internalName="gce1a0dcbf834c08a9bff69d6bcbc0aa" ma:taxonomyFieldName="DocType" ma:displayName="DocType" ma:default="" ma:fieldId="{0ce1a0dc-bf83-4c08-a9bf-f69d6bcbc0aa}" ma:taxonomyMulti="true" ma:sspId="3b9bb814-139f-4039-9463-697760f06ab3" ma:termSetId="e358f958-33b6-43f5-826e-145d408a495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ate" ma:index="9" nillable="true" ma:displayName="Date" ma:format="DateOnly" ma:internalName="Date">
      <xsd:simpleType>
        <xsd:restriction base="dms:DateTim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b9bb814-139f-4039-9463-697760f06a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6dd45-dc0c-4449-9f13-3936c694fe1a" elementFormDefault="qualified">
    <xsd:import namespace="http://schemas.microsoft.com/office/2006/documentManagement/types"/>
    <xsd:import namespace="http://schemas.microsoft.com/office/infopath/2007/PartnerControls"/>
    <xsd:element name="TaxCatchAll" ma:index="11" nillable="true" ma:displayName="Taxonomy Catch All Column" ma:hidden="true" ma:list="{a4058b3c-9d7b-4b78-92e7-da9c5a709d96}" ma:internalName="TaxCatchAll" ma:showField="CatchAllData" ma:web="46e6dd45-dc0c-4449-9f13-3936c694fe1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6e6dd45-dc0c-4449-9f13-3936c694fe1a" xsi:nil="true"/>
    <lcf76f155ced4ddcb4097134ff3c332f xmlns="383c046b-be39-43b0-8602-9678373d7545">
      <Terms xmlns="http://schemas.microsoft.com/office/infopath/2007/PartnerControls"/>
    </lcf76f155ced4ddcb4097134ff3c332f>
    <Date xmlns="383c046b-be39-43b0-8602-9678373d7545" xsi:nil="true"/>
    <gce1a0dcbf834c08a9bff69d6bcbc0aa xmlns="383c046b-be39-43b0-8602-9678373d7545">
      <Terms xmlns="http://schemas.microsoft.com/office/infopath/2007/PartnerControls"/>
    </gce1a0dcbf834c08a9bff69d6bcbc0aa>
  </documentManagement>
</p:properties>
</file>

<file path=customXml/itemProps1.xml><?xml version="1.0" encoding="utf-8"?>
<ds:datastoreItem xmlns:ds="http://schemas.openxmlformats.org/officeDocument/2006/customXml" ds:itemID="{58CF2F3D-EA34-420C-92FA-F26A9960DC0E}">
  <ds:schemaRefs>
    <ds:schemaRef ds:uri="383c046b-be39-43b0-8602-9678373d7545"/>
    <ds:schemaRef ds:uri="46e6dd45-dc0c-4449-9f13-3936c694fe1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001B061-BA27-4CF4-ADC0-E3A570527F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122DAC6-CB89-422B-8A04-BFCFB133BA76}">
  <ds:schemaRefs>
    <ds:schemaRef ds:uri="http://schemas.microsoft.com/office/2006/documentManagement/types"/>
    <ds:schemaRef ds:uri="http://schemas.openxmlformats.org/package/2006/metadata/core-properties"/>
    <ds:schemaRef ds:uri="46e6dd45-dc0c-4449-9f13-3936c694fe1a"/>
    <ds:schemaRef ds:uri="http://schemas.microsoft.com/office/2006/metadata/properties"/>
    <ds:schemaRef ds:uri="http://purl.org/dc/dcmitype/"/>
    <ds:schemaRef ds:uri="http://purl.org/dc/terms/"/>
    <ds:schemaRef ds:uri="http://www.w3.org/XML/1998/namespace"/>
    <ds:schemaRef ds:uri="383c046b-be39-43b0-8602-9678373d7545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3061</TotalTime>
  <Words>4168</Words>
  <Application>Microsoft Macintosh PowerPoint</Application>
  <PresentationFormat>Widescreen</PresentationFormat>
  <Paragraphs>460</Paragraphs>
  <Slides>46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7" baseType="lpstr">
      <vt:lpstr>Aptos</vt:lpstr>
      <vt:lpstr>Arial</vt:lpstr>
      <vt:lpstr>Calibri</vt:lpstr>
      <vt:lpstr>Calibri Light</vt:lpstr>
      <vt:lpstr>Cambria Math</vt:lpstr>
      <vt:lpstr>Courier New</vt:lpstr>
      <vt:lpstr>MuseoSans</vt:lpstr>
      <vt:lpstr>STIX Two Text</vt:lpstr>
      <vt:lpstr>Times New Roman</vt:lpstr>
      <vt:lpstr>Wingdings</vt:lpstr>
      <vt:lpstr>Office Theme</vt:lpstr>
      <vt:lpstr>PowerPoint Presentation</vt:lpstr>
      <vt:lpstr>Outline</vt:lpstr>
      <vt:lpstr>PART I: CVS modelling &amp; Context of use</vt:lpstr>
      <vt:lpstr>CVS modelling &amp; Context of use</vt:lpstr>
      <vt:lpstr>CVS modelling &amp; Context of use</vt:lpstr>
      <vt:lpstr>CVS modelling &amp; Context of use</vt:lpstr>
      <vt:lpstr>CVS modelling &amp; Context of use</vt:lpstr>
      <vt:lpstr>CVS modelling &amp; Context of use</vt:lpstr>
      <vt:lpstr>CVS modelling &amp; Context of use</vt:lpstr>
      <vt:lpstr>PART II: Geometric multiscale – what options do we have?</vt:lpstr>
      <vt:lpstr>PART II: Geometric multiscale – what options do we have?</vt:lpstr>
      <vt:lpstr>Geometric multiscale – what options do we have?</vt:lpstr>
      <vt:lpstr>Geometric multiscale – what options do we have?</vt:lpstr>
      <vt:lpstr>Geometric multiscale – what options do we have?</vt:lpstr>
      <vt:lpstr>3D Navier-Stokes equations of fluid dynamics</vt:lpstr>
      <vt:lpstr>3D Navier-Stokes equations of fluid dynamics</vt:lpstr>
      <vt:lpstr>1D averaged blood flow model</vt:lpstr>
      <vt:lpstr>1D averaged blood flow model</vt:lpstr>
      <vt:lpstr>1D averaged blood flow model</vt:lpstr>
      <vt:lpstr>Pulse wave velocity (PWV)</vt:lpstr>
      <vt:lpstr>Derivation of 0D blood flow models</vt:lpstr>
      <vt:lpstr>Derivation of 0D blood flow models</vt:lpstr>
      <vt:lpstr>Derivation of 0D blood flow models</vt:lpstr>
      <vt:lpstr>Derivation of 0D blood flow models</vt:lpstr>
      <vt:lpstr>0D blood flow models</vt:lpstr>
      <vt:lpstr>How to use 0D models</vt:lpstr>
      <vt:lpstr>Comparing 0D &amp; BG-0D models</vt:lpstr>
      <vt:lpstr>Comparing 0D &amp; BG-0D models</vt:lpstr>
      <vt:lpstr>0D heart and valve models</vt:lpstr>
      <vt:lpstr>Geometric multiscale</vt:lpstr>
      <vt:lpstr>Numerical schemes</vt:lpstr>
      <vt:lpstr>What else?</vt:lpstr>
      <vt:lpstr>Context of Use – Brainstorm!</vt:lpstr>
      <vt:lpstr>PART III</vt:lpstr>
      <vt:lpstr>Model Calibration</vt:lpstr>
      <vt:lpstr>Model Calibration</vt:lpstr>
      <vt:lpstr>Model Calibration</vt:lpstr>
      <vt:lpstr>Sensitivity Analysis</vt:lpstr>
      <vt:lpstr>Sensitivity Analysis</vt:lpstr>
      <vt:lpstr>(Local) Identifiability Analysis</vt:lpstr>
      <vt:lpstr>(Local) Identifiability Analysis</vt:lpstr>
      <vt:lpstr>(Local) Identifiability Analysis</vt:lpstr>
      <vt:lpstr>Model Calibration</vt:lpstr>
      <vt:lpstr>Model Calibration</vt:lpstr>
      <vt:lpstr> Thank you!</vt:lpstr>
      <vt:lpstr>Some useful 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Park, Chloe</dc:creator>
  <cp:lastModifiedBy>Beatrice Ghitti</cp:lastModifiedBy>
  <cp:revision>63</cp:revision>
  <dcterms:created xsi:type="dcterms:W3CDTF">2024-03-30T13:46:06Z</dcterms:created>
  <dcterms:modified xsi:type="dcterms:W3CDTF">2026-03-01T20:10:03Z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Type">
    <vt:lpwstr/>
  </property>
  <property fmtid="{D5CDD505-2E9C-101B-9397-08002B2CF9AE}" pid="3" name="MediaServiceImageTags">
    <vt:lpwstr/>
  </property>
  <property fmtid="{D5CDD505-2E9C-101B-9397-08002B2CF9AE}" pid="4" name="ContentTypeId">
    <vt:lpwstr>0x01010086472F9BCB2335438FD2987C080340E8</vt:lpwstr>
  </property>
</Properties>
</file>